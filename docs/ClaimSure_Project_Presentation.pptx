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goals" id="{cbf3242c-a61d-ed4b-7e0d-31ace3bf7f05}">
          <p14:sldIdLst>
            <p14:sldId id="256"/>
            <p14:sldId id="257"/>
            <p14:sldId id="258"/>
            <p14:sldId id="259"/>
            <p14:sldId id="260"/>
          </p14:sldIdLst>
        </p14:section>
        <p14:section name="System and data" id="{5fb46923-afa2-bd3c-0ed6-7a7c8b860ca9}">
          <p14:sldIdLst>
            <p14:sldId id="261"/>
            <p14:sldId id="262"/>
            <p14:sldId id="263"/>
          </p14:sldIdLst>
        </p14:section>
        <p14:section name="Schema design" id="{f6c9cccb-22ea-e962-8e93-39d49cf8a760}">
          <p14:sldIdLst>
            <p14:sldId id="264"/>
            <p14:sldId id="265"/>
            <p14:sldId id="266"/>
            <p14:sldId id="267"/>
          </p14:sldIdLst>
        </p14:section>
        <p14:section name="Claim processing" id="{5c2f080b-f4c5-0fe7-ced7-03b8df1cc2d4}">
          <p14:sldIdLst>
            <p14:sldId id="268"/>
            <p14:sldId id="269"/>
            <p14:sldId id="270"/>
            <p14:sldId id="271"/>
            <p14:sldId id="272"/>
            <p14:sldId id="273"/>
          </p14:sldIdLst>
        </p14:section>
        <p14:section name="Optimisation and analytics" id="{ac17a0a7-0c20-56cd-ae0e-bef7cc68edfa}">
          <p14:sldIdLst>
            <p14:sldId id="274"/>
            <p14:sldId id="275"/>
            <p14:sldId id="276"/>
            <p14:sldId id="277"/>
            <p14:sldId id="278"/>
            <p14:sldId id="279"/>
            <p14:sldId id="280"/>
            <p14:sldId id="281"/>
          </p14:sldIdLst>
        </p14:section>
        <p14:section name="Administration and results" id="{0dd7a0b1-78f8-998a-c5e1-36408f38e2e4}">
          <p14:sldIdLst>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Documents per collection (largest eight)</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cat>
            <c:multiLvlStrRef>
              <c:f>Sheet1!$A$2:$A$9</c:f>
              <c:multiLvlStrCache>
                <c:ptCount val="8"/>
                <c:lvl>
                  <c:pt idx="0">
                    <c:v>hospitals</c:v>
                  </c:pt>
                  <c:pt idx="1">
                    <c:v>grievances</c:v>
                  </c:pt>
                  <c:pt idx="2">
                    <c:v>doctors</c:v>
                  </c:pt>
                  <c:pt idx="3">
                    <c:v>payments</c:v>
                  </c:pt>
                  <c:pt idx="4">
                    <c:v>policies</c:v>
                  </c:pt>
                  <c:pt idx="5">
                    <c:v>claims</c:v>
                  </c:pt>
                  <c:pt idx="6">
                    <c:v>audit_logs</c:v>
                  </c:pt>
                  <c:pt idx="7">
                    <c:v>members</c:v>
                  </c:pt>
                </c:lvl>
              </c:multiLvlStrCache>
            </c:multiLvlStrRef>
          </c:cat>
          <c:val>
            <c:numRef>
              <c:f>Sheet1!$B$2:$B$9</c:f>
              <c:numCache>
                <c:formatCode>General</c:formatCode>
                <c:ptCount val="8"/>
                <c:pt idx="0">
                  <c:v>99</c:v>
                </c:pt>
                <c:pt idx="1">
                  <c:v>253</c:v>
                </c:pt>
                <c:pt idx="2">
                  <c:v>484</c:v>
                </c:pt>
                <c:pt idx="3">
                  <c:v>2039</c:v>
                </c:pt>
                <c:pt idx="4">
                  <c:v>2200</c:v>
                </c:pt>
                <c:pt idx="5">
                  <c:v>2591</c:v>
                </c:pt>
                <c:pt idx="6">
                  <c:v>3631</c:v>
                </c:pt>
                <c:pt idx="7">
                  <c:v>5288</c:v>
                </c:pt>
              </c:numCache>
            </c:numRef>
          </c:val>
        </c:ser>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Claim CLM-2026-002207: from bill to payable amount</a:t>
            </a:r>
          </a:p>
        </c:rich>
      </c:tx>
      <c:layout/>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Sheet1!$A$2:$A$7</c:f>
              <c:multiLvlStrCache>
                <c:ptCount val="6"/>
                <c:lvl>
                  <c:pt idx="0">
                    <c:v>Claimed ₹86,080</c:v>
                  </c:pt>
                  <c:pt idx="1">
                    <c:v>Non-payable items -₹3,520</c:v>
                  </c:pt>
                  <c:pt idx="2">
                    <c:v>Room rent excess -₹23,000</c:v>
                  </c:pt>
                  <c:pt idx="3">
                    <c:v>Proportionate cut -₹8,965</c:v>
                  </c:pt>
                  <c:pt idx="4">
                    <c:v>Co-pay 20% -₹10,119</c:v>
                  </c:pt>
                  <c:pt idx="5">
                    <c:v>Payable ₹40,476</c:v>
                  </c:pt>
                </c:lvl>
              </c:multiLvlStrCache>
            </c:multiLvlStrRef>
          </c:cat>
          <c:val>
            <c:numRef>
              <c:f>Sheet1!$B$2:$B$7</c:f>
              <c:numCache>
                <c:formatCode>General</c:formatCode>
                <c:ptCount val="6"/>
                <c:pt idx="0">
                  <c:v>0</c:v>
                </c:pt>
                <c:pt idx="1">
                  <c:v>82560</c:v>
                </c:pt>
                <c:pt idx="2">
                  <c:v>59560</c:v>
                </c:pt>
                <c:pt idx="3">
                  <c:v>50595</c:v>
                </c:pt>
                <c:pt idx="4">
                  <c:v>40476</c:v>
                </c:pt>
                <c:pt idx="5">
                  <c:v>0</c:v>
                </c:pt>
              </c:numCache>
            </c:numRef>
          </c:val>
        </c:ser>
        <c:ser>
          <c:idx val="1"/>
          <c:order val="1"/>
          <c:tx>
            <c:strRef>
              <c:f>Sheet1!$C$1</c:f>
              <c:strCache>
                <c:ptCount val="1"/>
                <c:pt idx="0">
                  <c:v>Amount</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Sheet1!$A$2:$A$7</c:f>
              <c:multiLvlStrCache>
                <c:ptCount val="6"/>
                <c:lvl>
                  <c:pt idx="0">
                    <c:v>Claimed ₹86,080</c:v>
                  </c:pt>
                  <c:pt idx="1">
                    <c:v>Non-payable items -₹3,520</c:v>
                  </c:pt>
                  <c:pt idx="2">
                    <c:v>Room rent excess -₹23,000</c:v>
                  </c:pt>
                  <c:pt idx="3">
                    <c:v>Proportionate cut -₹8,965</c:v>
                  </c:pt>
                  <c:pt idx="4">
                    <c:v>Co-pay 20% -₹10,119</c:v>
                  </c:pt>
                  <c:pt idx="5">
                    <c:v>Payable ₹40,476</c:v>
                  </c:pt>
                </c:lvl>
              </c:multiLvlStrCache>
            </c:multiLvlStrRef>
          </c:cat>
          <c:val>
            <c:numRef>
              <c:f>Sheet1!$C$2:$C$7</c:f>
              <c:numCache>
                <c:formatCode>General</c:formatCode>
                <c:ptCount val="6"/>
                <c:pt idx="0">
                  <c:v>86080</c:v>
                </c:pt>
                <c:pt idx="1">
                  <c:v>0</c:v>
                </c:pt>
                <c:pt idx="2">
                  <c:v>0</c:v>
                </c:pt>
                <c:pt idx="3">
                  <c:v>0</c:v>
                </c:pt>
                <c:pt idx="4">
                  <c:v>0</c:v>
                </c:pt>
                <c:pt idx="5">
                  <c:v>40476</c:v>
                </c:pt>
              </c:numCache>
            </c:numRef>
          </c:val>
        </c:ser>
        <c:ser>
          <c:idx val="2"/>
          <c:order val="2"/>
          <c:tx>
            <c:strRef>
              <c:f>Sheet1!$D$1</c:f>
              <c:strCache>
                <c:ptCount val="1"/>
                <c:pt idx="0">
                  <c:v>Deduction</c:v>
                </c:pt>
              </c:strCache>
            </c:strRef>
          </c:tx>
          <c:spPr>
            <a:solidFill>
              <a:srgbClr val="C44536"/>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Sheet1!$A$2:$A$7</c:f>
              <c:multiLvlStrCache>
                <c:ptCount val="6"/>
                <c:lvl>
                  <c:pt idx="0">
                    <c:v>Claimed ₹86,080</c:v>
                  </c:pt>
                  <c:pt idx="1">
                    <c:v>Non-payable items -₹3,520</c:v>
                  </c:pt>
                  <c:pt idx="2">
                    <c:v>Room rent excess -₹23,000</c:v>
                  </c:pt>
                  <c:pt idx="3">
                    <c:v>Proportionate cut -₹8,965</c:v>
                  </c:pt>
                  <c:pt idx="4">
                    <c:v>Co-pay 20% -₹10,119</c:v>
                  </c:pt>
                  <c:pt idx="5">
                    <c:v>Payable ₹40,476</c:v>
                  </c:pt>
                </c:lvl>
              </c:multiLvlStrCache>
            </c:multiLvlStrRef>
          </c:cat>
          <c:val>
            <c:numRef>
              <c:f>Sheet1!$D$2:$D$7</c:f>
              <c:numCache>
                <c:formatCode>General</c:formatCode>
                <c:ptCount val="6"/>
                <c:pt idx="0">
                  <c:v>0</c:v>
                </c:pt>
                <c:pt idx="1">
                  <c:v>3520</c:v>
                </c:pt>
                <c:pt idx="2">
                  <c:v>23000</c:v>
                </c:pt>
                <c:pt idx="3">
                  <c:v>8965</c:v>
                </c:pt>
                <c:pt idx="4">
                  <c:v>10119</c:v>
                </c:pt>
                <c:pt idx="5">
                  <c:v>0</c:v>
                </c:pt>
              </c:numCache>
            </c:numRef>
          </c:val>
        </c:ser>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max val="100000"/>
        </c:scaling>
        <c:delete val="0"/>
        <c:axPos val="l"/>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majorUnit val="25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Claims flagged by each rule</a:t>
            </a:r>
          </a:p>
        </c:rich>
      </c:tx>
      <c:layout/>
      <c:overlay val="0"/>
    </c:title>
    <c:autoTitleDeleted val="0"/>
    <c:plotArea>
      <c:layout/>
      <c:barChart>
        <c:barDir val="bar"/>
        <c:grouping val="clustered"/>
        <c:varyColors val="0"/>
        <c:ser>
          <c:idx val="0"/>
          <c:order val="0"/>
          <c:tx>
            <c:strRef>
              <c:f>Sheet1!$B$1</c:f>
              <c:strCache>
                <c:ptCount val="1"/>
                <c:pt idx="0">
                  <c:v>Claims flagged</c:v>
                </c:pt>
              </c:strCache>
            </c:strRef>
          </c:tx>
          <c:spPr>
            <a:solidFill>
              <a:srgbClr val="C44536"/>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cat>
            <c:multiLvlStrRef>
              <c:f>Sheet1!$A$2:$A$10</c:f>
              <c:multiLvlStrCache>
                <c:ptCount val="9"/>
                <c:lvl>
                  <c:pt idx="0">
                    <c:v>Frequent claimant</c:v>
                  </c:pt>
                  <c:pt idx="1">
                    <c:v>Round amount</c:v>
                  </c:pt>
                  <c:pt idx="2">
                    <c:v>Duplicate stay</c:v>
                  </c:pt>
                  <c:pt idx="3">
                    <c:v>Non network high</c:v>
                  </c:pt>
                  <c:pt idx="4">
                    <c:v>Length-of-stay anomaly</c:v>
                  </c:pt>
                  <c:pt idx="5">
                    <c:v>Watchlist hospital</c:v>
                  </c:pt>
                  <c:pt idx="6">
                    <c:v>Inflated bill</c:v>
                  </c:pt>
                  <c:pt idx="7">
                    <c:v>Early claim</c:v>
                  </c:pt>
                  <c:pt idx="8">
                    <c:v>Out of state</c:v>
                  </c:pt>
                </c:lvl>
              </c:multiLvlStrCache>
            </c:multiLvlStrRef>
          </c:cat>
          <c:val>
            <c:numRef>
              <c:f>Sheet1!$B$2:$B$10</c:f>
              <c:numCache>
                <c:formatCode>General</c:formatCode>
                <c:ptCount val="9"/>
                <c:pt idx="0">
                  <c:v>2</c:v>
                </c:pt>
                <c:pt idx="1">
                  <c:v>23</c:v>
                </c:pt>
                <c:pt idx="2">
                  <c:v>29</c:v>
                </c:pt>
                <c:pt idx="3">
                  <c:v>46</c:v>
                </c:pt>
                <c:pt idx="4">
                  <c:v>48</c:v>
                </c:pt>
                <c:pt idx="5">
                  <c:v>79</c:v>
                </c:pt>
                <c:pt idx="6">
                  <c:v>114</c:v>
                </c:pt>
                <c:pt idx="7">
                  <c:v>137</c:v>
                </c:pt>
                <c:pt idx="8">
                  <c:v>150</c:v>
                </c:pt>
              </c:numCache>
            </c:numRef>
          </c:val>
        </c:ser>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Speed-up after indexing (wall-clock time)</a:t>
            </a:r>
          </a:p>
        </c:rich>
      </c:tx>
      <c:layout/>
      <c:overlay val="0"/>
    </c:title>
    <c:autoTitleDeleted val="0"/>
    <c:plotArea>
      <c:layout/>
      <c:barChart>
        <c:barDir val="bar"/>
        <c:grouping val="clustered"/>
        <c:varyColors val="0"/>
        <c:ser>
          <c:idx val="0"/>
          <c:order val="0"/>
          <c:tx>
            <c:strRef>
              <c:f>Sheet1!$B$1</c:f>
              <c:strCache>
                <c:ptCount val="1"/>
                <c:pt idx="0">
                  <c:v>Speed-up</c:v>
                </c:pt>
              </c:strCache>
            </c:strRef>
          </c:tx>
          <c:spPr>
            <a:solidFill>
              <a:srgbClr val="C44536"/>
            </a:solidFill>
            <a:effectLst/>
          </c:spPr>
          <c:invertIfNegative val="0"/>
          <c:dLbls>
            <c:numFmt formatCode="0.0&quot;x&quot;"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dPt>
            <c:idx val="0"/>
            <c:invertIfNegative val="0"/>
            <c:bubble3D val="0"/>
            <c:spPr>
              <a:solidFill>
                <a:srgbClr val="C44536"/>
              </a:solidFill>
              <a:effectLst/>
            </c:spPr>
          </c:dPt>
          <c:dPt>
            <c:idx val="1"/>
            <c:invertIfNegative val="0"/>
            <c:bubble3D val="0"/>
            <c:spPr>
              <a:solidFill>
                <a:srgbClr val="C44536"/>
              </a:solidFill>
              <a:effectLst/>
            </c:spPr>
          </c:dPt>
          <c:dPt>
            <c:idx val="2"/>
            <c:invertIfNegative val="0"/>
            <c:bubble3D val="0"/>
            <c:spPr>
              <a:solidFill>
                <a:srgbClr val="E58A1F"/>
              </a:solidFill>
              <a:effectLst/>
            </c:spPr>
          </c:dPt>
          <c:dPt>
            <c:idx val="3"/>
            <c:invertIfNegative val="0"/>
            <c:bubble3D val="0"/>
            <c:spPr>
              <a:solidFill>
                <a:srgbClr val="C44536"/>
              </a:solidFill>
              <a:effectLst/>
            </c:spPr>
          </c:dPt>
          <c:dPt>
            <c:idx val="4"/>
            <c:invertIfNegative val="0"/>
            <c:bubble3D val="0"/>
            <c:spPr>
              <a:solidFill>
                <a:srgbClr val="0E7C7B"/>
              </a:solidFill>
              <a:effectLst/>
            </c:spPr>
          </c:dPt>
          <c:dPt>
            <c:idx val="5"/>
            <c:invertIfNegative val="0"/>
            <c:bubble3D val="0"/>
            <c:spPr>
              <a:solidFill>
                <a:srgbClr val="0E7C7B"/>
              </a:solidFill>
              <a:effectLst/>
            </c:spPr>
          </c:dPt>
          <c:dPt>
            <c:idx val="6"/>
            <c:invertIfNegative val="0"/>
            <c:bubble3D val="0"/>
            <c:spPr>
              <a:solidFill>
                <a:srgbClr val="0E7C7B"/>
              </a:solidFill>
              <a:effectLst/>
            </c:spPr>
          </c:dPt>
          <c:dPt>
            <c:idx val="7"/>
            <c:invertIfNegative val="0"/>
            <c:bubble3D val="0"/>
            <c:spPr>
              <a:solidFill>
                <a:srgbClr val="0E7C7B"/>
              </a:solidFill>
              <a:effectLst/>
            </c:spPr>
          </c:dPt>
          <c:dPt>
            <c:idx val="8"/>
            <c:invertIfNegative val="0"/>
            <c:bubble3D val="0"/>
            <c:spPr>
              <a:solidFill>
                <a:srgbClr val="0E7C7B"/>
              </a:solidFill>
              <a:effectLst/>
            </c:spPr>
          </c:dPt>
          <c:cat>
            <c:multiLvlStrRef>
              <c:f>Sheet1!$A$2:$A$10</c:f>
              <c:multiLvlStrCache>
                <c:ptCount val="9"/>
                <c:lvl>
                  <c:pt idx="0">
                    <c:v>Status = Settled (78%)</c:v>
                  </c:pt>
                  <c:pt idx="1">
                    <c:v>Unanchored regex</c:v>
                  </c:pt>
                  <c:pt idx="2">
                    <c:v>Anchored regex</c:v>
                  </c:pt>
                  <c:pt idx="3">
                    <c:v>Since a date (prefix rule)</c:v>
                  </c:pt>
                  <c:pt idx="4">
                    <c:v>Covered query</c:v>
                  </c:pt>
                  <c:pt idx="5">
                    <c:v>Diagnosis (multikey)</c:v>
                  </c:pt>
                  <c:pt idx="6">
                    <c:v>Claims above ₹10 lakh</c:v>
                  </c:pt>
                  <c:pt idx="7">
                    <c:v>Review queue (ESR)</c:v>
                  </c:pt>
                  <c:pt idx="8">
                    <c:v>Member history</c:v>
                  </c:pt>
                </c:lvl>
              </c:multiLvlStrCache>
            </c:multiLvlStrRef>
          </c:cat>
          <c:val>
            <c:numRef>
              <c:f>Sheet1!$B$2:$B$10</c:f>
              <c:numCache>
                <c:formatCode>General</c:formatCode>
                <c:ptCount val="9"/>
                <c:pt idx="0">
                  <c:v>0.8</c:v>
                </c:pt>
                <c:pt idx="1">
                  <c:v>0.8</c:v>
                </c:pt>
                <c:pt idx="2">
                  <c:v>1.7</c:v>
                </c:pt>
                <c:pt idx="3">
                  <c:v>0.7</c:v>
                </c:pt>
                <c:pt idx="4">
                  <c:v>114</c:v>
                </c:pt>
                <c:pt idx="5">
                  <c:v>8.8</c:v>
                </c:pt>
                <c:pt idx="6">
                  <c:v>98.8</c:v>
                </c:pt>
                <c:pt idx="7">
                  <c:v>3.3</c:v>
                </c:pt>
                <c:pt idx="8">
                  <c:v>42.7</c:v>
                </c:pt>
              </c:numCache>
            </c:numRef>
          </c:val>
        </c:ser>
        <c:dLbls>
          <c:numFmt formatCode="0.0&quot;x&quot;"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max val="1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Amount claimed and settled, by month of admission</a:t>
            </a:r>
          </a:p>
        </c:rich>
      </c:tx>
      <c:layout/>
      <c:overlay val="0"/>
    </c:title>
    <c:autoTitleDeleted val="0"/>
    <c:plotArea>
      <c:layout/>
      <c:lineChart>
        <c:varyColors val="0"/>
        <c:ser>
          <c:idx val="0"/>
          <c:order val="0"/>
          <c:tx>
            <c:strRef>
              <c:f>Sheet1!$B$1</c:f>
              <c:strCache>
                <c:ptCount val="1"/>
                <c:pt idx="0">
                  <c:v>Claimed (₹ lakh)</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marker>
            <c:symbol val="circle"/>
            <c:size val="5"/>
            <c:spPr>
              <a:solidFill>
                <a:srgbClr val="0E7C7B"/>
              </a:solidFill>
              <a:ln w="9525" cap="flat">
                <a:solidFill>
                  <a:srgbClr val="0E7C7B"/>
                </a:solidFill>
                <a:prstDash val="solid"/>
                <a:round/>
              </a:ln>
              <a:effectLst/>
            </c:spPr>
          </c:marker>
          <c:cat>
            <c:multiLvlStrRef>
              <c:f>Sheet1!$A$2:$A$32</c:f>
              <c:multiLvlStrCache>
                <c:ptCount val="31"/>
                <c:lvl>
                  <c:pt idx="0">
                    <c:v>Apr 24</c:v>
                  </c:pt>
                  <c:pt idx="1">
                    <c:v>  </c:v>
                  </c:pt>
                  <c:pt idx="2">
                    <c:v>   </c:v>
                  </c:pt>
                  <c:pt idx="3">
                    <c:v>Jul 24</c:v>
                  </c:pt>
                  <c:pt idx="4">
                    <c:v>  </c:v>
                  </c:pt>
                  <c:pt idx="5">
                    <c:v>   </c:v>
                  </c:pt>
                  <c:pt idx="6">
                    <c:v>Oct 24</c:v>
                  </c:pt>
                  <c:pt idx="7">
                    <c:v>  </c:v>
                  </c:pt>
                  <c:pt idx="8">
                    <c:v>   </c:v>
                  </c:pt>
                  <c:pt idx="9">
                    <c:v>Jan 25</c:v>
                  </c:pt>
                  <c:pt idx="10">
                    <c:v>  </c:v>
                  </c:pt>
                  <c:pt idx="11">
                    <c:v>   </c:v>
                  </c:pt>
                  <c:pt idx="12">
                    <c:v>Apr 25</c:v>
                  </c:pt>
                  <c:pt idx="13">
                    <c:v>  </c:v>
                  </c:pt>
                  <c:pt idx="14">
                    <c:v>   </c:v>
                  </c:pt>
                  <c:pt idx="15">
                    <c:v>Jul 25</c:v>
                  </c:pt>
                  <c:pt idx="16">
                    <c:v>  </c:v>
                  </c:pt>
                  <c:pt idx="17">
                    <c:v>   </c:v>
                  </c:pt>
                  <c:pt idx="18">
                    <c:v>Oct 25</c:v>
                  </c:pt>
                  <c:pt idx="19">
                    <c:v>  </c:v>
                  </c:pt>
                  <c:pt idx="20">
                    <c:v>   </c:v>
                  </c:pt>
                  <c:pt idx="21">
                    <c:v>Jan 26</c:v>
                  </c:pt>
                  <c:pt idx="22">
                    <c:v>  </c:v>
                  </c:pt>
                  <c:pt idx="23">
                    <c:v>   </c:v>
                  </c:pt>
                  <c:pt idx="24">
                    <c:v>Apr 26</c:v>
                  </c:pt>
                  <c:pt idx="25">
                    <c:v>  </c:v>
                  </c:pt>
                  <c:pt idx="26">
                    <c:v>   </c:v>
                  </c:pt>
                  <c:pt idx="27">
                    <c:v>Jul 26</c:v>
                  </c:pt>
                  <c:pt idx="28">
                    <c:v>  </c:v>
                  </c:pt>
                  <c:pt idx="29">
                    <c:v>   </c:v>
                  </c:pt>
                  <c:pt idx="30">
                    <c:v>Oct 26</c:v>
                  </c:pt>
                </c:lvl>
              </c:multiLvlStrCache>
            </c:multiLvlStrRef>
          </c:cat>
          <c:val>
            <c:numRef>
              <c:f>Sheet1!$B$2:$B$32</c:f>
              <c:numCache>
                <c:formatCode>General</c:formatCode>
                <c:ptCount val="31"/>
                <c:pt idx="0">
                  <c:v>71</c:v>
                </c:pt>
                <c:pt idx="1">
                  <c:v>77</c:v>
                </c:pt>
                <c:pt idx="2">
                  <c:v>81</c:v>
                </c:pt>
                <c:pt idx="3">
                  <c:v>93</c:v>
                </c:pt>
                <c:pt idx="4">
                  <c:v>63</c:v>
                </c:pt>
                <c:pt idx="5">
                  <c:v>58</c:v>
                </c:pt>
                <c:pt idx="6">
                  <c:v>83</c:v>
                </c:pt>
                <c:pt idx="7">
                  <c:v>73</c:v>
                </c:pt>
                <c:pt idx="8">
                  <c:v>83</c:v>
                </c:pt>
                <c:pt idx="9">
                  <c:v>70</c:v>
                </c:pt>
                <c:pt idx="10">
                  <c:v>75</c:v>
                </c:pt>
                <c:pt idx="11">
                  <c:v>104</c:v>
                </c:pt>
                <c:pt idx="12">
                  <c:v>80</c:v>
                </c:pt>
                <c:pt idx="13">
                  <c:v>74</c:v>
                </c:pt>
                <c:pt idx="14">
                  <c:v>89</c:v>
                </c:pt>
                <c:pt idx="15">
                  <c:v>120</c:v>
                </c:pt>
                <c:pt idx="16">
                  <c:v>98</c:v>
                </c:pt>
                <c:pt idx="17">
                  <c:v>126</c:v>
                </c:pt>
                <c:pt idx="18">
                  <c:v>152</c:v>
                </c:pt>
                <c:pt idx="19">
                  <c:v>124</c:v>
                </c:pt>
                <c:pt idx="20">
                  <c:v>145</c:v>
                </c:pt>
                <c:pt idx="21">
                  <c:v>139</c:v>
                </c:pt>
                <c:pt idx="22">
                  <c:v>193</c:v>
                </c:pt>
                <c:pt idx="23">
                  <c:v>155</c:v>
                </c:pt>
                <c:pt idx="24">
                  <c:v>135</c:v>
                </c:pt>
                <c:pt idx="25">
                  <c:v>138</c:v>
                </c:pt>
                <c:pt idx="26">
                  <c:v>139</c:v>
                </c:pt>
                <c:pt idx="27">
                  <c:v>131</c:v>
                </c:pt>
                <c:pt idx="28">
                  <c:v>128</c:v>
                </c:pt>
                <c:pt idx="29">
                  <c:v>254</c:v>
                </c:pt>
                <c:pt idx="30">
                  <c:v>88</c:v>
                </c:pt>
              </c:numCache>
            </c:numRef>
          </c:val>
          <c:smooth val="0"/>
        </c:ser>
        <c:ser>
          <c:idx val="1"/>
          <c:order val="1"/>
          <c:tx>
            <c:strRef>
              <c:f>Sheet1!$C$1</c:f>
              <c:strCache>
                <c:ptCount val="1"/>
                <c:pt idx="0">
                  <c:v>Settled (₹ lakh)</c:v>
                </c:pt>
              </c:strCache>
            </c:strRef>
          </c:tx>
          <c:spPr>
            <a:solidFill>
              <a:srgbClr val="E58A1F"/>
            </a:solidFill>
            <a:ln w="28575" cap="flat">
              <a:solidFill>
                <a:srgbClr val="E58A1F"/>
              </a:solidFill>
              <a:prstDash val="solid"/>
              <a:round/>
            </a:ln>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marker>
            <c:symbol val="circle"/>
            <c:size val="5"/>
            <c:spPr>
              <a:solidFill>
                <a:srgbClr val="E58A1F"/>
              </a:solidFill>
              <a:ln w="9525" cap="flat">
                <a:solidFill>
                  <a:srgbClr val="E58A1F"/>
                </a:solidFill>
                <a:prstDash val="solid"/>
                <a:round/>
              </a:ln>
              <a:effectLst/>
            </c:spPr>
          </c:marker>
          <c:cat>
            <c:multiLvlStrRef>
              <c:f>Sheet1!$A$2:$A$32</c:f>
              <c:multiLvlStrCache>
                <c:ptCount val="31"/>
                <c:lvl>
                  <c:pt idx="0">
                    <c:v>Apr 24</c:v>
                  </c:pt>
                  <c:pt idx="1">
                    <c:v>  </c:v>
                  </c:pt>
                  <c:pt idx="2">
                    <c:v>   </c:v>
                  </c:pt>
                  <c:pt idx="3">
                    <c:v>Jul 24</c:v>
                  </c:pt>
                  <c:pt idx="4">
                    <c:v>  </c:v>
                  </c:pt>
                  <c:pt idx="5">
                    <c:v>   </c:v>
                  </c:pt>
                  <c:pt idx="6">
                    <c:v>Oct 24</c:v>
                  </c:pt>
                  <c:pt idx="7">
                    <c:v>  </c:v>
                  </c:pt>
                  <c:pt idx="8">
                    <c:v>   </c:v>
                  </c:pt>
                  <c:pt idx="9">
                    <c:v>Jan 25</c:v>
                  </c:pt>
                  <c:pt idx="10">
                    <c:v>  </c:v>
                  </c:pt>
                  <c:pt idx="11">
                    <c:v>   </c:v>
                  </c:pt>
                  <c:pt idx="12">
                    <c:v>Apr 25</c:v>
                  </c:pt>
                  <c:pt idx="13">
                    <c:v>  </c:v>
                  </c:pt>
                  <c:pt idx="14">
                    <c:v>   </c:v>
                  </c:pt>
                  <c:pt idx="15">
                    <c:v>Jul 25</c:v>
                  </c:pt>
                  <c:pt idx="16">
                    <c:v>  </c:v>
                  </c:pt>
                  <c:pt idx="17">
                    <c:v>   </c:v>
                  </c:pt>
                  <c:pt idx="18">
                    <c:v>Oct 25</c:v>
                  </c:pt>
                  <c:pt idx="19">
                    <c:v>  </c:v>
                  </c:pt>
                  <c:pt idx="20">
                    <c:v>   </c:v>
                  </c:pt>
                  <c:pt idx="21">
                    <c:v>Jan 26</c:v>
                  </c:pt>
                  <c:pt idx="22">
                    <c:v>  </c:v>
                  </c:pt>
                  <c:pt idx="23">
                    <c:v>   </c:v>
                  </c:pt>
                  <c:pt idx="24">
                    <c:v>Apr 26</c:v>
                  </c:pt>
                  <c:pt idx="25">
                    <c:v>  </c:v>
                  </c:pt>
                  <c:pt idx="26">
                    <c:v>   </c:v>
                  </c:pt>
                  <c:pt idx="27">
                    <c:v>Jul 26</c:v>
                  </c:pt>
                  <c:pt idx="28">
                    <c:v>  </c:v>
                  </c:pt>
                  <c:pt idx="29">
                    <c:v>   </c:v>
                  </c:pt>
                  <c:pt idx="30">
                    <c:v>Oct 26</c:v>
                  </c:pt>
                </c:lvl>
              </c:multiLvlStrCache>
            </c:multiLvlStrRef>
          </c:cat>
          <c:val>
            <c:numRef>
              <c:f>Sheet1!$C$2:$C$32</c:f>
              <c:numCache>
                <c:formatCode>General</c:formatCode>
                <c:ptCount val="31"/>
                <c:pt idx="0">
                  <c:v>43</c:v>
                </c:pt>
                <c:pt idx="1">
                  <c:v>49</c:v>
                </c:pt>
                <c:pt idx="2">
                  <c:v>47</c:v>
                </c:pt>
                <c:pt idx="3">
                  <c:v>48</c:v>
                </c:pt>
                <c:pt idx="4">
                  <c:v>43</c:v>
                </c:pt>
                <c:pt idx="5">
                  <c:v>32</c:v>
                </c:pt>
                <c:pt idx="6">
                  <c:v>40</c:v>
                </c:pt>
                <c:pt idx="7">
                  <c:v>44</c:v>
                </c:pt>
                <c:pt idx="8">
                  <c:v>41</c:v>
                </c:pt>
                <c:pt idx="9">
                  <c:v>40</c:v>
                </c:pt>
                <c:pt idx="10">
                  <c:v>47</c:v>
                </c:pt>
                <c:pt idx="11">
                  <c:v>46</c:v>
                </c:pt>
                <c:pt idx="12">
                  <c:v>47</c:v>
                </c:pt>
                <c:pt idx="13">
                  <c:v>37</c:v>
                </c:pt>
                <c:pt idx="14">
                  <c:v>51</c:v>
                </c:pt>
                <c:pt idx="15">
                  <c:v>61</c:v>
                </c:pt>
                <c:pt idx="16">
                  <c:v>60</c:v>
                </c:pt>
                <c:pt idx="17">
                  <c:v>80</c:v>
                </c:pt>
                <c:pt idx="18">
                  <c:v>84</c:v>
                </c:pt>
                <c:pt idx="19">
                  <c:v>62</c:v>
                </c:pt>
                <c:pt idx="20">
                  <c:v>91</c:v>
                </c:pt>
                <c:pt idx="21">
                  <c:v>81</c:v>
                </c:pt>
                <c:pt idx="22">
                  <c:v>98</c:v>
                </c:pt>
                <c:pt idx="23">
                  <c:v>91</c:v>
                </c:pt>
                <c:pt idx="24">
                  <c:v>81</c:v>
                </c:pt>
                <c:pt idx="25">
                  <c:v>69</c:v>
                </c:pt>
                <c:pt idx="26">
                  <c:v>78</c:v>
                </c:pt>
                <c:pt idx="27">
                  <c:v>76</c:v>
                </c:pt>
                <c:pt idx="28">
                  <c:v>74</c:v>
                </c:pt>
                <c:pt idx="29">
                  <c:v>84</c:v>
                </c:pt>
                <c:pt idx="30">
                  <c:v>4</c:v>
                </c:pt>
              </c:numCache>
            </c:numRef>
          </c:val>
          <c:smooth val="0"/>
        </c:ser>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7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7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Settlement ratio and incurred claim ratio by insurer</a:t>
            </a:r>
          </a:p>
        </c:rich>
      </c:tx>
      <c:layout/>
      <c:overlay val="0"/>
    </c:title>
    <c:autoTitleDeleted val="0"/>
    <c:plotArea>
      <c:layout/>
      <c:barChart>
        <c:barDir val="col"/>
        <c:grouping val="clustered"/>
        <c:varyColors val="0"/>
        <c:ser>
          <c:idx val="0"/>
          <c:order val="0"/>
          <c:tx>
            <c:strRef>
              <c:f>Sheet1!$B$1</c:f>
              <c:strCache>
                <c:ptCount val="1"/>
                <c:pt idx="0">
                  <c:v>Claim settlement ratio %</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Sheet1!$A$2:$A$11</c:f>
              <c:multiLvlStrCache>
                <c:ptCount val="10"/>
                <c:lvl>
                  <c:pt idx="0">
                    <c:v>Arogya Shield</c:v>
                  </c:pt>
                  <c:pt idx="1">
                    <c:v>Bharat</c:v>
                  </c:pt>
                  <c:pt idx="2">
                    <c:v>Raksha</c:v>
                  </c:pt>
                  <c:pt idx="3">
                    <c:v>Suraksha</c:v>
                  </c:pt>
                  <c:pt idx="4">
                    <c:v>Kavach</c:v>
                  </c:pt>
                  <c:pt idx="5">
                    <c:v>Navjeevan</c:v>
                  </c:pt>
                  <c:pt idx="6">
                    <c:v>Sanjeevani</c:v>
                  </c:pt>
                  <c:pt idx="7">
                    <c:v>Unity Care</c:v>
                  </c:pt>
                  <c:pt idx="8">
                    <c:v>Prithvi</c:v>
                  </c:pt>
                  <c:pt idx="9">
                    <c:v>Medisure</c:v>
                  </c:pt>
                </c:lvl>
              </c:multiLvlStrCache>
            </c:multiLvlStrRef>
          </c:cat>
          <c:val>
            <c:numRef>
              <c:f>Sheet1!$B$2:$B$11</c:f>
              <c:numCache>
                <c:formatCode>General</c:formatCode>
                <c:ptCount val="10"/>
                <c:pt idx="0">
                  <c:v>82.8</c:v>
                </c:pt>
                <c:pt idx="1">
                  <c:v>83.2</c:v>
                </c:pt>
                <c:pt idx="2">
                  <c:v>84.4</c:v>
                </c:pt>
                <c:pt idx="3">
                  <c:v>87.3</c:v>
                </c:pt>
                <c:pt idx="4">
                  <c:v>84.2</c:v>
                </c:pt>
                <c:pt idx="5">
                  <c:v>85</c:v>
                </c:pt>
                <c:pt idx="6">
                  <c:v>83.9</c:v>
                </c:pt>
                <c:pt idx="7">
                  <c:v>88.3</c:v>
                </c:pt>
                <c:pt idx="8">
                  <c:v>87.7</c:v>
                </c:pt>
                <c:pt idx="9">
                  <c:v>87.3</c:v>
                </c:pt>
              </c:numCache>
            </c:numRef>
          </c:val>
        </c:ser>
        <c:ser>
          <c:idx val="1"/>
          <c:order val="1"/>
          <c:tx>
            <c:strRef>
              <c:f>Sheet1!$C$1</c:f>
              <c:strCache>
                <c:ptCount val="1"/>
                <c:pt idx="0">
                  <c:v>Incurred claim ratio %</c:v>
                </c:pt>
              </c:strCache>
            </c:strRef>
          </c:tx>
          <c:spPr>
            <a:solidFill>
              <a:srgbClr val="E58A1F"/>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Sheet1!$A$2:$A$11</c:f>
              <c:multiLvlStrCache>
                <c:ptCount val="10"/>
                <c:lvl>
                  <c:pt idx="0">
                    <c:v>Arogya Shield</c:v>
                  </c:pt>
                  <c:pt idx="1">
                    <c:v>Bharat</c:v>
                  </c:pt>
                  <c:pt idx="2">
                    <c:v>Raksha</c:v>
                  </c:pt>
                  <c:pt idx="3">
                    <c:v>Suraksha</c:v>
                  </c:pt>
                  <c:pt idx="4">
                    <c:v>Kavach</c:v>
                  </c:pt>
                  <c:pt idx="5">
                    <c:v>Navjeevan</c:v>
                  </c:pt>
                  <c:pt idx="6">
                    <c:v>Sanjeevani</c:v>
                  </c:pt>
                  <c:pt idx="7">
                    <c:v>Unity Care</c:v>
                  </c:pt>
                  <c:pt idx="8">
                    <c:v>Prithvi</c:v>
                  </c:pt>
                  <c:pt idx="9">
                    <c:v>Medisure</c:v>
                  </c:pt>
                </c:lvl>
              </c:multiLvlStrCache>
            </c:multiLvlStrRef>
          </c:cat>
          <c:val>
            <c:numRef>
              <c:f>Sheet1!$C$2:$C$11</c:f>
              <c:numCache>
                <c:formatCode>General</c:formatCode>
                <c:ptCount val="10"/>
                <c:pt idx="0">
                  <c:v>70.4</c:v>
                </c:pt>
                <c:pt idx="1">
                  <c:v>72.5</c:v>
                </c:pt>
                <c:pt idx="2">
                  <c:v>70.8</c:v>
                </c:pt>
                <c:pt idx="3">
                  <c:v>82.3</c:v>
                </c:pt>
                <c:pt idx="4">
                  <c:v>74.7</c:v>
                </c:pt>
                <c:pt idx="5">
                  <c:v>61.4</c:v>
                </c:pt>
                <c:pt idx="6">
                  <c:v>69.7</c:v>
                </c:pt>
                <c:pt idx="7">
                  <c:v>86.2</c:v>
                </c:pt>
                <c:pt idx="8">
                  <c:v>67.4</c:v>
                </c:pt>
                <c:pt idx="9">
                  <c:v>61.8</c:v>
                </c:pt>
              </c:numCache>
            </c:numRef>
          </c:val>
        </c:ser>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7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427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Loss ratio by product (claims paid / premium, %)</a:t>
            </a:r>
          </a:p>
        </c:rich>
      </c:tx>
      <c:layout/>
      <c:overlay val="0"/>
    </c:title>
    <c:autoTitleDeleted val="0"/>
    <c:plotArea>
      <c:layout/>
      <c:barChart>
        <c:barDir val="col"/>
        <c:grouping val="clustered"/>
        <c:varyColors val="0"/>
        <c:ser>
          <c:idx val="0"/>
          <c:order val="0"/>
          <c:tx>
            <c:strRef>
              <c:f>Sheet1!$B$1</c:f>
              <c:strCache>
                <c:ptCount val="1"/>
                <c:pt idx="0">
                  <c:v>Loss ratio %</c:v>
                </c:pt>
              </c:strCache>
            </c:strRef>
          </c:tx>
          <c:spPr>
            <a:solidFill>
              <a:srgbClr val="C44536"/>
            </a:solidFill>
            <a:effectLst/>
          </c:spPr>
          <c:invertIfNegative val="0"/>
          <c:dLbls>
            <c:numFmt formatCode="0.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dPt>
            <c:idx val="0"/>
            <c:invertIfNegative val="0"/>
            <c:bubble3D val="0"/>
            <c:spPr>
              <a:solidFill>
                <a:srgbClr val="C44536"/>
              </a:solidFill>
              <a:effectLst/>
            </c:spPr>
          </c:dPt>
          <c:dPt>
            <c:idx val="1"/>
            <c:invertIfNegative val="0"/>
            <c:bubble3D val="0"/>
            <c:spPr>
              <a:solidFill>
                <a:srgbClr val="E58A1F"/>
              </a:solidFill>
              <a:effectLst/>
            </c:spPr>
          </c:dPt>
          <c:dPt>
            <c:idx val="2"/>
            <c:invertIfNegative val="0"/>
            <c:bubble3D val="0"/>
            <c:spPr>
              <a:solidFill>
                <a:srgbClr val="0E7C7B"/>
              </a:solidFill>
              <a:effectLst/>
            </c:spPr>
          </c:dPt>
          <c:dPt>
            <c:idx val="3"/>
            <c:invertIfNegative val="0"/>
            <c:bubble3D val="0"/>
            <c:spPr>
              <a:solidFill>
                <a:srgbClr val="0E7C7B"/>
              </a:solidFill>
              <a:effectLst/>
            </c:spPr>
          </c:dPt>
          <c:dPt>
            <c:idx val="4"/>
            <c:invertIfNegative val="0"/>
            <c:bubble3D val="0"/>
            <c:spPr>
              <a:solidFill>
                <a:srgbClr val="0E7C7B"/>
              </a:solidFill>
              <a:effectLst/>
            </c:spPr>
          </c:dPt>
          <c:cat>
            <c:multiLvlStrRef>
              <c:f>Sheet1!$A$2:$A$6</c:f>
              <c:multiLvlStrCache>
                <c:ptCount val="5"/>
                <c:lvl>
                  <c:pt idx="0">
                    <c:v>Group</c:v>
                  </c:pt>
                  <c:pt idx="1">
                    <c:v>Basic</c:v>
                  </c:pt>
                  <c:pt idx="2">
                    <c:v>Senior</c:v>
                  </c:pt>
                  <c:pt idx="3">
                    <c:v>Comprehensive</c:v>
                  </c:pt>
                  <c:pt idx="4">
                    <c:v>Premier</c:v>
                  </c:pt>
                </c:lvl>
              </c:multiLvlStrCache>
            </c:multiLvlStrRef>
          </c:cat>
          <c:val>
            <c:numRef>
              <c:f>Sheet1!$B$2:$B$6</c:f>
              <c:numCache>
                <c:formatCode>General</c:formatCode>
                <c:ptCount val="5"/>
                <c:pt idx="0">
                  <c:v>140.7</c:v>
                </c:pt>
                <c:pt idx="1">
                  <c:v>87.2</c:v>
                </c:pt>
                <c:pt idx="2">
                  <c:v>68</c:v>
                </c:pt>
                <c:pt idx="3">
                  <c:v>62.6</c:v>
                </c:pt>
                <c:pt idx="4">
                  <c:v>32.5</c:v>
                </c:pt>
              </c:numCache>
            </c:numRef>
          </c:val>
        </c:ser>
        <c:dLbls>
          <c:numFmt formatCode="0.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9525" cap="flat">
              <a:solidFill>
                <a:srgbClr val="DCE7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Amount deducted by reason (₹ lakh)</a:t>
            </a:r>
          </a:p>
        </c:rich>
      </c:tx>
      <c:layout/>
      <c:overlay val="0"/>
    </c:title>
    <c:autoTitleDeleted val="0"/>
    <c:plotArea>
      <c:layout/>
      <c:barChart>
        <c:barDir val="bar"/>
        <c:grouping val="clustered"/>
        <c:varyColors val="0"/>
        <c:ser>
          <c:idx val="0"/>
          <c:order val="0"/>
          <c:tx>
            <c:strRef>
              <c:f>Sheet1!$B$1</c:f>
              <c:strCache>
                <c:ptCount val="1"/>
                <c:pt idx="0">
                  <c:v>₹ lakh</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cat>
            <c:multiLvlStrRef>
              <c:f>Sheet1!$A$2:$A$8</c:f>
              <c:multiLvlStrCache>
                <c:ptCount val="7"/>
                <c:lvl>
                  <c:pt idx="0">
                    <c:v>Ambulance Limit</c:v>
                  </c:pt>
                  <c:pt idx="1">
                    <c:v>Sub-Limit</c:v>
                  </c:pt>
                  <c:pt idx="2">
                    <c:v>Sum Insured Limit</c:v>
                  </c:pt>
                  <c:pt idx="3">
                    <c:v>Co-Payment</c:v>
                  </c:pt>
                  <c:pt idx="4">
                    <c:v>Room Rent Excess</c:v>
                  </c:pt>
                  <c:pt idx="5">
                    <c:v>Non-Payable Items</c:v>
                  </c:pt>
                  <c:pt idx="6">
                    <c:v>Proportionate Deduction</c:v>
                  </c:pt>
                </c:lvl>
              </c:multiLvlStrCache>
            </c:multiLvlStrRef>
          </c:cat>
          <c:val>
            <c:numRef>
              <c:f>Sheet1!$B$2:$B$8</c:f>
              <c:numCache>
                <c:formatCode>General</c:formatCode>
                <c:ptCount val="7"/>
                <c:pt idx="0">
                  <c:v>9</c:v>
                </c:pt>
                <c:pt idx="1">
                  <c:v>18</c:v>
                </c:pt>
                <c:pt idx="2">
                  <c:v>71</c:v>
                </c:pt>
                <c:pt idx="3">
                  <c:v>165</c:v>
                </c:pt>
                <c:pt idx="4">
                  <c:v>174</c:v>
                </c:pt>
                <c:pt idx="5">
                  <c:v>177</c:v>
                </c:pt>
                <c:pt idx="6">
                  <c:v>268</c:v>
                </c:pt>
              </c:numCache>
            </c:numRef>
          </c:val>
        </c:ser>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Where the 2,591 claims stand</a:t>
            </a:r>
          </a:p>
        </c:rich>
      </c:tx>
      <c:layout/>
      <c:overlay val="0"/>
    </c:title>
    <c:autoTitleDeleted val="0"/>
    <c:plotArea>
      <c:layout/>
      <c:doughnutChart>
        <c:varyColors val="1"/>
        <c:ser>
          <c:idx val="0"/>
          <c:order val="0"/>
          <c:tx>
            <c:strRef>
              <c:f>Sheet1!$B$1</c:f>
              <c:strCache>
                <c:ptCount val="1"/>
                <c:pt idx="0">
                  <c:v>Claims</c:v>
                </c:pt>
              </c:strCache>
            </c:strRef>
          </c:tx>
          <c:spPr>
            <a:solidFill>
              <a:schemeClr val="accent1"/>
            </a:solidFill>
            <a:ln w="9525" cap="flat">
              <a:solidFill>
                <a:srgbClr val="F9F9F9"/>
              </a:solidFill>
              <a:prstDash val="solid"/>
              <a:round/>
            </a:ln>
            <a:effectLst/>
          </c:spPr>
          <c:dPt>
            <c:idx val="0"/>
            <c:bubble3D val="0"/>
            <c:spPr>
              <a:solidFill>
                <a:srgbClr val="4F8A3C"/>
              </a:solidFill>
              <a:ln w="19050" cap="flat">
                <a:solidFill>
                  <a:srgbClr val="FFFFFF"/>
                </a:solidFill>
                <a:prstDash val="solid"/>
                <a:round/>
              </a:ln>
              <a:effectLst/>
            </c:spPr>
          </c:dPt>
          <c:dPt>
            <c:idx val="1"/>
            <c:bubble3D val="0"/>
            <c:spPr>
              <a:solidFill>
                <a:srgbClr val="C44536"/>
              </a:solidFill>
              <a:ln w="19050" cap="flat">
                <a:solidFill>
                  <a:srgbClr val="FFFFFF"/>
                </a:solidFill>
                <a:prstDash val="solid"/>
                <a:round/>
              </a:ln>
              <a:effectLst/>
            </c:spPr>
          </c:dPt>
          <c:dPt>
            <c:idx val="2"/>
            <c:bubble3D val="0"/>
            <c:spPr>
              <a:solidFill>
                <a:srgbClr val="0E7C7B"/>
              </a:solidFill>
              <a:ln w="19050" cap="flat">
                <a:solidFill>
                  <a:srgbClr val="FFFFFF"/>
                </a:solidFill>
                <a:prstDash val="solid"/>
                <a:round/>
              </a:ln>
              <a:effectLst/>
            </c:spPr>
          </c:dPt>
          <c:dPt>
            <c:idx val="3"/>
            <c:bubble3D val="0"/>
            <c:spPr>
              <a:solidFill>
                <a:srgbClr val="2C6E91"/>
              </a:solidFill>
              <a:ln w="19050" cap="flat">
                <a:solidFill>
                  <a:srgbClr val="FFFFFF"/>
                </a:solidFill>
                <a:prstDash val="solid"/>
                <a:round/>
              </a:ln>
              <a:effectLst/>
            </c:spPr>
          </c:dPt>
          <c:dPt>
            <c:idx val="4"/>
            <c:bubble3D val="0"/>
            <c:spPr>
              <a:solidFill>
                <a:srgbClr val="5B6F75"/>
              </a:solidFill>
              <a:ln w="19050" cap="flat">
                <a:solidFill>
                  <a:srgbClr val="FFFFFF"/>
                </a:solidFill>
                <a:prstDash val="solid"/>
                <a:round/>
              </a:ln>
              <a:effectLst/>
            </c:spPr>
          </c:dPt>
          <c:dLbls>
            <c:dLbl>
              <c:idx val="0"/>
              <c:numFmt formatCode="General" sourceLinked="0"/>
              <c:spPr/>
              <c:txPr>
                <a:bodyPr/>
                <a:lstStyle/>
                <a:p>
                  <a:pPr>
                    <a:defRPr sz="1100" b="0" i="0" u="none" strike="noStrike">
                      <a:solidFill>
                        <a:srgbClr val="14272C"/>
                      </a:solidFill>
                      <a:latin typeface="+mn-lt"/>
                    </a:defRPr>
                  </a:pPr>
                </a:p>
              </c:txPr>
              <c:showLegendKey val="0"/>
              <c:showVal val="0"/>
              <c:showCatName val="0"/>
              <c:showSerName val="0"/>
              <c:showPercent val="0"/>
              <c:showBubbleSize val="0"/>
            </c:dLbl>
            <c:dLbl>
              <c:idx val="1"/>
              <c:numFmt formatCode="General" sourceLinked="0"/>
              <c:spPr/>
              <c:txPr>
                <a:bodyPr/>
                <a:lstStyle/>
                <a:p>
                  <a:pPr>
                    <a:defRPr sz="1100" b="0" i="0" u="none" strike="noStrike">
                      <a:solidFill>
                        <a:srgbClr val="14272C"/>
                      </a:solidFill>
                      <a:latin typeface="+mn-lt"/>
                    </a:defRPr>
                  </a:pPr>
                </a:p>
              </c:txPr>
              <c:showLegendKey val="0"/>
              <c:showVal val="0"/>
              <c:showCatName val="0"/>
              <c:showSerName val="0"/>
              <c:showPercent val="0"/>
              <c:showBubbleSize val="0"/>
            </c:dLbl>
            <c:dLbl>
              <c:idx val="2"/>
              <c:numFmt formatCode="General" sourceLinked="0"/>
              <c:spPr/>
              <c:txPr>
                <a:bodyPr/>
                <a:lstStyle/>
                <a:p>
                  <a:pPr>
                    <a:defRPr sz="1100" b="0" i="0" u="none" strike="noStrike">
                      <a:solidFill>
                        <a:srgbClr val="14272C"/>
                      </a:solidFill>
                      <a:latin typeface="+mn-lt"/>
                    </a:defRPr>
                  </a:pPr>
                </a:p>
              </c:txPr>
              <c:showLegendKey val="0"/>
              <c:showVal val="0"/>
              <c:showCatName val="0"/>
              <c:showSerName val="0"/>
              <c:showPercent val="0"/>
              <c:showBubbleSize val="0"/>
            </c:dLbl>
            <c:dLbl>
              <c:idx val="3"/>
              <c:numFmt formatCode="General" sourceLinked="0"/>
              <c:spPr/>
              <c:txPr>
                <a:bodyPr/>
                <a:lstStyle/>
                <a:p>
                  <a:pPr>
                    <a:defRPr sz="1100" b="0" i="0" u="none" strike="noStrike">
                      <a:solidFill>
                        <a:srgbClr val="14272C"/>
                      </a:solidFill>
                      <a:latin typeface="+mn-lt"/>
                    </a:defRPr>
                  </a:pPr>
                </a:p>
              </c:txPr>
              <c:showLegendKey val="0"/>
              <c:showVal val="0"/>
              <c:showCatName val="0"/>
              <c:showSerName val="0"/>
              <c:showPercent val="0"/>
              <c:showBubbleSize val="0"/>
            </c:dLbl>
            <c:dLbl>
              <c:idx val="4"/>
              <c:numFmt formatCode="General" sourceLinked="0"/>
              <c:spPr/>
              <c:txPr>
                <a:bodyPr/>
                <a:lstStyle/>
                <a:p>
                  <a:pPr>
                    <a:defRPr sz="1100" b="0" i="0" u="none" strike="noStrike">
                      <a:solidFill>
                        <a:srgbClr val="14272C"/>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Settled</c:v>
                </c:pt>
                <c:pt idx="1">
                  <c:v>Rejected</c:v>
                </c:pt>
                <c:pt idx="2">
                  <c:v>Awaiting payment</c:v>
                </c:pt>
                <c:pt idx="3">
                  <c:v>Open</c:v>
                </c:pt>
                <c:pt idx="4">
                  <c:v>Withdrawn</c:v>
                </c:pt>
              </c:strCache>
            </c:strRef>
          </c:cat>
          <c:val>
            <c:numRef>
              <c:f>Sheet1!$B$2:$B$6</c:f>
              <c:numCache>
                <c:ptCount val="5"/>
                <c:pt idx="0">
                  <c:v>2039</c:v>
                </c:pt>
                <c:pt idx="1">
                  <c:v>374</c:v>
                </c:pt>
                <c:pt idx="2">
                  <c:v>61</c:v>
                </c:pt>
                <c:pt idx="3">
                  <c:v>65</c:v>
                </c:pt>
                <c:pt idx="4">
                  <c:v>52</c:v>
                </c:pt>
              </c:numCache>
            </c:numRef>
          </c:val>
        </c:ser>
        <c:firstSliceAng val="0"/>
        <c:holeSize val="58"/>
      </c:doughnutChart>
      <c:spPr>
        <a:noFill/>
        <a:ln>
          <a:noFill/>
        </a:ln>
        <a:effectLst/>
      </c:spPr>
    </c:plotArea>
    <c:legend>
      <c:legendPos val="r"/>
      <c:overlay val="0"/>
      <c:txPr>
        <a:bodyPr/>
        <a:lstStyle/>
        <a:p>
          <a:pPr>
            <a:defRPr sz="1200">
              <a:solidFill>
                <a:srgbClr val="1427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Days from submission to decision ($bucket)</a:t>
            </a:r>
          </a:p>
        </c:rich>
      </c:tx>
      <c:layout/>
      <c:overlay val="0"/>
    </c:title>
    <c:autoTitleDeleted val="0"/>
    <c:plotArea>
      <c:layout/>
      <c:barChart>
        <c:barDir val="col"/>
        <c:grouping val="stacked"/>
        <c:varyColors val="0"/>
        <c:ser>
          <c:idx val="0"/>
          <c:order val="0"/>
          <c:tx>
            <c:strRef>
              <c:f>Sheet1!$B$1</c:f>
              <c:strCache>
                <c:ptCount val="1"/>
                <c:pt idx="0">
                  <c:v>Cashless</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Sheet1!$A$2:$A$7</c:f>
              <c:multiLvlStrCache>
                <c:ptCount val="6"/>
                <c:lvl>
                  <c:pt idx="0">
                    <c:v>&lt; 1 day</c:v>
                  </c:pt>
                  <c:pt idx="1">
                    <c:v>1-3 days</c:v>
                  </c:pt>
                  <c:pt idx="2">
                    <c:v>3-7 days</c:v>
                  </c:pt>
                  <c:pt idx="3">
                    <c:v>7-15 days</c:v>
                  </c:pt>
                  <c:pt idx="4">
                    <c:v>15-30 days</c:v>
                  </c:pt>
                  <c:pt idx="5">
                    <c:v>&gt; 30 days</c:v>
                  </c:pt>
                </c:lvl>
              </c:multiLvlStrCache>
            </c:multiLvlStrRef>
          </c:cat>
          <c:val>
            <c:numRef>
              <c:f>Sheet1!$B$2:$B$7</c:f>
              <c:numCache>
                <c:formatCode>General</c:formatCode>
                <c:ptCount val="6"/>
                <c:pt idx="0">
                  <c:v>170</c:v>
                </c:pt>
                <c:pt idx="1">
                  <c:v>1266</c:v>
                </c:pt>
                <c:pt idx="2">
                  <c:v>87</c:v>
                </c:pt>
                <c:pt idx="3">
                  <c:v>164</c:v>
                </c:pt>
                <c:pt idx="4">
                  <c:v>16</c:v>
                </c:pt>
                <c:pt idx="5">
                  <c:v>0</c:v>
                </c:pt>
              </c:numCache>
            </c:numRef>
          </c:val>
        </c:ser>
        <c:ser>
          <c:idx val="1"/>
          <c:order val="1"/>
          <c:tx>
            <c:strRef>
              <c:f>Sheet1!$C$1</c:f>
              <c:strCache>
                <c:ptCount val="1"/>
                <c:pt idx="0">
                  <c:v>Reimbursement</c:v>
                </c:pt>
              </c:strCache>
            </c:strRef>
          </c:tx>
          <c:spPr>
            <a:solidFill>
              <a:srgbClr val="E58A1F"/>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cat>
            <c:multiLvlStrRef>
              <c:f>Sheet1!$A$2:$A$7</c:f>
              <c:multiLvlStrCache>
                <c:ptCount val="6"/>
                <c:lvl>
                  <c:pt idx="0">
                    <c:v>&lt; 1 day</c:v>
                  </c:pt>
                  <c:pt idx="1">
                    <c:v>1-3 days</c:v>
                  </c:pt>
                  <c:pt idx="2">
                    <c:v>3-7 days</c:v>
                  </c:pt>
                  <c:pt idx="3">
                    <c:v>7-15 days</c:v>
                  </c:pt>
                  <c:pt idx="4">
                    <c:v>15-30 days</c:v>
                  </c:pt>
                  <c:pt idx="5">
                    <c:v>&gt; 30 days</c:v>
                  </c:pt>
                </c:lvl>
              </c:multiLvlStrCache>
            </c:multiLvlStrRef>
          </c:cat>
          <c:val>
            <c:numRef>
              <c:f>Sheet1!$C$2:$C$7</c:f>
              <c:numCache>
                <c:formatCode>General</c:formatCode>
                <c:ptCount val="6"/>
                <c:pt idx="0">
                  <c:v>0</c:v>
                </c:pt>
                <c:pt idx="1">
                  <c:v>0</c:v>
                </c:pt>
                <c:pt idx="2">
                  <c:v>36</c:v>
                </c:pt>
                <c:pt idx="3">
                  <c:v>282</c:v>
                </c:pt>
                <c:pt idx="4">
                  <c:v>394</c:v>
                </c:pt>
                <c:pt idx="5">
                  <c:v>59</c:v>
                </c:pt>
              </c:numCache>
            </c:numRef>
          </c:val>
        </c:ser>
        <c:dLbls>
          <c:numFmt formatCode="#,##0" sourceLinked="0"/>
          <c:txPr>
            <a:bodyPr/>
            <a:lstStyle/>
            <a:p>
              <a:pPr>
                <a:defRPr b="0" i="0" strike="noStrike" sz="1100" u="none">
                  <a:solidFill>
                    <a:srgbClr val="14272C"/>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7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7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3B43"/>
                </a:solidFill>
                <a:latin typeface="+mn-lt"/>
              </a:defRPr>
            </a:pPr>
            <a:r>
              <a:rPr sz="1400" b="0" i="0" u="none" strike="noStrike">
                <a:solidFill>
                  <a:srgbClr val="0A3B43"/>
                </a:solidFill>
                <a:latin typeface="+mn-lt"/>
              </a:rPr>
              <a:t>Tests by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E7C7B"/>
            </a:solidFill>
            <a:effectLst/>
          </c:spPr>
          <c:invertIfNegative val="0"/>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cat>
            <c:multiLvlStrRef>
              <c:f>Sheet1!$A$2:$A$8</c:f>
              <c:multiLvlStrCache>
                <c:ptCount val="7"/>
                <c:lvl>
                  <c:pt idx="0">
                    <c:v>Fraud rules</c:v>
                  </c:pt>
                  <c:pt idx="1">
                    <c:v>Workflow and transactions</c:v>
                  </c:pt>
                  <c:pt idx="2">
                    <c:v>Adjudication rules</c:v>
                  </c:pt>
                  <c:pt idx="3">
                    <c:v>Database features</c:v>
                  </c:pt>
                  <c:pt idx="4">
                    <c:v>Data integrity</c:v>
                  </c:pt>
                  <c:pt idx="5">
                    <c:v>Live server (real MongoDB)</c:v>
                  </c:pt>
                  <c:pt idx="6">
                    <c:v>Pages and reports</c:v>
                  </c:pt>
                </c:lvl>
              </c:multiLvlStrCache>
            </c:multiLvlStrRef>
          </c:cat>
          <c:val>
            <c:numRef>
              <c:f>Sheet1!$B$2:$B$8</c:f>
              <c:numCache>
                <c:formatCode>General</c:formatCode>
                <c:ptCount val="7"/>
                <c:pt idx="0">
                  <c:v>4</c:v>
                </c:pt>
                <c:pt idx="1">
                  <c:v>8</c:v>
                </c:pt>
                <c:pt idx="2">
                  <c:v>8</c:v>
                </c:pt>
                <c:pt idx="3">
                  <c:v>12</c:v>
                </c:pt>
                <c:pt idx="4">
                  <c:v>19</c:v>
                </c:pt>
                <c:pt idx="5">
                  <c:v>29</c:v>
                </c:pt>
                <c:pt idx="6">
                  <c:v>40</c:v>
                </c:pt>
              </c:numCache>
            </c:numRef>
          </c:val>
        </c:ser>
        <c:dLbls>
          <c:numFmt formatCode="#,##0" sourceLinked="0"/>
          <c:txPr>
            <a:bodyPr/>
            <a:lstStyle/>
            <a:p>
              <a:pPr>
                <a:defRPr b="0" i="0" strike="noStrike" sz="1100" u="none">
                  <a:solidFill>
                    <a:srgbClr val="1427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F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ClaimSure runs the full life of a health insurance claim on MongoDB, from intimation to payment, and reports on it. The four numbers on the right are the scale of what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first three explain what was built and how the data is modelled. Parts four and five are the database features in action. The last part shows the application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this is a database problem and not just a form. The panel on the right shows how much a single claim carries in this system; each number is a real property of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left column is about modelling and correctness; the right column is about performance, analytics and transactional safety. Each one maps to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argument. A claim is a self-contained case file whose shape varies, so embedding its parts avoids joins and makes a status change one atomic write. Shared entities are still referenced, so this is not 'everything in one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Both interfaces call the same core package, so the business rules live in one place. The data layer can be a real MongoDB or an in-memory mock, which is what makes the demo run on any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of the data. Members, audit entries and claims are the largest collections. The data is generated, not copied from anywhere, and the generator uses the same adjudication engine as the live app so the amounts are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from the top left: insurers offer plans, plans are sold as policies, policies cover members, and policies are claimed on. The dark box is the claim, the centre of the model. Amber boxes are transactional collections, the tinted ones are master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relationships and the choice made for each. The two that examiners usually ask about are the insured members, where only a subset is embedded, and the snapshot, which copies a few fields from the member and hospital into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named MongoDB design patterns, each used for a specific reason. Extended reference and computed are the two that make the dashboard fast, because lists and KPIs do not need joins or recalculation.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claim from the data set, shortened. The numbers in the comments match the four points on the right. This one document is everything the claim detail page needs, loaded in a single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kinds of rule, each with a real example from the claims validator. On the right is the live demo from the DB Console: an invalid claim is refused with a list of what is wrong. The same JSON file drives both the server and the mock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states. The service layer enforces which moves are allowed, so a settled claim cannot be put back under review by hand. Escalation is automatic: if the payable amount is above the reviewer's limit, the claim goes to someone with a higher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Adjudication is a pure function with two steps: is the claim payable at all, and if so, how much. The rules follow real Indian health policy wording, including the proportionate deduction when a patient takes a costlier room than they are eligible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claim from the data. Read the chart left to right: the bill, then each deduction in the order the engine applies it, then what the insurer pays. The biggest cuts come from the room choice, which is the most common reason for a partial approval in real life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Paying a claim writes to four collections. Without a transaction, a crash after step two would reduce the cover with no payment recorded. The demo button fails on purpose after step two and shows everything rolled back. On Atlas this is a native session transaction with snapshot reads and majority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lost-update problem, reproduced with two real threads. A shows a payment vanishing. B lets the server do the arithmetic. C detects the clash with a version number and retries. D is a transaction: MongoDB raises a WriteConflict for the second writer, aborts it and with_transaction runs it again on fresh data. All four run live from the Concurrency Lab page or python main.py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scoring is rule-based and explainable: each flag has a reason and a number of points. The scan is efficient because the member histories it needs are collected with one aggregation instead of thousands of small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index type is used where it earns its place. The compound index follows the equality, sort, range rule. The partial index is small because it only covers claims with a fraud score of 30 or more. Indexes are built after the bulk load, which is faster than maintaining them during inserts.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explain output on 100,000 documents, run from the Scale Benchmark page or python main.py bench. Teal bars are big wins. The red bars matter just as much: they are the next slide, and they show the examiner that indexing was understood, not just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rows from the same benchmark. The first two are why indexes exist. The last three are the traps: a missing leading field, an unanchored regex, and a filter that matches most of the collection. The times are in milliseconds, before and after indexing.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page shows each pipeline next to its chart. This one is the hospital report. Two habits make pipelines cheap: drop unused fields first, and group before joining so the lookup runs on a handful of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months of data. The line shows growth and a monsoon peak each year, which is how the generator was designed to behave. The drop in the settled line at the far right is not a problem: recent claims simply have not been paid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standard insurance measures per insurer. The settlement ratio counts claims; the incurred claim ratio compares money paid with premium earned. The second one is only possible because each policy embeds its renewal history with the premium for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profitability question every insurer asks. Group policies have no waiting periods, so they lose money, which matches the real market. Right: an $unwind over the deductions array shows which policy conditions reduce payouts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84 in every 100 decided claims are paid. Cashless claims are decided in days because the hospital deals with the insurer directly; reimbursement takes longer because the member submits papers afterwards. The turnaround chart is a $bucket aggregation on a stored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enforced by MongoDB, not by the app. The analyst account is read-only: the Security page connects with it and tries seven operations. The server refuses every write: Atlas returns error 8000, a self-hosted server returns error 13, Unauthorized. Analysts read members through a view that masks personal data. On Atlas the users are created under Database Access; scripts/09_security.js does the same on a self-managed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streams push every insert and update to subscribers. Paying one claim produced three events at the same instant, one per collection in the transaction. On the right, two kinds of derived data: a view is a saved query and always fresh; a materialised view is a stored result that is faster to read but only as fresh as its last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administration jobs. A schemaless database still needs managed change: documents carry a schema version and a migration upgrades them in place. The renewal job shows bulk writes and idempotency. Backup and restore round-trips the whole database, re-applying validators and indexes.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for when one replica set is not enough. Hashing the member id spreads claims evenly across shards, while everything about one member stays together. The keys on the right look natural but would create a hot shard or uneven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If the demo is live, switch here to the browser. Point out the user switcher at the top right: acting as a different member of staff changes what can be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claim from the worked example. Everything on the page comes from the one claim document plus its policy and plan. The two buttons on the right are the ACID demo: one commits, one fails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pages built for a database review. The analytics page proves that the numbers come from pipelines. The console exposes the schema, the indexes and the validators, and has buttons for the index benchmark, the validation demo and the failing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use the system, and two test suites. The mock suite runs anywhere. The live suite, python main.py test-live, runs against the real server in a separate database and checks server-side validation, real explain plans, a real WriteConflict and retry, change streams, views and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review criteria and the evidence for each. Every bullet can be shown live: the DB Console for schema and indexes, the benchmark page for plans, and the claim page for the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limits: the free tier cannot shard or do point-in-time restore, and the data is synthetic. The next steps follow from the design work already done, such as the shard-key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takeaways, then open the floor. If there is time, offer to run any of the live demos again: the failing transaction and the invalid insert are the quickest.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6583680" cy="11430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383280"/>
            <a:ext cx="6309360" cy="13716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algn="l" indent="0" marL="0">
              <a:buNone/>
            </a:pPr>
            <a:r>
              <a:rPr lang="en-US" sz="1000" dirty="0">
                <a:solidFill>
                  <a:schemeClr val="accent6"/>
                </a:solidFill>
              </a:rPr>
              <a:t>ClaimSure  |  Health Insurance Claim Processing and Analytics System</a:t>
            </a:r>
            <a:endParaRPr lang="en-US" sz="10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R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algn="l" indent="0" marL="0">
              <a:buNone/>
            </a:pPr>
            <a:r>
              <a:rPr lang="en-US" sz="1000" dirty="0">
                <a:solidFill>
                  <a:schemeClr val="accent6"/>
                </a:solidFill>
              </a:rPr>
              <a:t>ClaimSure  |  Health Insurance Claim Processing and Analytics System</a:t>
            </a:r>
            <a:endParaRPr lang="en-US" sz="1000" dirty="0"/>
          </a:p>
        </p:txBody>
      </p:sp>
      <p:sp>
        <p:nvSpPr>
          <p:cNvPr id="5" name="Text 1"/>
          <p:cNvSpPr/>
          <p:nvPr>
            <p:ph idx="103" type="body" hasCustomPrompt="1"/>
          </p:nvPr>
        </p:nvSpPr>
        <p:spPr>
          <a:xfrm>
            <a:off x="8092440" y="1783080"/>
            <a:ext cx="3547872" cy="4206240"/>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585216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2377440"/>
            <a:ext cx="5669280" cy="548640"/>
          </a:xfrm>
          <a:prstGeom prst="rect">
            <a:avLst/>
          </a:prstGeom>
          <a:noFill/>
          <a:ln/>
        </p:spPr>
        <p:txBody>
          <a:bodyPr wrap="square" rtlCol="0"/>
          <a:lstStyle>
            <a:lvl1pPr algn="l" indent="0" marL="0">
              <a:buNone/>
              <a:defRPr lang="en-US" sz="2400" dirty="0">
                <a:solidFill>
                  <a:schemeClr val="accent2"/>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3.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3.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4" Type="http://schemas.openxmlformats.org/officeDocument/2006/relationships/chart" Target="/ppt/charts/chart11.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github.com/nirupamraut-2062/Health_Insurance_Claim_Processing-_System" TargetMode="External"/><Relationship Id="rId2" Type="http://schemas.openxmlformats.org/officeDocument/2006/relationships/hyperlink" Target="https://github.com/nirupamraut-2062/Health_Insurance_Claim_Processing-_System" TargetMode="External"/><Relationship Id="rId3" Type="http://schemas.openxmlformats.org/officeDocument/2006/relationships/slideLayout" Target="../slideLayouts/slideLayout5.xml"/><Relationship Id="rId4"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t 1"/>
          <p:cNvSpPr/>
          <p:nvPr/>
        </p:nvSpPr>
        <p:spPr>
          <a:xfrm>
            <a:off x="731520" y="1097280"/>
            <a:ext cx="868680" cy="868680"/>
          </a:xfrm>
          <a:prstGeom prst="ellipse">
            <a:avLst/>
          </a:prstGeom>
          <a:solidFill>
            <a:schemeClr val="accent1"/>
          </a:solidFill>
          <a:ln/>
        </p:spPr>
      </p:sp>
      <p:pic>
        <p:nvPicPr>
          <p:cNvPr id="3" name="Image 0" descr="icon">    </p:cNvPr>
          <p:cNvPicPr>
            <a:picLocks noChangeAspect="1"/>
          </p:cNvPicPr>
          <p:nvPr/>
        </p:nvPicPr>
        <p:blipFill>
          <a:blip r:embed="rId1"/>
          <a:stretch>
            <a:fillRect/>
          </a:stretch>
        </p:blipFill>
        <p:spPr>
          <a:xfrm>
            <a:off x="948690" y="1314450"/>
            <a:ext cx="434340" cy="434340"/>
          </a:xfrm>
          <a:prstGeom prst="rect">
            <a:avLst/>
          </a:prstGeom>
        </p:spPr>
      </p:pic>
      <p:sp>
        <p:nvSpPr>
          <p:cNvPr id="4" name="Text 0"/>
          <p:cNvSpPr/>
          <p:nvPr>
            <p:ph idx="100" type="title" hasCustomPrompt="1"/>
          </p:nvPr>
        </p:nvSpPr>
        <p:spPr>
          <a:xfrm>
            <a:off x="731520" y="2057400"/>
            <a:ext cx="6583680" cy="1143000"/>
          </a:xfrm>
          <a:prstGeom prst="rect">
            <a:avLst/>
          </a:prstGeom>
          <a:noFill/>
          <a:ln/>
        </p:spPr>
        <p:txBody>
          <a:bodyPr wrap="square" lIns="0" tIns="0" rIns="0" bIns="0" rtlCol="0" anchor="b"/>
          <a:lstStyle/>
          <a:p>
            <a:pPr algn="l" indent="0" marL="0">
              <a:buNone/>
            </a:pPr>
            <a:r>
              <a:rPr lang="en-US" sz="6600" b="1" dirty="0">
                <a:solidFill>
                  <a:schemeClr val="bg1"/>
                </a:solidFill>
              </a:rPr>
              <a:t>ClaimSure</a:t>
            </a:r>
            <a:endParaRPr lang="en-US" sz="6600" dirty="0"/>
          </a:p>
        </p:txBody>
      </p:sp>
      <p:sp>
        <p:nvSpPr>
          <p:cNvPr id="5" name="Text 0"/>
          <p:cNvSpPr/>
          <p:nvPr>
            <p:ph idx="101" type="body" hasCustomPrompt="1"/>
          </p:nvPr>
        </p:nvSpPr>
        <p:spPr>
          <a:xfrm>
            <a:off x="731520" y="3383280"/>
            <a:ext cx="6309360" cy="1371600"/>
          </a:xfrm>
          <a:prstGeom prst="rect">
            <a:avLst/>
          </a:prstGeom>
          <a:noFill/>
          <a:ln/>
        </p:spPr>
        <p:txBody>
          <a:bodyPr wrap="square" lIns="0" tIns="0" rIns="0" bIns="0" rtlCol="0" anchor="t"/>
          <a:lstStyle/>
          <a:p>
            <a:pPr algn="l" indent="0" marL="0">
              <a:buNone/>
            </a:pPr>
            <a:r>
              <a:rPr lang="en-US" sz="2200" dirty="0">
                <a:solidFill>
                  <a:schemeClr val="bg2"/>
                </a:solidFill>
              </a:rPr>
              <a:t>A NoSQL-based health insurance claim processing and analytics system using MongoDB</a:t>
            </a:r>
            <a:endParaRPr lang="en-US" sz="2200" dirty="0"/>
          </a:p>
        </p:txBody>
      </p:sp>
      <p:sp>
        <p:nvSpPr>
          <p:cNvPr id="6" name="Text 3"/>
          <p:cNvSpPr txBox="1"/>
          <p:nvPr/>
        </p:nvSpPr>
        <p:spPr>
          <a:xfrm>
            <a:off x="731520" y="5120640"/>
            <a:ext cx="6309360" cy="320040"/>
          </a:xfrm>
          <a:prstGeom prst="rect">
            <a:avLst/>
          </a:prstGeom>
          <a:noFill/>
          <a:ln/>
        </p:spPr>
        <p:txBody>
          <a:bodyPr wrap="square" lIns="0" tIns="0" rIns="0" bIns="0" rtlCol="0" anchor="t"/>
          <a:lstStyle/>
          <a:p>
            <a:pPr algn="l" indent="0" marL="0">
              <a:buNone/>
            </a:pPr>
            <a:r>
              <a:rPr lang="en-US" sz="1600" b="1" dirty="0">
                <a:solidFill>
                  <a:schemeClr val="bg1"/>
                </a:solidFill>
              </a:rPr>
              <a:t>Database Management Systems  |  Project review</a:t>
            </a:r>
            <a:endParaRPr lang="en-US" sz="1600" dirty="0"/>
          </a:p>
        </p:txBody>
      </p:sp>
      <p:sp>
        <p:nvSpPr>
          <p:cNvPr id="7" name="Text 4"/>
          <p:cNvSpPr txBox="1"/>
          <p:nvPr/>
        </p:nvSpPr>
        <p:spPr>
          <a:xfrm>
            <a:off x="731520" y="5486400"/>
            <a:ext cx="6309360" cy="320040"/>
          </a:xfrm>
          <a:prstGeom prst="rect">
            <a:avLst/>
          </a:prstGeom>
          <a:noFill/>
          <a:ln/>
        </p:spPr>
        <p:txBody>
          <a:bodyPr wrap="square" lIns="0" tIns="0" rIns="0" bIns="0" rtlCol="0" anchor="t"/>
          <a:lstStyle/>
          <a:p>
            <a:pPr algn="l" indent="0" marL="0">
              <a:buNone/>
            </a:pPr>
            <a:r>
              <a:rPr lang="en-US" sz="1600" dirty="0">
                <a:solidFill>
                  <a:schemeClr val="bg2"/>
                </a:solidFill>
              </a:rPr>
              <a:t>Presented by Nirupam</a:t>
            </a:r>
            <a:endParaRPr lang="en-US" sz="1600" dirty="0"/>
          </a:p>
        </p:txBody>
      </p:sp>
      <p:sp>
        <p:nvSpPr>
          <p:cNvPr id="8" name="Title stat 2"/>
          <p:cNvSpPr/>
          <p:nvPr/>
        </p:nvSpPr>
        <p:spPr>
          <a:xfrm>
            <a:off x="7772400" y="1828800"/>
            <a:ext cx="1828800" cy="1600200"/>
          </a:xfrm>
          <a:prstGeom prst="roundRect">
            <a:avLst>
              <a:gd name="adj" fmla="val 5714"/>
            </a:avLst>
          </a:prstGeom>
          <a:solidFill>
            <a:schemeClr val="bg1">
              <a:alpha val="10000"/>
            </a:schemeClr>
          </a:solidFill>
          <a:ln/>
        </p:spPr>
      </p:sp>
      <p:sp>
        <p:nvSpPr>
          <p:cNvPr id="9" name="Text 6"/>
          <p:cNvSpPr txBox="1"/>
          <p:nvPr/>
        </p:nvSpPr>
        <p:spPr>
          <a:xfrm>
            <a:off x="7955280" y="2057400"/>
            <a:ext cx="1463040" cy="685800"/>
          </a:xfrm>
          <a:prstGeom prst="rect">
            <a:avLst/>
          </a:prstGeom>
          <a:noFill/>
          <a:ln/>
        </p:spPr>
        <p:txBody>
          <a:bodyPr wrap="square" lIns="0" tIns="0" rIns="0" bIns="0" rtlCol="0" anchor="ctr"/>
          <a:lstStyle/>
          <a:p>
            <a:pPr algn="l" indent="0" marL="0">
              <a:buNone/>
            </a:pPr>
            <a:r>
              <a:rPr lang="en-US" sz="3600" b="1" dirty="0">
                <a:solidFill>
                  <a:schemeClr val="accent2"/>
                </a:solidFill>
              </a:rPr>
              <a:t>14</a:t>
            </a:r>
            <a:endParaRPr lang="en-US" sz="3600" dirty="0"/>
          </a:p>
        </p:txBody>
      </p:sp>
      <p:sp>
        <p:nvSpPr>
          <p:cNvPr id="10" name="Text 7"/>
          <p:cNvSpPr txBox="1"/>
          <p:nvPr/>
        </p:nvSpPr>
        <p:spPr>
          <a:xfrm>
            <a:off x="7955280" y="2761488"/>
            <a:ext cx="1463040" cy="548640"/>
          </a:xfrm>
          <a:prstGeom prst="rect">
            <a:avLst/>
          </a:prstGeom>
          <a:noFill/>
          <a:ln/>
        </p:spPr>
        <p:txBody>
          <a:bodyPr wrap="square" lIns="0" tIns="0" rIns="0" bIns="0" rtlCol="0" anchor="t"/>
          <a:lstStyle/>
          <a:p>
            <a:pPr algn="l" indent="0" marL="0">
              <a:buNone/>
            </a:pPr>
            <a:r>
              <a:rPr lang="en-US" sz="1400" dirty="0">
                <a:solidFill>
                  <a:schemeClr val="bg2"/>
                </a:solidFill>
              </a:rPr>
              <a:t>collections</a:t>
            </a:r>
            <a:endParaRPr lang="en-US" sz="1400" dirty="0"/>
          </a:p>
        </p:txBody>
      </p:sp>
      <p:sp>
        <p:nvSpPr>
          <p:cNvPr id="11" name="Title stat 3"/>
          <p:cNvSpPr/>
          <p:nvPr/>
        </p:nvSpPr>
        <p:spPr>
          <a:xfrm>
            <a:off x="9784080" y="1828800"/>
            <a:ext cx="1828800" cy="1600200"/>
          </a:xfrm>
          <a:prstGeom prst="roundRect">
            <a:avLst>
              <a:gd name="adj" fmla="val 5714"/>
            </a:avLst>
          </a:prstGeom>
          <a:solidFill>
            <a:schemeClr val="bg1">
              <a:alpha val="10000"/>
            </a:schemeClr>
          </a:solidFill>
          <a:ln/>
        </p:spPr>
      </p:sp>
      <p:sp>
        <p:nvSpPr>
          <p:cNvPr id="12" name="Text 9"/>
          <p:cNvSpPr txBox="1"/>
          <p:nvPr/>
        </p:nvSpPr>
        <p:spPr>
          <a:xfrm>
            <a:off x="9966960" y="2057400"/>
            <a:ext cx="1463040" cy="685800"/>
          </a:xfrm>
          <a:prstGeom prst="rect">
            <a:avLst/>
          </a:prstGeom>
          <a:noFill/>
          <a:ln/>
        </p:spPr>
        <p:txBody>
          <a:bodyPr wrap="square" lIns="0" tIns="0" rIns="0" bIns="0" rtlCol="0" anchor="ctr"/>
          <a:lstStyle/>
          <a:p>
            <a:pPr algn="l" indent="0" marL="0">
              <a:buNone/>
            </a:pPr>
            <a:r>
              <a:rPr lang="en-US" sz="3600" b="1" dirty="0">
                <a:solidFill>
                  <a:schemeClr val="accent2"/>
                </a:solidFill>
              </a:rPr>
              <a:t>16,760</a:t>
            </a:r>
            <a:endParaRPr lang="en-US" sz="3600" dirty="0"/>
          </a:p>
        </p:txBody>
      </p:sp>
      <p:sp>
        <p:nvSpPr>
          <p:cNvPr id="13" name="Text 10"/>
          <p:cNvSpPr txBox="1"/>
          <p:nvPr/>
        </p:nvSpPr>
        <p:spPr>
          <a:xfrm>
            <a:off x="9966960" y="2761488"/>
            <a:ext cx="1463040" cy="548640"/>
          </a:xfrm>
          <a:prstGeom prst="rect">
            <a:avLst/>
          </a:prstGeom>
          <a:noFill/>
          <a:ln/>
        </p:spPr>
        <p:txBody>
          <a:bodyPr wrap="square" lIns="0" tIns="0" rIns="0" bIns="0" rtlCol="0" anchor="t"/>
          <a:lstStyle/>
          <a:p>
            <a:pPr algn="l" indent="0" marL="0">
              <a:buNone/>
            </a:pPr>
            <a:r>
              <a:rPr lang="en-US" sz="1400" dirty="0">
                <a:solidFill>
                  <a:schemeClr val="bg2"/>
                </a:solidFill>
              </a:rPr>
              <a:t>documents</a:t>
            </a:r>
            <a:endParaRPr lang="en-US" sz="1400" dirty="0"/>
          </a:p>
        </p:txBody>
      </p:sp>
      <p:sp>
        <p:nvSpPr>
          <p:cNvPr id="14" name="Title stat 4"/>
          <p:cNvSpPr/>
          <p:nvPr/>
        </p:nvSpPr>
        <p:spPr>
          <a:xfrm>
            <a:off x="7772400" y="3611880"/>
            <a:ext cx="1828800" cy="1600200"/>
          </a:xfrm>
          <a:prstGeom prst="roundRect">
            <a:avLst>
              <a:gd name="adj" fmla="val 5714"/>
            </a:avLst>
          </a:prstGeom>
          <a:solidFill>
            <a:schemeClr val="bg1">
              <a:alpha val="10000"/>
            </a:schemeClr>
          </a:solidFill>
          <a:ln/>
        </p:spPr>
      </p:sp>
      <p:sp>
        <p:nvSpPr>
          <p:cNvPr id="15" name="Text 12"/>
          <p:cNvSpPr txBox="1"/>
          <p:nvPr/>
        </p:nvSpPr>
        <p:spPr>
          <a:xfrm>
            <a:off x="7955280" y="3840480"/>
            <a:ext cx="1463040" cy="685800"/>
          </a:xfrm>
          <a:prstGeom prst="rect">
            <a:avLst/>
          </a:prstGeom>
          <a:noFill/>
          <a:ln/>
        </p:spPr>
        <p:txBody>
          <a:bodyPr wrap="square" lIns="0" tIns="0" rIns="0" bIns="0" rtlCol="0" anchor="ctr"/>
          <a:lstStyle/>
          <a:p>
            <a:pPr algn="l" indent="0" marL="0">
              <a:buNone/>
            </a:pPr>
            <a:r>
              <a:rPr lang="en-US" sz="3600" b="1" dirty="0">
                <a:solidFill>
                  <a:schemeClr val="accent2"/>
                </a:solidFill>
              </a:rPr>
              <a:t>50</a:t>
            </a:r>
            <a:endParaRPr lang="en-US" sz="3600" dirty="0"/>
          </a:p>
        </p:txBody>
      </p:sp>
      <p:sp>
        <p:nvSpPr>
          <p:cNvPr id="16" name="Text 13"/>
          <p:cNvSpPr txBox="1"/>
          <p:nvPr/>
        </p:nvSpPr>
        <p:spPr>
          <a:xfrm>
            <a:off x="7955280" y="4544568"/>
            <a:ext cx="1463040" cy="548640"/>
          </a:xfrm>
          <a:prstGeom prst="rect">
            <a:avLst/>
          </a:prstGeom>
          <a:noFill/>
          <a:ln/>
        </p:spPr>
        <p:txBody>
          <a:bodyPr wrap="square" lIns="0" tIns="0" rIns="0" bIns="0" rtlCol="0" anchor="t"/>
          <a:lstStyle/>
          <a:p>
            <a:pPr algn="l" indent="0" marL="0">
              <a:buNone/>
            </a:pPr>
            <a:r>
              <a:rPr lang="en-US" sz="1400" dirty="0">
                <a:solidFill>
                  <a:schemeClr val="bg2"/>
                </a:solidFill>
              </a:rPr>
              <a:t>indexes of nine types</a:t>
            </a:r>
            <a:endParaRPr lang="en-US" sz="1400" dirty="0"/>
          </a:p>
        </p:txBody>
      </p:sp>
      <p:sp>
        <p:nvSpPr>
          <p:cNvPr id="17" name="Title stat 5"/>
          <p:cNvSpPr/>
          <p:nvPr/>
        </p:nvSpPr>
        <p:spPr>
          <a:xfrm>
            <a:off x="9784080" y="3611880"/>
            <a:ext cx="1828800" cy="1600200"/>
          </a:xfrm>
          <a:prstGeom prst="roundRect">
            <a:avLst>
              <a:gd name="adj" fmla="val 5714"/>
            </a:avLst>
          </a:prstGeom>
          <a:solidFill>
            <a:schemeClr val="bg1">
              <a:alpha val="10000"/>
            </a:schemeClr>
          </a:solidFill>
          <a:ln/>
        </p:spPr>
      </p:sp>
      <p:sp>
        <p:nvSpPr>
          <p:cNvPr id="18" name="Text 15"/>
          <p:cNvSpPr txBox="1"/>
          <p:nvPr/>
        </p:nvSpPr>
        <p:spPr>
          <a:xfrm>
            <a:off x="9966960" y="3840480"/>
            <a:ext cx="1463040" cy="685800"/>
          </a:xfrm>
          <a:prstGeom prst="rect">
            <a:avLst/>
          </a:prstGeom>
          <a:noFill/>
          <a:ln/>
        </p:spPr>
        <p:txBody>
          <a:bodyPr wrap="square" lIns="0" tIns="0" rIns="0" bIns="0" rtlCol="0" anchor="ctr"/>
          <a:lstStyle/>
          <a:p>
            <a:pPr algn="l" indent="0" marL="0">
              <a:buNone/>
            </a:pPr>
            <a:r>
              <a:rPr lang="en-US" sz="3600" b="1" dirty="0">
                <a:solidFill>
                  <a:schemeClr val="accent2"/>
                </a:solidFill>
              </a:rPr>
              <a:t>19</a:t>
            </a:r>
            <a:endParaRPr lang="en-US" sz="3600" dirty="0"/>
          </a:p>
        </p:txBody>
      </p:sp>
      <p:sp>
        <p:nvSpPr>
          <p:cNvPr id="19" name="Text 16"/>
          <p:cNvSpPr txBox="1"/>
          <p:nvPr/>
        </p:nvSpPr>
        <p:spPr>
          <a:xfrm>
            <a:off x="9966960" y="4544568"/>
            <a:ext cx="1463040" cy="548640"/>
          </a:xfrm>
          <a:prstGeom prst="rect">
            <a:avLst/>
          </a:prstGeom>
          <a:noFill/>
          <a:ln/>
        </p:spPr>
        <p:txBody>
          <a:bodyPr wrap="square" lIns="0" tIns="0" rIns="0" bIns="0" rtlCol="0" anchor="t"/>
          <a:lstStyle/>
          <a:p>
            <a:pPr algn="l" indent="0" marL="0">
              <a:buNone/>
            </a:pPr>
            <a:r>
              <a:rPr lang="en-US" sz="1400" dirty="0">
                <a:solidFill>
                  <a:schemeClr val="bg2"/>
                </a:solidFill>
              </a:rPr>
              <a:t>aggregation reports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OVERVIEW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What this presentation covers</a:t>
            </a:r>
            <a:endParaRPr lang="en-US" sz="3600" dirty="0"/>
          </a:p>
        </p:txBody>
      </p:sp>
      <p:sp>
        <p:nvSpPr>
          <p:cNvPr id="4" name="Connector 6"/>
          <p:cNvSpPr/>
          <p:nvPr/>
        </p:nvSpPr>
        <p:spPr>
          <a:xfrm>
            <a:off x="914400" y="2331720"/>
            <a:ext cx="9245346" cy="0"/>
          </a:xfrm>
          <a:prstGeom prst="line">
            <a:avLst/>
          </a:prstGeom>
          <a:noFill/>
          <a:ln w="31750">
            <a:solidFill>
              <a:schemeClr val="accent1"/>
            </a:solidFill>
            <a:prstDash val="solid"/>
          </a:ln>
        </p:spPr>
      </p:sp>
      <p:sp>
        <p:nvSpPr>
          <p:cNvPr id="5" name="Dot 7"/>
          <p:cNvSpPr/>
          <p:nvPr/>
        </p:nvSpPr>
        <p:spPr>
          <a:xfrm>
            <a:off x="548640" y="1965960"/>
            <a:ext cx="731520" cy="731520"/>
          </a:xfrm>
          <a:prstGeom prst="ellipse">
            <a:avLst/>
          </a:prstGeom>
          <a:solidFill>
            <a:schemeClr val="accent1"/>
          </a:solidFill>
          <a:ln/>
        </p:spPr>
      </p:sp>
      <p:sp>
        <p:nvSpPr>
          <p:cNvPr id="6" name="Text 4"/>
          <p:cNvSpPr txBox="1"/>
          <p:nvPr/>
        </p:nvSpPr>
        <p:spPr>
          <a:xfrm>
            <a:off x="548640"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5"/>
          <p:cNvSpPr txBox="1"/>
          <p:nvPr/>
        </p:nvSpPr>
        <p:spPr>
          <a:xfrm>
            <a:off x="548640"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Problem and goals</a:t>
            </a:r>
            <a:endParaRPr lang="en-US" sz="1700" dirty="0"/>
          </a:p>
        </p:txBody>
      </p:sp>
      <p:sp>
        <p:nvSpPr>
          <p:cNvPr id="8" name="Text 6"/>
          <p:cNvSpPr txBox="1"/>
          <p:nvPr/>
        </p:nvSpPr>
        <p:spPr>
          <a:xfrm>
            <a:off x="548640"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Why claims are hard to process, and what the project sets out to do</a:t>
            </a:r>
            <a:endParaRPr lang="en-US" sz="1400" dirty="0"/>
          </a:p>
        </p:txBody>
      </p:sp>
      <p:sp>
        <p:nvSpPr>
          <p:cNvPr id="9" name="Dot 8"/>
          <p:cNvSpPr/>
          <p:nvPr/>
        </p:nvSpPr>
        <p:spPr>
          <a:xfrm>
            <a:off x="2397709" y="1965960"/>
            <a:ext cx="731520" cy="731520"/>
          </a:xfrm>
          <a:prstGeom prst="ellipse">
            <a:avLst/>
          </a:prstGeom>
          <a:solidFill>
            <a:schemeClr val="accent1"/>
          </a:solidFill>
          <a:ln/>
        </p:spPr>
      </p:sp>
      <p:sp>
        <p:nvSpPr>
          <p:cNvPr id="10" name="Text 8"/>
          <p:cNvSpPr txBox="1"/>
          <p:nvPr/>
        </p:nvSpPr>
        <p:spPr>
          <a:xfrm>
            <a:off x="2397709"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9"/>
          <p:cNvSpPr txBox="1"/>
          <p:nvPr/>
        </p:nvSpPr>
        <p:spPr>
          <a:xfrm>
            <a:off x="2397709"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System and data</a:t>
            </a:r>
            <a:endParaRPr lang="en-US" sz="1700" dirty="0"/>
          </a:p>
        </p:txBody>
      </p:sp>
      <p:sp>
        <p:nvSpPr>
          <p:cNvPr id="12" name="Text 10"/>
          <p:cNvSpPr txBox="1"/>
          <p:nvPr/>
        </p:nvSpPr>
        <p:spPr>
          <a:xfrm>
            <a:off x="2397709"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Architecture, the 14 collections and how they relate</a:t>
            </a:r>
            <a:endParaRPr lang="en-US" sz="1400" dirty="0"/>
          </a:p>
        </p:txBody>
      </p:sp>
      <p:sp>
        <p:nvSpPr>
          <p:cNvPr id="13" name="Dot 9"/>
          <p:cNvSpPr/>
          <p:nvPr/>
        </p:nvSpPr>
        <p:spPr>
          <a:xfrm>
            <a:off x="4246778" y="1965960"/>
            <a:ext cx="731520" cy="731520"/>
          </a:xfrm>
          <a:prstGeom prst="ellipse">
            <a:avLst/>
          </a:prstGeom>
          <a:solidFill>
            <a:schemeClr val="accent1"/>
          </a:solidFill>
          <a:ln/>
        </p:spPr>
      </p:sp>
      <p:sp>
        <p:nvSpPr>
          <p:cNvPr id="14" name="Text 12"/>
          <p:cNvSpPr txBox="1"/>
          <p:nvPr/>
        </p:nvSpPr>
        <p:spPr>
          <a:xfrm>
            <a:off x="4246778"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Text 13"/>
          <p:cNvSpPr txBox="1"/>
          <p:nvPr/>
        </p:nvSpPr>
        <p:spPr>
          <a:xfrm>
            <a:off x="4246778"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Schema design</a:t>
            </a:r>
            <a:endParaRPr lang="en-US" sz="1700" dirty="0"/>
          </a:p>
        </p:txBody>
      </p:sp>
      <p:sp>
        <p:nvSpPr>
          <p:cNvPr id="16" name="Text 14"/>
          <p:cNvSpPr txBox="1"/>
          <p:nvPr/>
        </p:nvSpPr>
        <p:spPr>
          <a:xfrm>
            <a:off x="4246778"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Embedding, references, six patterns and validation</a:t>
            </a:r>
            <a:endParaRPr lang="en-US" sz="1400" dirty="0"/>
          </a:p>
        </p:txBody>
      </p:sp>
      <p:sp>
        <p:nvSpPr>
          <p:cNvPr id="17" name="Dot 10"/>
          <p:cNvSpPr/>
          <p:nvPr/>
        </p:nvSpPr>
        <p:spPr>
          <a:xfrm>
            <a:off x="6095848" y="1965960"/>
            <a:ext cx="731520" cy="731520"/>
          </a:xfrm>
          <a:prstGeom prst="ellipse">
            <a:avLst/>
          </a:prstGeom>
          <a:solidFill>
            <a:schemeClr val="accent1"/>
          </a:solidFill>
          <a:ln/>
        </p:spPr>
      </p:sp>
      <p:sp>
        <p:nvSpPr>
          <p:cNvPr id="18" name="Text 16"/>
          <p:cNvSpPr txBox="1"/>
          <p:nvPr/>
        </p:nvSpPr>
        <p:spPr>
          <a:xfrm>
            <a:off x="6095848"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9" name="Text 17"/>
          <p:cNvSpPr txBox="1"/>
          <p:nvPr/>
        </p:nvSpPr>
        <p:spPr>
          <a:xfrm>
            <a:off x="6095848"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Claim processing</a:t>
            </a:r>
            <a:endParaRPr lang="en-US" sz="1700" dirty="0"/>
          </a:p>
        </p:txBody>
      </p:sp>
      <p:sp>
        <p:nvSpPr>
          <p:cNvPr id="20" name="Text 18"/>
          <p:cNvSpPr txBox="1"/>
          <p:nvPr/>
        </p:nvSpPr>
        <p:spPr>
          <a:xfrm>
            <a:off x="6095848"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Lifecycle, adjudication, ACID settlement, concurrency control</a:t>
            </a:r>
            <a:endParaRPr lang="en-US" sz="1400" dirty="0"/>
          </a:p>
        </p:txBody>
      </p:sp>
      <p:sp>
        <p:nvSpPr>
          <p:cNvPr id="21" name="Dot 11"/>
          <p:cNvSpPr/>
          <p:nvPr/>
        </p:nvSpPr>
        <p:spPr>
          <a:xfrm>
            <a:off x="7944917" y="1965960"/>
            <a:ext cx="731520" cy="731520"/>
          </a:xfrm>
          <a:prstGeom prst="ellipse">
            <a:avLst/>
          </a:prstGeom>
          <a:solidFill>
            <a:schemeClr val="accent1"/>
          </a:solidFill>
          <a:ln/>
        </p:spPr>
      </p:sp>
      <p:sp>
        <p:nvSpPr>
          <p:cNvPr id="22" name="Text 20"/>
          <p:cNvSpPr txBox="1"/>
          <p:nvPr/>
        </p:nvSpPr>
        <p:spPr>
          <a:xfrm>
            <a:off x="7944917"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3" name="Text 21"/>
          <p:cNvSpPr txBox="1"/>
          <p:nvPr/>
        </p:nvSpPr>
        <p:spPr>
          <a:xfrm>
            <a:off x="7944917"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Optimisation and analytics</a:t>
            </a:r>
            <a:endParaRPr lang="en-US" sz="1700" dirty="0"/>
          </a:p>
        </p:txBody>
      </p:sp>
      <p:sp>
        <p:nvSpPr>
          <p:cNvPr id="24" name="Text 22"/>
          <p:cNvSpPr txBox="1"/>
          <p:nvPr/>
        </p:nvSpPr>
        <p:spPr>
          <a:xfrm>
            <a:off x="7944917"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100,000-document index benchmark and 19 reports</a:t>
            </a:r>
            <a:endParaRPr lang="en-US" sz="1400" dirty="0"/>
          </a:p>
        </p:txBody>
      </p:sp>
      <p:sp>
        <p:nvSpPr>
          <p:cNvPr id="25" name="Dot 12"/>
          <p:cNvSpPr/>
          <p:nvPr/>
        </p:nvSpPr>
        <p:spPr>
          <a:xfrm>
            <a:off x="9793986" y="1965960"/>
            <a:ext cx="731520" cy="731520"/>
          </a:xfrm>
          <a:prstGeom prst="ellipse">
            <a:avLst/>
          </a:prstGeom>
          <a:solidFill>
            <a:schemeClr val="accent1"/>
          </a:solidFill>
          <a:ln/>
        </p:spPr>
      </p:sp>
      <p:sp>
        <p:nvSpPr>
          <p:cNvPr id="26" name="Text 24"/>
          <p:cNvSpPr txBox="1"/>
          <p:nvPr/>
        </p:nvSpPr>
        <p:spPr>
          <a:xfrm>
            <a:off x="9793986" y="1965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27" name="Text 25"/>
          <p:cNvSpPr txBox="1"/>
          <p:nvPr/>
        </p:nvSpPr>
        <p:spPr>
          <a:xfrm>
            <a:off x="9793986" y="2971800"/>
            <a:ext cx="1647901" cy="658368"/>
          </a:xfrm>
          <a:prstGeom prst="rect">
            <a:avLst/>
          </a:prstGeom>
          <a:noFill/>
          <a:ln/>
        </p:spPr>
        <p:txBody>
          <a:bodyPr wrap="square" lIns="0" tIns="0" rIns="0" bIns="0" rtlCol="0" anchor="t"/>
          <a:lstStyle/>
          <a:p>
            <a:pPr algn="l" indent="0" marL="0">
              <a:buNone/>
            </a:pPr>
            <a:r>
              <a:rPr lang="en-US" sz="1700" b="1" dirty="0">
                <a:solidFill>
                  <a:schemeClr val="tx2"/>
                </a:solidFill>
              </a:rPr>
              <a:t>Administration and results</a:t>
            </a:r>
            <a:endParaRPr lang="en-US" sz="1700" dirty="0"/>
          </a:p>
        </p:txBody>
      </p:sp>
      <p:sp>
        <p:nvSpPr>
          <p:cNvPr id="28" name="Text 26"/>
          <p:cNvSpPr txBox="1"/>
          <p:nvPr/>
        </p:nvSpPr>
        <p:spPr>
          <a:xfrm>
            <a:off x="9793986" y="3703320"/>
            <a:ext cx="1647901" cy="1417320"/>
          </a:xfrm>
          <a:prstGeom prst="rect">
            <a:avLst/>
          </a:prstGeom>
          <a:noFill/>
          <a:ln/>
        </p:spPr>
        <p:txBody>
          <a:bodyPr wrap="square" lIns="0" tIns="0" rIns="0" bIns="0" rtlCol="0" anchor="t"/>
          <a:lstStyle/>
          <a:p>
            <a:pPr algn="l" indent="0" marL="0">
              <a:buNone/>
            </a:pPr>
            <a:r>
              <a:rPr lang="en-US" sz="1400" dirty="0">
                <a:solidFill>
                  <a:schemeClr val="tx1"/>
                </a:solidFill>
              </a:rPr>
              <a:t>Security, change streams, migration, backup, sharding, results</a:t>
            </a:r>
            <a:endParaRPr lang="en-US" sz="1400" dirty="0"/>
          </a:p>
        </p:txBody>
      </p:sp>
      <p:sp>
        <p:nvSpPr>
          <p:cNvPr id="29" name="Card 13"/>
          <p:cNvSpPr/>
          <p:nvPr/>
        </p:nvSpPr>
        <p:spPr>
          <a:xfrm>
            <a:off x="548640" y="5349240"/>
            <a:ext cx="11094415" cy="777240"/>
          </a:xfrm>
          <a:prstGeom prst="roundRect">
            <a:avLst>
              <a:gd name="adj" fmla="val 11765"/>
            </a:avLst>
          </a:prstGeom>
          <a:solidFill>
            <a:schemeClr val="bg2"/>
          </a:solidFill>
          <a:ln/>
        </p:spPr>
      </p:sp>
      <p:sp>
        <p:nvSpPr>
          <p:cNvPr id="30" name="Text 28"/>
          <p:cNvSpPr txBox="1"/>
          <p:nvPr/>
        </p:nvSpPr>
        <p:spPr>
          <a:xfrm>
            <a:off x="822960" y="5349240"/>
            <a:ext cx="10545775" cy="777240"/>
          </a:xfrm>
          <a:prstGeom prst="rect">
            <a:avLst/>
          </a:prstGeom>
          <a:noFill/>
          <a:ln/>
        </p:spPr>
        <p:txBody>
          <a:bodyPr wrap="square" lIns="0" tIns="0" rIns="0" bIns="0" rtlCol="0" anchor="ctr"/>
          <a:lstStyle/>
          <a:p>
            <a:pPr algn="l" indent="0" marL="0">
              <a:buNone/>
            </a:pPr>
            <a:r>
              <a:rPr lang="en-US" sz="1600" b="1" dirty="0">
                <a:solidFill>
                  <a:schemeClr val="accent1"/>
                </a:solidFill>
              </a:rPr>
              <a:t>In one line: </a:t>
            </a:r>
            <a:pPr algn="l" indent="0" marL="0">
              <a:buNone/>
            </a:pPr>
            <a:r>
              <a:rPr lang="en-US" sz="1600" dirty="0">
                <a:solidFill>
                  <a:schemeClr val="tx1"/>
                </a:solidFill>
              </a:rPr>
              <a:t>a document database that runs the full life of a health insurance claim, keeps the money consistent, and reports on the result.</a:t>
            </a:r>
            <a:endParaRPr lang="en-US" sz="16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PROBLEM</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Why claims are a hard data problem</a:t>
            </a:r>
            <a:endParaRPr lang="en-US" sz="3600" dirty="0"/>
          </a:p>
        </p:txBody>
      </p:sp>
      <p:sp>
        <p:nvSpPr>
          <p:cNvPr id="4" name="Dot 14"/>
          <p:cNvSpPr/>
          <p:nvPr/>
        </p:nvSpPr>
        <p:spPr>
          <a:xfrm>
            <a:off x="548640" y="1783080"/>
            <a:ext cx="658368" cy="658368"/>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713232" y="1947672"/>
            <a:ext cx="329184" cy="329184"/>
          </a:xfrm>
          <a:prstGeom prst="rect">
            <a:avLst/>
          </a:prstGeom>
        </p:spPr>
      </p:pic>
      <p:sp>
        <p:nvSpPr>
          <p:cNvPr id="6" name="Text 3"/>
          <p:cNvSpPr txBox="1"/>
          <p:nvPr/>
        </p:nvSpPr>
        <p:spPr>
          <a:xfrm>
            <a:off x="1417320" y="1764792"/>
            <a:ext cx="5029200" cy="329184"/>
          </a:xfrm>
          <a:prstGeom prst="rect">
            <a:avLst/>
          </a:prstGeom>
          <a:noFill/>
          <a:ln/>
        </p:spPr>
        <p:txBody>
          <a:bodyPr wrap="square" lIns="0" tIns="0" rIns="0" bIns="0" rtlCol="0" anchor="t"/>
          <a:lstStyle/>
          <a:p>
            <a:pPr algn="l" indent="0" marL="0">
              <a:buNone/>
            </a:pPr>
            <a:r>
              <a:rPr lang="en-US" sz="1800" b="1" dirty="0">
                <a:solidFill>
                  <a:schemeClr val="tx2"/>
                </a:solidFill>
              </a:rPr>
              <a:t>Every claim has a different shape</a:t>
            </a:r>
            <a:endParaRPr lang="en-US" sz="1800" dirty="0"/>
          </a:p>
        </p:txBody>
      </p:sp>
      <p:sp>
        <p:nvSpPr>
          <p:cNvPr id="7" name="Text 4"/>
          <p:cNvSpPr txBox="1"/>
          <p:nvPr/>
        </p:nvSpPr>
        <p:spPr>
          <a:xfrm>
            <a:off x="1417320" y="2112264"/>
            <a:ext cx="5029200" cy="548640"/>
          </a:xfrm>
          <a:prstGeom prst="rect">
            <a:avLst/>
          </a:prstGeom>
          <a:noFill/>
          <a:ln/>
        </p:spPr>
        <p:txBody>
          <a:bodyPr wrap="square" lIns="0" tIns="0" rIns="0" bIns="0" rtlCol="0" anchor="t"/>
          <a:lstStyle/>
          <a:p>
            <a:pPr algn="l" indent="0" marL="0">
              <a:buNone/>
            </a:pPr>
            <a:r>
              <a:rPr lang="en-US" sz="1400" dirty="0">
                <a:solidFill>
                  <a:schemeClr val="tx1"/>
                </a:solidFill>
              </a:rPr>
              <a:t>Bills, diagnoses, documents and queries vary from one case to the next.</a:t>
            </a:r>
            <a:endParaRPr lang="en-US" sz="1400" dirty="0"/>
          </a:p>
        </p:txBody>
      </p:sp>
      <p:sp>
        <p:nvSpPr>
          <p:cNvPr id="8" name="Dot 15"/>
          <p:cNvSpPr/>
          <p:nvPr/>
        </p:nvSpPr>
        <p:spPr>
          <a:xfrm>
            <a:off x="548640" y="2880360"/>
            <a:ext cx="658368" cy="658368"/>
          </a:xfrm>
          <a:prstGeom prst="ellipse">
            <a:avLst/>
          </a:prstGeom>
          <a:solidFill>
            <a:schemeClr val="accent1"/>
          </a:solidFill>
          <a:ln/>
        </p:spPr>
      </p:sp>
      <p:pic>
        <p:nvPicPr>
          <p:cNvPr id="9" name="Image 1" descr="icon">    </p:cNvPr>
          <p:cNvPicPr>
            <a:picLocks noChangeAspect="1"/>
          </p:cNvPicPr>
          <p:nvPr/>
        </p:nvPicPr>
        <p:blipFill>
          <a:blip r:embed="rId2"/>
          <a:stretch>
            <a:fillRect/>
          </a:stretch>
        </p:blipFill>
        <p:spPr>
          <a:xfrm>
            <a:off x="713232" y="3044952"/>
            <a:ext cx="329184" cy="329184"/>
          </a:xfrm>
          <a:prstGeom prst="rect">
            <a:avLst/>
          </a:prstGeom>
        </p:spPr>
      </p:pic>
      <p:sp>
        <p:nvSpPr>
          <p:cNvPr id="10" name="Text 6"/>
          <p:cNvSpPr txBox="1"/>
          <p:nvPr/>
        </p:nvSpPr>
        <p:spPr>
          <a:xfrm>
            <a:off x="1417320" y="2862072"/>
            <a:ext cx="5029200" cy="329184"/>
          </a:xfrm>
          <a:prstGeom prst="rect">
            <a:avLst/>
          </a:prstGeom>
          <a:noFill/>
          <a:ln/>
        </p:spPr>
        <p:txBody>
          <a:bodyPr wrap="square" lIns="0" tIns="0" rIns="0" bIns="0" rtlCol="0" anchor="t"/>
          <a:lstStyle/>
          <a:p>
            <a:pPr algn="l" indent="0" marL="0">
              <a:buNone/>
            </a:pPr>
            <a:r>
              <a:rPr lang="en-US" sz="1800" b="1" dirty="0">
                <a:solidFill>
                  <a:schemeClr val="tx2"/>
                </a:solidFill>
              </a:rPr>
              <a:t>Policy wording decides the payout</a:t>
            </a:r>
            <a:endParaRPr lang="en-US" sz="1800" dirty="0"/>
          </a:p>
        </p:txBody>
      </p:sp>
      <p:sp>
        <p:nvSpPr>
          <p:cNvPr id="11" name="Text 7"/>
          <p:cNvSpPr txBox="1"/>
          <p:nvPr/>
        </p:nvSpPr>
        <p:spPr>
          <a:xfrm>
            <a:off x="1417320" y="3209544"/>
            <a:ext cx="5029200" cy="548640"/>
          </a:xfrm>
          <a:prstGeom prst="rect">
            <a:avLst/>
          </a:prstGeom>
          <a:noFill/>
          <a:ln/>
        </p:spPr>
        <p:txBody>
          <a:bodyPr wrap="square" lIns="0" tIns="0" rIns="0" bIns="0" rtlCol="0" anchor="t"/>
          <a:lstStyle/>
          <a:p>
            <a:pPr algn="l" indent="0" marL="0">
              <a:buNone/>
            </a:pPr>
            <a:r>
              <a:rPr lang="en-US" sz="1400" dirty="0">
                <a:solidFill>
                  <a:schemeClr val="tx1"/>
                </a:solidFill>
              </a:rPr>
              <a:t>Waiting periods, room-rent limits, sub-limits and co-pay all apply.</a:t>
            </a:r>
            <a:endParaRPr lang="en-US" sz="1400" dirty="0"/>
          </a:p>
        </p:txBody>
      </p:sp>
      <p:sp>
        <p:nvSpPr>
          <p:cNvPr id="12" name="Dot 16"/>
          <p:cNvSpPr/>
          <p:nvPr/>
        </p:nvSpPr>
        <p:spPr>
          <a:xfrm>
            <a:off x="548640" y="3977640"/>
            <a:ext cx="658368" cy="658368"/>
          </a:xfrm>
          <a:prstGeom prst="ellipse">
            <a:avLst/>
          </a:prstGeom>
          <a:solidFill>
            <a:schemeClr val="accent1"/>
          </a:solidFill>
          <a:ln/>
        </p:spPr>
      </p:sp>
      <p:pic>
        <p:nvPicPr>
          <p:cNvPr id="13" name="Image 2" descr="icon">    </p:cNvPr>
          <p:cNvPicPr>
            <a:picLocks noChangeAspect="1"/>
          </p:cNvPicPr>
          <p:nvPr/>
        </p:nvPicPr>
        <p:blipFill>
          <a:blip r:embed="rId3"/>
          <a:stretch>
            <a:fillRect/>
          </a:stretch>
        </p:blipFill>
        <p:spPr>
          <a:xfrm>
            <a:off x="713232" y="4142232"/>
            <a:ext cx="329184" cy="329184"/>
          </a:xfrm>
          <a:prstGeom prst="rect">
            <a:avLst/>
          </a:prstGeom>
        </p:spPr>
      </p:pic>
      <p:sp>
        <p:nvSpPr>
          <p:cNvPr id="14" name="Text 9"/>
          <p:cNvSpPr txBox="1"/>
          <p:nvPr/>
        </p:nvSpPr>
        <p:spPr>
          <a:xfrm>
            <a:off x="1417320" y="3959352"/>
            <a:ext cx="5029200" cy="329184"/>
          </a:xfrm>
          <a:prstGeom prst="rect">
            <a:avLst/>
          </a:prstGeom>
          <a:noFill/>
          <a:ln/>
        </p:spPr>
        <p:txBody>
          <a:bodyPr wrap="square" lIns="0" tIns="0" rIns="0" bIns="0" rtlCol="0" anchor="t"/>
          <a:lstStyle/>
          <a:p>
            <a:pPr algn="l" indent="0" marL="0">
              <a:buNone/>
            </a:pPr>
            <a:r>
              <a:rPr lang="en-US" sz="1800" b="1" dirty="0">
                <a:solidFill>
                  <a:schemeClr val="tx2"/>
                </a:solidFill>
              </a:rPr>
              <a:t>Money has to stay consistent</a:t>
            </a:r>
            <a:endParaRPr lang="en-US" sz="1800" dirty="0"/>
          </a:p>
        </p:txBody>
      </p:sp>
      <p:sp>
        <p:nvSpPr>
          <p:cNvPr id="15" name="Text 10"/>
          <p:cNvSpPr txBox="1"/>
          <p:nvPr/>
        </p:nvSpPr>
        <p:spPr>
          <a:xfrm>
            <a:off x="1417320" y="4306824"/>
            <a:ext cx="5029200" cy="548640"/>
          </a:xfrm>
          <a:prstGeom prst="rect">
            <a:avLst/>
          </a:prstGeom>
          <a:noFill/>
          <a:ln/>
        </p:spPr>
        <p:txBody>
          <a:bodyPr wrap="square" lIns="0" tIns="0" rIns="0" bIns="0" rtlCol="0" anchor="t"/>
          <a:lstStyle/>
          <a:p>
            <a:pPr algn="l" indent="0" marL="0">
              <a:buNone/>
            </a:pPr>
            <a:r>
              <a:rPr lang="en-US" sz="1400" dirty="0">
                <a:solidFill>
                  <a:schemeClr val="tx1"/>
                </a:solidFill>
              </a:rPr>
              <a:t>A payment must update the claim, the policy cover and the ledger together.</a:t>
            </a:r>
            <a:endParaRPr lang="en-US" sz="1400" dirty="0"/>
          </a:p>
        </p:txBody>
      </p:sp>
      <p:sp>
        <p:nvSpPr>
          <p:cNvPr id="16" name="Dot 17"/>
          <p:cNvSpPr/>
          <p:nvPr/>
        </p:nvSpPr>
        <p:spPr>
          <a:xfrm>
            <a:off x="548640" y="5074920"/>
            <a:ext cx="658368" cy="658368"/>
          </a:xfrm>
          <a:prstGeom prst="ellipse">
            <a:avLst/>
          </a:prstGeom>
          <a:solidFill>
            <a:schemeClr val="accent1"/>
          </a:solidFill>
          <a:ln/>
        </p:spPr>
      </p:sp>
      <p:pic>
        <p:nvPicPr>
          <p:cNvPr id="17" name="Image 3" descr="icon">    </p:cNvPr>
          <p:cNvPicPr>
            <a:picLocks noChangeAspect="1"/>
          </p:cNvPicPr>
          <p:nvPr/>
        </p:nvPicPr>
        <p:blipFill>
          <a:blip r:embed="rId4"/>
          <a:stretch>
            <a:fillRect/>
          </a:stretch>
        </p:blipFill>
        <p:spPr>
          <a:xfrm>
            <a:off x="713232" y="5239512"/>
            <a:ext cx="329184" cy="329184"/>
          </a:xfrm>
          <a:prstGeom prst="rect">
            <a:avLst/>
          </a:prstGeom>
        </p:spPr>
      </p:pic>
      <p:sp>
        <p:nvSpPr>
          <p:cNvPr id="18" name="Text 12"/>
          <p:cNvSpPr txBox="1"/>
          <p:nvPr/>
        </p:nvSpPr>
        <p:spPr>
          <a:xfrm>
            <a:off x="1417320" y="5056632"/>
            <a:ext cx="5029200" cy="329184"/>
          </a:xfrm>
          <a:prstGeom prst="rect">
            <a:avLst/>
          </a:prstGeom>
          <a:noFill/>
          <a:ln/>
        </p:spPr>
        <p:txBody>
          <a:bodyPr wrap="square" lIns="0" tIns="0" rIns="0" bIns="0" rtlCol="0" anchor="t"/>
          <a:lstStyle/>
          <a:p>
            <a:pPr algn="l" indent="0" marL="0">
              <a:buNone/>
            </a:pPr>
            <a:r>
              <a:rPr lang="en-US" sz="1800" b="1" dirty="0">
                <a:solidFill>
                  <a:schemeClr val="tx2"/>
                </a:solidFill>
              </a:rPr>
              <a:t>Fraud and audit never stop</a:t>
            </a:r>
            <a:endParaRPr lang="en-US" sz="1800" dirty="0"/>
          </a:p>
        </p:txBody>
      </p:sp>
      <p:sp>
        <p:nvSpPr>
          <p:cNvPr id="19" name="Text 13"/>
          <p:cNvSpPr txBox="1"/>
          <p:nvPr/>
        </p:nvSpPr>
        <p:spPr>
          <a:xfrm>
            <a:off x="1417320" y="5404104"/>
            <a:ext cx="5029200" cy="548640"/>
          </a:xfrm>
          <a:prstGeom prst="rect">
            <a:avLst/>
          </a:prstGeom>
          <a:noFill/>
          <a:ln/>
        </p:spPr>
        <p:txBody>
          <a:bodyPr wrap="square" lIns="0" tIns="0" rIns="0" bIns="0" rtlCol="0" anchor="t"/>
          <a:lstStyle/>
          <a:p>
            <a:pPr algn="l" indent="0" marL="0">
              <a:buNone/>
            </a:pPr>
            <a:r>
              <a:rPr lang="en-US" sz="1400" dirty="0">
                <a:solidFill>
                  <a:schemeClr val="tx1"/>
                </a:solidFill>
              </a:rPr>
              <a:t>Inflated bills and duplicate stays must be caught, and every change traced.</a:t>
            </a:r>
            <a:endParaRPr lang="en-US" sz="1400" dirty="0"/>
          </a:p>
        </p:txBody>
      </p:sp>
      <p:sp>
        <p:nvSpPr>
          <p:cNvPr id="20" name="Claim facts panel"/>
          <p:cNvSpPr/>
          <p:nvPr/>
        </p:nvSpPr>
        <p:spPr>
          <a:xfrm>
            <a:off x="6858000" y="1783080"/>
            <a:ext cx="4782312" cy="4343400"/>
          </a:xfrm>
          <a:prstGeom prst="roundRect">
            <a:avLst>
              <a:gd name="adj" fmla="val 2105"/>
            </a:avLst>
          </a:prstGeom>
          <a:solidFill>
            <a:schemeClr val="tx2"/>
          </a:solidFill>
          <a:ln/>
        </p:spPr>
      </p:sp>
      <p:sp>
        <p:nvSpPr>
          <p:cNvPr id="21" name="Text 15"/>
          <p:cNvSpPr txBox="1"/>
          <p:nvPr/>
        </p:nvSpPr>
        <p:spPr>
          <a:xfrm>
            <a:off x="7178040" y="1965960"/>
            <a:ext cx="4206240" cy="365760"/>
          </a:xfrm>
          <a:prstGeom prst="rect">
            <a:avLst/>
          </a:prstGeom>
          <a:noFill/>
          <a:ln/>
        </p:spPr>
        <p:txBody>
          <a:bodyPr wrap="square" lIns="0" tIns="0" rIns="0" bIns="0" rtlCol="0" anchor="t"/>
          <a:lstStyle/>
          <a:p>
            <a:pPr algn="l" indent="0" marL="0">
              <a:buNone/>
            </a:pPr>
            <a:r>
              <a:rPr lang="en-US" sz="1800" b="1" dirty="0">
                <a:solidFill>
                  <a:schemeClr val="bg1"/>
                </a:solidFill>
              </a:rPr>
              <a:t>One claim in ClaimSure</a:t>
            </a:r>
            <a:endParaRPr lang="en-US" sz="1800" dirty="0"/>
          </a:p>
        </p:txBody>
      </p:sp>
      <p:sp>
        <p:nvSpPr>
          <p:cNvPr id="22" name="Text 16"/>
          <p:cNvSpPr txBox="1"/>
          <p:nvPr/>
        </p:nvSpPr>
        <p:spPr>
          <a:xfrm>
            <a:off x="7178040" y="2560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11</a:t>
            </a:r>
            <a:endParaRPr lang="en-US" sz="3400" dirty="0"/>
          </a:p>
        </p:txBody>
      </p:sp>
      <p:sp>
        <p:nvSpPr>
          <p:cNvPr id="23" name="Text 17"/>
          <p:cNvSpPr txBox="1"/>
          <p:nvPr/>
        </p:nvSpPr>
        <p:spPr>
          <a:xfrm>
            <a:off x="7178040" y="3127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bill heads</a:t>
            </a:r>
            <a:endParaRPr lang="en-US" sz="1300" dirty="0"/>
          </a:p>
        </p:txBody>
      </p:sp>
      <p:sp>
        <p:nvSpPr>
          <p:cNvPr id="24" name="Text 18"/>
          <p:cNvSpPr txBox="1"/>
          <p:nvPr/>
        </p:nvSpPr>
        <p:spPr>
          <a:xfrm>
            <a:off x="9418320" y="2560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6-8</a:t>
            </a:r>
            <a:endParaRPr lang="en-US" sz="3400" dirty="0"/>
          </a:p>
        </p:txBody>
      </p:sp>
      <p:sp>
        <p:nvSpPr>
          <p:cNvPr id="25" name="Text 19"/>
          <p:cNvSpPr txBox="1"/>
          <p:nvPr/>
        </p:nvSpPr>
        <p:spPr>
          <a:xfrm>
            <a:off x="9418320" y="3127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documents per claim</a:t>
            </a:r>
            <a:endParaRPr lang="en-US" sz="1300" dirty="0"/>
          </a:p>
        </p:txBody>
      </p:sp>
      <p:sp>
        <p:nvSpPr>
          <p:cNvPr id="26" name="Text 20"/>
          <p:cNvSpPr txBox="1"/>
          <p:nvPr/>
        </p:nvSpPr>
        <p:spPr>
          <a:xfrm>
            <a:off x="7178040" y="3703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7</a:t>
            </a:r>
            <a:endParaRPr lang="en-US" sz="3400" dirty="0"/>
          </a:p>
        </p:txBody>
      </p:sp>
      <p:sp>
        <p:nvSpPr>
          <p:cNvPr id="27" name="Text 21"/>
          <p:cNvSpPr txBox="1"/>
          <p:nvPr/>
        </p:nvSpPr>
        <p:spPr>
          <a:xfrm>
            <a:off x="7178040" y="4270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deduction categories</a:t>
            </a:r>
            <a:endParaRPr lang="en-US" sz="1300" dirty="0"/>
          </a:p>
        </p:txBody>
      </p:sp>
      <p:sp>
        <p:nvSpPr>
          <p:cNvPr id="28" name="Text 22"/>
          <p:cNvSpPr txBox="1"/>
          <p:nvPr/>
        </p:nvSpPr>
        <p:spPr>
          <a:xfrm>
            <a:off x="9418320" y="3703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9</a:t>
            </a:r>
            <a:endParaRPr lang="en-US" sz="3400" dirty="0"/>
          </a:p>
        </p:txBody>
      </p:sp>
      <p:sp>
        <p:nvSpPr>
          <p:cNvPr id="29" name="Text 23"/>
          <p:cNvSpPr txBox="1"/>
          <p:nvPr/>
        </p:nvSpPr>
        <p:spPr>
          <a:xfrm>
            <a:off x="9418320" y="4270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fraud rules checked</a:t>
            </a:r>
            <a:endParaRPr lang="en-US" sz="1300" dirty="0"/>
          </a:p>
        </p:txBody>
      </p:sp>
      <p:sp>
        <p:nvSpPr>
          <p:cNvPr id="30" name="Text 24"/>
          <p:cNvSpPr txBox="1"/>
          <p:nvPr/>
        </p:nvSpPr>
        <p:spPr>
          <a:xfrm>
            <a:off x="7178040" y="4846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10</a:t>
            </a:r>
            <a:endParaRPr lang="en-US" sz="3400" dirty="0"/>
          </a:p>
        </p:txBody>
      </p:sp>
      <p:sp>
        <p:nvSpPr>
          <p:cNvPr id="31" name="Text 25"/>
          <p:cNvSpPr txBox="1"/>
          <p:nvPr/>
        </p:nvSpPr>
        <p:spPr>
          <a:xfrm>
            <a:off x="7178040" y="5413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lifecycle states</a:t>
            </a:r>
            <a:endParaRPr lang="en-US" sz="1300" dirty="0"/>
          </a:p>
        </p:txBody>
      </p:sp>
      <p:sp>
        <p:nvSpPr>
          <p:cNvPr id="32" name="Text 26"/>
          <p:cNvSpPr txBox="1"/>
          <p:nvPr/>
        </p:nvSpPr>
        <p:spPr>
          <a:xfrm>
            <a:off x="9418320" y="4846320"/>
            <a:ext cx="2011680" cy="566928"/>
          </a:xfrm>
          <a:prstGeom prst="rect">
            <a:avLst/>
          </a:prstGeom>
          <a:noFill/>
          <a:ln/>
        </p:spPr>
        <p:txBody>
          <a:bodyPr wrap="square" lIns="0" tIns="0" rIns="0" bIns="0" rtlCol="0" anchor="ctr"/>
          <a:lstStyle/>
          <a:p>
            <a:pPr algn="l" indent="0" marL="0">
              <a:buNone/>
            </a:pPr>
            <a:r>
              <a:rPr lang="en-US" sz="3400" b="1" dirty="0">
                <a:solidFill>
                  <a:schemeClr val="accent2"/>
                </a:solidFill>
              </a:rPr>
              <a:t>4</a:t>
            </a:r>
            <a:endParaRPr lang="en-US" sz="3400" dirty="0"/>
          </a:p>
        </p:txBody>
      </p:sp>
      <p:sp>
        <p:nvSpPr>
          <p:cNvPr id="33" name="Text 27"/>
          <p:cNvSpPr txBox="1"/>
          <p:nvPr/>
        </p:nvSpPr>
        <p:spPr>
          <a:xfrm>
            <a:off x="9418320" y="5413248"/>
            <a:ext cx="2011680" cy="457200"/>
          </a:xfrm>
          <a:prstGeom prst="rect">
            <a:avLst/>
          </a:prstGeom>
          <a:noFill/>
          <a:ln/>
        </p:spPr>
        <p:txBody>
          <a:bodyPr wrap="square" lIns="0" tIns="0" rIns="0" bIns="0" rtlCol="0" anchor="t"/>
          <a:lstStyle/>
          <a:p>
            <a:pPr algn="l" indent="0" marL="0">
              <a:buNone/>
            </a:pPr>
            <a:r>
              <a:rPr lang="en-US" sz="1300" dirty="0">
                <a:solidFill>
                  <a:schemeClr val="bg2"/>
                </a:solidFill>
              </a:rPr>
              <a:t>collections updated on payment</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GOALS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Project objectives</a:t>
            </a:r>
            <a:endParaRPr lang="en-US" sz="3600" dirty="0"/>
          </a:p>
        </p:txBody>
      </p:sp>
      <p:sp>
        <p:nvSpPr>
          <p:cNvPr id="4" name="Card 18"/>
          <p:cNvSpPr/>
          <p:nvPr/>
        </p:nvSpPr>
        <p:spPr>
          <a:xfrm>
            <a:off x="548640" y="1783080"/>
            <a:ext cx="5394960" cy="1280160"/>
          </a:xfrm>
          <a:prstGeom prst="roundRect">
            <a:avLst>
              <a:gd name="adj" fmla="val 7143"/>
            </a:avLst>
          </a:prstGeom>
          <a:solidFill>
            <a:schemeClr val="bg2"/>
          </a:solidFill>
          <a:ln/>
        </p:spPr>
      </p:sp>
      <p:sp>
        <p:nvSpPr>
          <p:cNvPr id="5" name="Dot 19"/>
          <p:cNvSpPr/>
          <p:nvPr/>
        </p:nvSpPr>
        <p:spPr>
          <a:xfrm>
            <a:off x="822960" y="2084832"/>
            <a:ext cx="676656" cy="676656"/>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92124" y="2253996"/>
            <a:ext cx="338328" cy="338328"/>
          </a:xfrm>
          <a:prstGeom prst="rect">
            <a:avLst/>
          </a:prstGeom>
        </p:spPr>
      </p:pic>
      <p:sp>
        <p:nvSpPr>
          <p:cNvPr id="7" name="Text 4"/>
          <p:cNvSpPr txBox="1"/>
          <p:nvPr/>
        </p:nvSpPr>
        <p:spPr>
          <a:xfrm>
            <a:off x="1737360" y="198424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Model the full claim lifecycle</a:t>
            </a:r>
            <a:endParaRPr lang="en-US" sz="1800" dirty="0"/>
          </a:p>
        </p:txBody>
      </p:sp>
      <p:sp>
        <p:nvSpPr>
          <p:cNvPr id="8" name="Text 5"/>
          <p:cNvSpPr txBox="1"/>
          <p:nvPr/>
        </p:nvSpPr>
        <p:spPr>
          <a:xfrm>
            <a:off x="1737360" y="238658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Intimation to settlement, with approval limits and escalation.</a:t>
            </a:r>
            <a:endParaRPr lang="en-US" sz="1400" dirty="0"/>
          </a:p>
        </p:txBody>
      </p:sp>
      <p:sp>
        <p:nvSpPr>
          <p:cNvPr id="9" name="Card 20"/>
          <p:cNvSpPr/>
          <p:nvPr/>
        </p:nvSpPr>
        <p:spPr>
          <a:xfrm>
            <a:off x="6245352" y="1783080"/>
            <a:ext cx="5394960" cy="1280160"/>
          </a:xfrm>
          <a:prstGeom prst="roundRect">
            <a:avLst>
              <a:gd name="adj" fmla="val 7143"/>
            </a:avLst>
          </a:prstGeom>
          <a:solidFill>
            <a:schemeClr val="bg2"/>
          </a:solidFill>
          <a:ln/>
        </p:spPr>
      </p:sp>
      <p:sp>
        <p:nvSpPr>
          <p:cNvPr id="10" name="Dot 21"/>
          <p:cNvSpPr/>
          <p:nvPr/>
        </p:nvSpPr>
        <p:spPr>
          <a:xfrm>
            <a:off x="6519672" y="2084832"/>
            <a:ext cx="676656" cy="676656"/>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6688836" y="2253996"/>
            <a:ext cx="338328" cy="338328"/>
          </a:xfrm>
          <a:prstGeom prst="rect">
            <a:avLst/>
          </a:prstGeom>
        </p:spPr>
      </p:pic>
      <p:sp>
        <p:nvSpPr>
          <p:cNvPr id="12" name="Text 8"/>
          <p:cNvSpPr txBox="1"/>
          <p:nvPr/>
        </p:nvSpPr>
        <p:spPr>
          <a:xfrm>
            <a:off x="7434072" y="198424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Design a schema that fits the data</a:t>
            </a:r>
            <a:endParaRPr lang="en-US" sz="1800" dirty="0"/>
          </a:p>
        </p:txBody>
      </p:sp>
      <p:sp>
        <p:nvSpPr>
          <p:cNvPr id="13" name="Text 9"/>
          <p:cNvSpPr txBox="1"/>
          <p:nvPr/>
        </p:nvSpPr>
        <p:spPr>
          <a:xfrm>
            <a:off x="7434072" y="238658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Clear embed-or-reference decisions and six design patterns.</a:t>
            </a:r>
            <a:endParaRPr lang="en-US" sz="1400" dirty="0"/>
          </a:p>
        </p:txBody>
      </p:sp>
      <p:sp>
        <p:nvSpPr>
          <p:cNvPr id="14" name="Card 22"/>
          <p:cNvSpPr/>
          <p:nvPr/>
        </p:nvSpPr>
        <p:spPr>
          <a:xfrm>
            <a:off x="548640" y="3246120"/>
            <a:ext cx="5394960" cy="1280160"/>
          </a:xfrm>
          <a:prstGeom prst="roundRect">
            <a:avLst>
              <a:gd name="adj" fmla="val 7143"/>
            </a:avLst>
          </a:prstGeom>
          <a:solidFill>
            <a:schemeClr val="bg2"/>
          </a:solidFill>
          <a:ln/>
        </p:spPr>
      </p:sp>
      <p:sp>
        <p:nvSpPr>
          <p:cNvPr id="15" name="Dot 23"/>
          <p:cNvSpPr/>
          <p:nvPr/>
        </p:nvSpPr>
        <p:spPr>
          <a:xfrm>
            <a:off x="822960" y="3547872"/>
            <a:ext cx="676656" cy="676656"/>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992124" y="3717036"/>
            <a:ext cx="338328" cy="338328"/>
          </a:xfrm>
          <a:prstGeom prst="rect">
            <a:avLst/>
          </a:prstGeom>
        </p:spPr>
      </p:pic>
      <p:sp>
        <p:nvSpPr>
          <p:cNvPr id="17" name="Text 12"/>
          <p:cNvSpPr txBox="1"/>
          <p:nvPr/>
        </p:nvSpPr>
        <p:spPr>
          <a:xfrm>
            <a:off x="1737360" y="344728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Guarantee data quality</a:t>
            </a:r>
            <a:endParaRPr lang="en-US" sz="1800" dirty="0"/>
          </a:p>
        </p:txBody>
      </p:sp>
      <p:sp>
        <p:nvSpPr>
          <p:cNvPr id="18" name="Text 13"/>
          <p:cNvSpPr txBox="1"/>
          <p:nvPr/>
        </p:nvSpPr>
        <p:spPr>
          <a:xfrm>
            <a:off x="1737360" y="384962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$jsonSchema validators on all 14 collections.</a:t>
            </a:r>
            <a:endParaRPr lang="en-US" sz="1400" dirty="0"/>
          </a:p>
        </p:txBody>
      </p:sp>
      <p:sp>
        <p:nvSpPr>
          <p:cNvPr id="19" name="Card 24"/>
          <p:cNvSpPr/>
          <p:nvPr/>
        </p:nvSpPr>
        <p:spPr>
          <a:xfrm>
            <a:off x="6245352" y="3246120"/>
            <a:ext cx="5394960" cy="1280160"/>
          </a:xfrm>
          <a:prstGeom prst="roundRect">
            <a:avLst>
              <a:gd name="adj" fmla="val 7143"/>
            </a:avLst>
          </a:prstGeom>
          <a:solidFill>
            <a:schemeClr val="bg2"/>
          </a:solidFill>
          <a:ln/>
        </p:spPr>
      </p:sp>
      <p:sp>
        <p:nvSpPr>
          <p:cNvPr id="20" name="Dot 25"/>
          <p:cNvSpPr/>
          <p:nvPr/>
        </p:nvSpPr>
        <p:spPr>
          <a:xfrm>
            <a:off x="6519672" y="3547872"/>
            <a:ext cx="676656" cy="676656"/>
          </a:xfrm>
          <a:prstGeom prst="ellipse">
            <a:avLst/>
          </a:prstGeom>
          <a:solidFill>
            <a:schemeClr val="accent1"/>
          </a:solidFill>
          <a:ln/>
        </p:spPr>
      </p:sp>
      <p:pic>
        <p:nvPicPr>
          <p:cNvPr id="21" name="Image 3" descr="icon">    </p:cNvPr>
          <p:cNvPicPr>
            <a:picLocks noChangeAspect="1"/>
          </p:cNvPicPr>
          <p:nvPr/>
        </p:nvPicPr>
        <p:blipFill>
          <a:blip r:embed="rId4"/>
          <a:stretch>
            <a:fillRect/>
          </a:stretch>
        </p:blipFill>
        <p:spPr>
          <a:xfrm>
            <a:off x="6688836" y="3717036"/>
            <a:ext cx="338328" cy="338328"/>
          </a:xfrm>
          <a:prstGeom prst="rect">
            <a:avLst/>
          </a:prstGeom>
        </p:spPr>
      </p:pic>
      <p:sp>
        <p:nvSpPr>
          <p:cNvPr id="22" name="Text 16"/>
          <p:cNvSpPr txBox="1"/>
          <p:nvPr/>
        </p:nvSpPr>
        <p:spPr>
          <a:xfrm>
            <a:off x="7434072" y="344728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Make queries fast</a:t>
            </a:r>
            <a:endParaRPr lang="en-US" sz="1800" dirty="0"/>
          </a:p>
        </p:txBody>
      </p:sp>
      <p:sp>
        <p:nvSpPr>
          <p:cNvPr id="23" name="Text 17"/>
          <p:cNvSpPr txBox="1"/>
          <p:nvPr/>
        </p:nvSpPr>
        <p:spPr>
          <a:xfrm>
            <a:off x="7434072" y="384962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50 indexes of nine types, checked against query plans.</a:t>
            </a:r>
            <a:endParaRPr lang="en-US" sz="1400" dirty="0"/>
          </a:p>
        </p:txBody>
      </p:sp>
      <p:sp>
        <p:nvSpPr>
          <p:cNvPr id="24" name="Card 26"/>
          <p:cNvSpPr/>
          <p:nvPr/>
        </p:nvSpPr>
        <p:spPr>
          <a:xfrm>
            <a:off x="548640" y="4709160"/>
            <a:ext cx="5394960" cy="1280160"/>
          </a:xfrm>
          <a:prstGeom prst="roundRect">
            <a:avLst>
              <a:gd name="adj" fmla="val 7143"/>
            </a:avLst>
          </a:prstGeom>
          <a:solidFill>
            <a:schemeClr val="bg2"/>
          </a:solidFill>
          <a:ln/>
        </p:spPr>
      </p:sp>
      <p:sp>
        <p:nvSpPr>
          <p:cNvPr id="25" name="Dot 27"/>
          <p:cNvSpPr/>
          <p:nvPr/>
        </p:nvSpPr>
        <p:spPr>
          <a:xfrm>
            <a:off x="822960" y="5010912"/>
            <a:ext cx="676656" cy="676656"/>
          </a:xfrm>
          <a:prstGeom prst="ellipse">
            <a:avLst/>
          </a:prstGeom>
          <a:solidFill>
            <a:schemeClr val="accent1"/>
          </a:solidFill>
          <a:ln/>
        </p:spPr>
      </p:sp>
      <p:pic>
        <p:nvPicPr>
          <p:cNvPr id="26" name="Image 4" descr="icon">    </p:cNvPr>
          <p:cNvPicPr>
            <a:picLocks noChangeAspect="1"/>
          </p:cNvPicPr>
          <p:nvPr/>
        </p:nvPicPr>
        <p:blipFill>
          <a:blip r:embed="rId5"/>
          <a:stretch>
            <a:fillRect/>
          </a:stretch>
        </p:blipFill>
        <p:spPr>
          <a:xfrm>
            <a:off x="992124" y="5180076"/>
            <a:ext cx="338328" cy="338328"/>
          </a:xfrm>
          <a:prstGeom prst="rect">
            <a:avLst/>
          </a:prstGeom>
        </p:spPr>
      </p:pic>
      <p:sp>
        <p:nvSpPr>
          <p:cNvPr id="27" name="Text 20"/>
          <p:cNvSpPr txBox="1"/>
          <p:nvPr/>
        </p:nvSpPr>
        <p:spPr>
          <a:xfrm>
            <a:off x="1737360" y="491032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Turn data into insight</a:t>
            </a:r>
            <a:endParaRPr lang="en-US" sz="1800" dirty="0"/>
          </a:p>
        </p:txBody>
      </p:sp>
      <p:sp>
        <p:nvSpPr>
          <p:cNvPr id="28" name="Text 21"/>
          <p:cNvSpPr txBox="1"/>
          <p:nvPr/>
        </p:nvSpPr>
        <p:spPr>
          <a:xfrm>
            <a:off x="1737360" y="531266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19 reports, each one an aggregation pipeline.</a:t>
            </a:r>
            <a:endParaRPr lang="en-US" sz="1400" dirty="0"/>
          </a:p>
        </p:txBody>
      </p:sp>
      <p:sp>
        <p:nvSpPr>
          <p:cNvPr id="29" name="Card 28"/>
          <p:cNvSpPr/>
          <p:nvPr/>
        </p:nvSpPr>
        <p:spPr>
          <a:xfrm>
            <a:off x="6245352" y="4709160"/>
            <a:ext cx="5394960" cy="1280160"/>
          </a:xfrm>
          <a:prstGeom prst="roundRect">
            <a:avLst>
              <a:gd name="adj" fmla="val 7143"/>
            </a:avLst>
          </a:prstGeom>
          <a:solidFill>
            <a:schemeClr val="bg2"/>
          </a:solidFill>
          <a:ln/>
        </p:spPr>
      </p:sp>
      <p:sp>
        <p:nvSpPr>
          <p:cNvPr id="30" name="Dot 29"/>
          <p:cNvSpPr/>
          <p:nvPr/>
        </p:nvSpPr>
        <p:spPr>
          <a:xfrm>
            <a:off x="6519672" y="5010912"/>
            <a:ext cx="676656" cy="676656"/>
          </a:xfrm>
          <a:prstGeom prst="ellipse">
            <a:avLst/>
          </a:prstGeom>
          <a:solidFill>
            <a:schemeClr val="accent1"/>
          </a:solidFill>
          <a:ln/>
        </p:spPr>
      </p:sp>
      <p:pic>
        <p:nvPicPr>
          <p:cNvPr id="31" name="Image 5" descr="icon">    </p:cNvPr>
          <p:cNvPicPr>
            <a:picLocks noChangeAspect="1"/>
          </p:cNvPicPr>
          <p:nvPr/>
        </p:nvPicPr>
        <p:blipFill>
          <a:blip r:embed="rId6"/>
          <a:stretch>
            <a:fillRect/>
          </a:stretch>
        </p:blipFill>
        <p:spPr>
          <a:xfrm>
            <a:off x="6688836" y="5180076"/>
            <a:ext cx="338328" cy="338328"/>
          </a:xfrm>
          <a:prstGeom prst="rect">
            <a:avLst/>
          </a:prstGeom>
        </p:spPr>
      </p:pic>
      <p:sp>
        <p:nvSpPr>
          <p:cNvPr id="32" name="Text 24"/>
          <p:cNvSpPr txBox="1"/>
          <p:nvPr/>
        </p:nvSpPr>
        <p:spPr>
          <a:xfrm>
            <a:off x="7434072" y="4910328"/>
            <a:ext cx="4023360" cy="365760"/>
          </a:xfrm>
          <a:prstGeom prst="rect">
            <a:avLst/>
          </a:prstGeom>
          <a:noFill/>
          <a:ln/>
        </p:spPr>
        <p:txBody>
          <a:bodyPr wrap="square" lIns="0" tIns="0" rIns="0" bIns="0" rtlCol="0" anchor="t"/>
          <a:lstStyle/>
          <a:p>
            <a:pPr algn="l" indent="0" marL="0">
              <a:buNone/>
            </a:pPr>
            <a:r>
              <a:rPr lang="en-US" sz="1800" b="1" dirty="0">
                <a:solidFill>
                  <a:schemeClr val="tx2"/>
                </a:solidFill>
              </a:rPr>
              <a:t>Keep the money safe</a:t>
            </a:r>
            <a:endParaRPr lang="en-US" sz="1800" dirty="0"/>
          </a:p>
        </p:txBody>
      </p:sp>
      <p:sp>
        <p:nvSpPr>
          <p:cNvPr id="33" name="Text 25"/>
          <p:cNvSpPr txBox="1"/>
          <p:nvPr/>
        </p:nvSpPr>
        <p:spPr>
          <a:xfrm>
            <a:off x="7434072" y="5312664"/>
            <a:ext cx="4023360" cy="548640"/>
          </a:xfrm>
          <a:prstGeom prst="rect">
            <a:avLst/>
          </a:prstGeom>
          <a:noFill/>
          <a:ln/>
        </p:spPr>
        <p:txBody>
          <a:bodyPr wrap="square" lIns="0" tIns="0" rIns="0" bIns="0" rtlCol="0" anchor="t"/>
          <a:lstStyle/>
          <a:p>
            <a:pPr algn="l" indent="0" marL="0">
              <a:buNone/>
            </a:pPr>
            <a:r>
              <a:rPr lang="en-US" sz="1400" dirty="0">
                <a:solidFill>
                  <a:schemeClr val="tx1"/>
                </a:solidFill>
              </a:rPr>
              <a:t>Settlement as a multi-document ACID transaction.</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APPROACH</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Why a document database fits</a:t>
            </a:r>
            <a:endParaRPr lang="en-US" sz="3600" dirty="0"/>
          </a:p>
        </p:txBody>
      </p:sp>
      <p:sp>
        <p:nvSpPr>
          <p:cNvPr id="4" name="Relational card"/>
          <p:cNvSpPr/>
          <p:nvPr/>
        </p:nvSpPr>
        <p:spPr>
          <a:xfrm>
            <a:off x="548640" y="1783080"/>
            <a:ext cx="5394960" cy="3474720"/>
          </a:xfrm>
          <a:prstGeom prst="roundRect">
            <a:avLst>
              <a:gd name="adj" fmla="val 2632"/>
            </a:avLst>
          </a:prstGeom>
          <a:solidFill>
            <a:schemeClr val="accent6">
              <a:alpha val="12000"/>
            </a:schemeClr>
          </a:solidFill>
          <a:ln/>
        </p:spPr>
      </p:sp>
      <p:sp>
        <p:nvSpPr>
          <p:cNvPr id="5" name="Text 3"/>
          <p:cNvSpPr txBox="1"/>
          <p:nvPr/>
        </p:nvSpPr>
        <p:spPr>
          <a:xfrm>
            <a:off x="822960" y="1938528"/>
            <a:ext cx="4846320" cy="365760"/>
          </a:xfrm>
          <a:prstGeom prst="rect">
            <a:avLst/>
          </a:prstGeom>
          <a:noFill/>
          <a:ln/>
        </p:spPr>
        <p:txBody>
          <a:bodyPr wrap="square" lIns="0" tIns="0" rIns="0" bIns="0" rtlCol="0" anchor="t"/>
          <a:lstStyle/>
          <a:p>
            <a:pPr algn="l" indent="0" marL="0">
              <a:buNone/>
            </a:pPr>
            <a:r>
              <a:rPr lang="en-US" sz="2000" b="1" dirty="0">
                <a:solidFill>
                  <a:schemeClr val="tx2"/>
                </a:solidFill>
              </a:rPr>
              <a:t>Relational model</a:t>
            </a:r>
            <a:endParaRPr lang="en-US" sz="2000" dirty="0"/>
          </a:p>
        </p:txBody>
      </p:sp>
      <p:sp>
        <p:nvSpPr>
          <p:cNvPr id="6" name="Text 4"/>
          <p:cNvSpPr txBox="1"/>
          <p:nvPr/>
        </p:nvSpPr>
        <p:spPr>
          <a:xfrm>
            <a:off x="822960" y="2304288"/>
            <a:ext cx="4846320" cy="292608"/>
          </a:xfrm>
          <a:prstGeom prst="rect">
            <a:avLst/>
          </a:prstGeom>
          <a:noFill/>
          <a:ln/>
        </p:spPr>
        <p:txBody>
          <a:bodyPr wrap="square" lIns="0" tIns="0" rIns="0" bIns="0" rtlCol="0" anchor="t"/>
          <a:lstStyle/>
          <a:p>
            <a:pPr algn="l" indent="0" marL="0">
              <a:buNone/>
            </a:pPr>
            <a:r>
              <a:rPr lang="en-US" sz="1400" dirty="0">
                <a:solidFill>
                  <a:schemeClr val="tx1"/>
                </a:solidFill>
              </a:rPr>
              <a:t>One claim is split across nine tables</a:t>
            </a:r>
            <a:endParaRPr lang="en-US" sz="1400" dirty="0"/>
          </a:p>
        </p:txBody>
      </p:sp>
      <p:sp>
        <p:nvSpPr>
          <p:cNvPr id="7" name="Table chip 30"/>
          <p:cNvSpPr/>
          <p:nvPr/>
        </p:nvSpPr>
        <p:spPr>
          <a:xfrm>
            <a:off x="822960" y="2761488"/>
            <a:ext cx="1536192" cy="384048"/>
          </a:xfrm>
          <a:prstGeom prst="roundRect">
            <a:avLst>
              <a:gd name="adj" fmla="val 11905"/>
            </a:avLst>
          </a:prstGeom>
          <a:solidFill>
            <a:schemeClr val="bg1"/>
          </a:solidFill>
          <a:ln w="12700">
            <a:solidFill>
              <a:srgbClr val="5B6F75"/>
            </a:solidFill>
            <a:prstDash val="solid"/>
          </a:ln>
        </p:spPr>
      </p:sp>
      <p:sp>
        <p:nvSpPr>
          <p:cNvPr id="8" name="Text 6"/>
          <p:cNvSpPr txBox="1"/>
          <p:nvPr/>
        </p:nvSpPr>
        <p:spPr>
          <a:xfrm>
            <a:off x="822960" y="2761488"/>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claims</a:t>
            </a:r>
            <a:endParaRPr lang="en-US" sz="1200" dirty="0"/>
          </a:p>
        </p:txBody>
      </p:sp>
      <p:sp>
        <p:nvSpPr>
          <p:cNvPr id="9" name="Table chip 31"/>
          <p:cNvSpPr/>
          <p:nvPr/>
        </p:nvSpPr>
        <p:spPr>
          <a:xfrm>
            <a:off x="2468880" y="2761488"/>
            <a:ext cx="1536192" cy="384048"/>
          </a:xfrm>
          <a:prstGeom prst="roundRect">
            <a:avLst>
              <a:gd name="adj" fmla="val 11905"/>
            </a:avLst>
          </a:prstGeom>
          <a:solidFill>
            <a:schemeClr val="bg1"/>
          </a:solidFill>
          <a:ln w="12700">
            <a:solidFill>
              <a:srgbClr val="5B6F75"/>
            </a:solidFill>
            <a:prstDash val="solid"/>
          </a:ln>
        </p:spPr>
      </p:sp>
      <p:sp>
        <p:nvSpPr>
          <p:cNvPr id="10" name="Text 8"/>
          <p:cNvSpPr txBox="1"/>
          <p:nvPr/>
        </p:nvSpPr>
        <p:spPr>
          <a:xfrm>
            <a:off x="2468880" y="2761488"/>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bill_items</a:t>
            </a:r>
            <a:endParaRPr lang="en-US" sz="1200" dirty="0"/>
          </a:p>
        </p:txBody>
      </p:sp>
      <p:sp>
        <p:nvSpPr>
          <p:cNvPr id="11" name="Table chip 32"/>
          <p:cNvSpPr/>
          <p:nvPr/>
        </p:nvSpPr>
        <p:spPr>
          <a:xfrm>
            <a:off x="4114800" y="2761488"/>
            <a:ext cx="1536192" cy="384048"/>
          </a:xfrm>
          <a:prstGeom prst="roundRect">
            <a:avLst>
              <a:gd name="adj" fmla="val 11905"/>
            </a:avLst>
          </a:prstGeom>
          <a:solidFill>
            <a:schemeClr val="bg1"/>
          </a:solidFill>
          <a:ln w="12700">
            <a:solidFill>
              <a:srgbClr val="5B6F75"/>
            </a:solidFill>
            <a:prstDash val="solid"/>
          </a:ln>
        </p:spPr>
      </p:sp>
      <p:sp>
        <p:nvSpPr>
          <p:cNvPr id="12" name="Text 10"/>
          <p:cNvSpPr txBox="1"/>
          <p:nvPr/>
        </p:nvSpPr>
        <p:spPr>
          <a:xfrm>
            <a:off x="4114800" y="2761488"/>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diagnoses</a:t>
            </a:r>
            <a:endParaRPr lang="en-US" sz="1200" dirty="0"/>
          </a:p>
        </p:txBody>
      </p:sp>
      <p:sp>
        <p:nvSpPr>
          <p:cNvPr id="13" name="Table chip 33"/>
          <p:cNvSpPr/>
          <p:nvPr/>
        </p:nvSpPr>
        <p:spPr>
          <a:xfrm>
            <a:off x="822960" y="3255264"/>
            <a:ext cx="1536192" cy="384048"/>
          </a:xfrm>
          <a:prstGeom prst="roundRect">
            <a:avLst>
              <a:gd name="adj" fmla="val 11905"/>
            </a:avLst>
          </a:prstGeom>
          <a:solidFill>
            <a:schemeClr val="bg1"/>
          </a:solidFill>
          <a:ln w="12700">
            <a:solidFill>
              <a:srgbClr val="5B6F75"/>
            </a:solidFill>
            <a:prstDash val="solid"/>
          </a:ln>
        </p:spPr>
      </p:sp>
      <p:sp>
        <p:nvSpPr>
          <p:cNvPr id="14" name="Text 12"/>
          <p:cNvSpPr txBox="1"/>
          <p:nvPr/>
        </p:nvSpPr>
        <p:spPr>
          <a:xfrm>
            <a:off x="822960" y="3255264"/>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documents</a:t>
            </a:r>
            <a:endParaRPr lang="en-US" sz="1200" dirty="0"/>
          </a:p>
        </p:txBody>
      </p:sp>
      <p:sp>
        <p:nvSpPr>
          <p:cNvPr id="15" name="Table chip 34"/>
          <p:cNvSpPr/>
          <p:nvPr/>
        </p:nvSpPr>
        <p:spPr>
          <a:xfrm>
            <a:off x="2468880" y="3255264"/>
            <a:ext cx="1536192" cy="384048"/>
          </a:xfrm>
          <a:prstGeom prst="roundRect">
            <a:avLst>
              <a:gd name="adj" fmla="val 11905"/>
            </a:avLst>
          </a:prstGeom>
          <a:solidFill>
            <a:schemeClr val="bg1"/>
          </a:solidFill>
          <a:ln w="12700">
            <a:solidFill>
              <a:srgbClr val="5B6F75"/>
            </a:solidFill>
            <a:prstDash val="solid"/>
          </a:ln>
        </p:spPr>
      </p:sp>
      <p:sp>
        <p:nvSpPr>
          <p:cNvPr id="16" name="Text 14"/>
          <p:cNvSpPr txBox="1"/>
          <p:nvPr/>
        </p:nvSpPr>
        <p:spPr>
          <a:xfrm>
            <a:off x="2468880" y="3255264"/>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queries</a:t>
            </a:r>
            <a:endParaRPr lang="en-US" sz="1200" dirty="0"/>
          </a:p>
        </p:txBody>
      </p:sp>
      <p:sp>
        <p:nvSpPr>
          <p:cNvPr id="17" name="Table chip 35"/>
          <p:cNvSpPr/>
          <p:nvPr/>
        </p:nvSpPr>
        <p:spPr>
          <a:xfrm>
            <a:off x="4114800" y="3255264"/>
            <a:ext cx="1536192" cy="384048"/>
          </a:xfrm>
          <a:prstGeom prst="roundRect">
            <a:avLst>
              <a:gd name="adj" fmla="val 11905"/>
            </a:avLst>
          </a:prstGeom>
          <a:solidFill>
            <a:schemeClr val="bg1"/>
          </a:solidFill>
          <a:ln w="12700">
            <a:solidFill>
              <a:srgbClr val="5B6F75"/>
            </a:solidFill>
            <a:prstDash val="solid"/>
          </a:ln>
        </p:spPr>
      </p:sp>
      <p:sp>
        <p:nvSpPr>
          <p:cNvPr id="18" name="Text 16"/>
          <p:cNvSpPr txBox="1"/>
          <p:nvPr/>
        </p:nvSpPr>
        <p:spPr>
          <a:xfrm>
            <a:off x="4114800" y="3255264"/>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status_history</a:t>
            </a:r>
            <a:endParaRPr lang="en-US" sz="1200" dirty="0"/>
          </a:p>
        </p:txBody>
      </p:sp>
      <p:sp>
        <p:nvSpPr>
          <p:cNvPr id="19" name="Table chip 36"/>
          <p:cNvSpPr/>
          <p:nvPr/>
        </p:nvSpPr>
        <p:spPr>
          <a:xfrm>
            <a:off x="822960" y="3749040"/>
            <a:ext cx="1536192" cy="384048"/>
          </a:xfrm>
          <a:prstGeom prst="roundRect">
            <a:avLst>
              <a:gd name="adj" fmla="val 11905"/>
            </a:avLst>
          </a:prstGeom>
          <a:solidFill>
            <a:schemeClr val="bg1"/>
          </a:solidFill>
          <a:ln w="12700">
            <a:solidFill>
              <a:srgbClr val="5B6F75"/>
            </a:solidFill>
            <a:prstDash val="solid"/>
          </a:ln>
        </p:spPr>
      </p:sp>
      <p:sp>
        <p:nvSpPr>
          <p:cNvPr id="20" name="Text 18"/>
          <p:cNvSpPr txBox="1"/>
          <p:nvPr/>
        </p:nvSpPr>
        <p:spPr>
          <a:xfrm>
            <a:off x="822960" y="3749040"/>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deductions</a:t>
            </a:r>
            <a:endParaRPr lang="en-US" sz="1200" dirty="0"/>
          </a:p>
        </p:txBody>
      </p:sp>
      <p:sp>
        <p:nvSpPr>
          <p:cNvPr id="21" name="Table chip 37"/>
          <p:cNvSpPr/>
          <p:nvPr/>
        </p:nvSpPr>
        <p:spPr>
          <a:xfrm>
            <a:off x="2468880" y="3749040"/>
            <a:ext cx="1536192" cy="384048"/>
          </a:xfrm>
          <a:prstGeom prst="roundRect">
            <a:avLst>
              <a:gd name="adj" fmla="val 11905"/>
            </a:avLst>
          </a:prstGeom>
          <a:solidFill>
            <a:schemeClr val="bg1"/>
          </a:solidFill>
          <a:ln w="12700">
            <a:solidFill>
              <a:srgbClr val="5B6F75"/>
            </a:solidFill>
            <a:prstDash val="solid"/>
          </a:ln>
        </p:spPr>
      </p:sp>
      <p:sp>
        <p:nvSpPr>
          <p:cNvPr id="22" name="Text 20"/>
          <p:cNvSpPr txBox="1"/>
          <p:nvPr/>
        </p:nvSpPr>
        <p:spPr>
          <a:xfrm>
            <a:off x="2468880" y="3749040"/>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fraud_flags</a:t>
            </a:r>
            <a:endParaRPr lang="en-US" sz="1200" dirty="0"/>
          </a:p>
        </p:txBody>
      </p:sp>
      <p:sp>
        <p:nvSpPr>
          <p:cNvPr id="23" name="Table chip 38"/>
          <p:cNvSpPr/>
          <p:nvPr/>
        </p:nvSpPr>
        <p:spPr>
          <a:xfrm>
            <a:off x="4114800" y="3749040"/>
            <a:ext cx="1536192" cy="384048"/>
          </a:xfrm>
          <a:prstGeom prst="roundRect">
            <a:avLst>
              <a:gd name="adj" fmla="val 11905"/>
            </a:avLst>
          </a:prstGeom>
          <a:solidFill>
            <a:schemeClr val="bg1"/>
          </a:solidFill>
          <a:ln w="12700">
            <a:solidFill>
              <a:srgbClr val="5B6F75"/>
            </a:solidFill>
            <a:prstDash val="solid"/>
          </a:ln>
        </p:spPr>
      </p:sp>
      <p:sp>
        <p:nvSpPr>
          <p:cNvPr id="24" name="Text 22"/>
          <p:cNvSpPr txBox="1"/>
          <p:nvPr/>
        </p:nvSpPr>
        <p:spPr>
          <a:xfrm>
            <a:off x="4114800" y="3749040"/>
            <a:ext cx="1536192" cy="384048"/>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payments</a:t>
            </a:r>
            <a:endParaRPr lang="en-US" sz="1200" dirty="0"/>
          </a:p>
        </p:txBody>
      </p:sp>
      <p:sp>
        <p:nvSpPr>
          <p:cNvPr id="25" name="Text 23"/>
          <p:cNvSpPr txBox="1"/>
          <p:nvPr/>
        </p:nvSpPr>
        <p:spPr>
          <a:xfrm>
            <a:off x="822960" y="4389120"/>
            <a:ext cx="4846320" cy="822960"/>
          </a:xfrm>
          <a:prstGeom prst="rect">
            <a:avLst/>
          </a:prstGeom>
          <a:noFill/>
          <a:ln/>
        </p:spPr>
        <p:txBody>
          <a:bodyPr wrap="square" lIns="0" tIns="0" rIns="0" bIns="0" rtlCol="0" anchor="t"/>
          <a:lstStyle/>
          <a:p>
            <a:pPr algn="l" indent="0" marL="0">
              <a:buNone/>
            </a:pPr>
            <a:r>
              <a:rPr lang="en-US" sz="1400" dirty="0">
                <a:solidFill>
                  <a:schemeClr val="tx1"/>
                </a:solidFill>
              </a:rPr>
              <a:t>Every read is a multi-way join, and a status change touches several tables.</a:t>
            </a:r>
            <a:endParaRPr lang="en-US" sz="1400" dirty="0"/>
          </a:p>
        </p:txBody>
      </p:sp>
      <p:sp>
        <p:nvSpPr>
          <p:cNvPr id="26" name="Document card"/>
          <p:cNvSpPr/>
          <p:nvPr/>
        </p:nvSpPr>
        <p:spPr>
          <a:xfrm>
            <a:off x="6245352" y="1783080"/>
            <a:ext cx="5394960" cy="3474720"/>
          </a:xfrm>
          <a:prstGeom prst="roundRect">
            <a:avLst>
              <a:gd name="adj" fmla="val 2632"/>
            </a:avLst>
          </a:prstGeom>
          <a:solidFill>
            <a:schemeClr val="bg2"/>
          </a:solidFill>
          <a:ln/>
        </p:spPr>
      </p:sp>
      <p:sp>
        <p:nvSpPr>
          <p:cNvPr id="27" name="Text 25"/>
          <p:cNvSpPr txBox="1"/>
          <p:nvPr/>
        </p:nvSpPr>
        <p:spPr>
          <a:xfrm>
            <a:off x="6519672" y="1938528"/>
            <a:ext cx="4846320" cy="365760"/>
          </a:xfrm>
          <a:prstGeom prst="rect">
            <a:avLst/>
          </a:prstGeom>
          <a:noFill/>
          <a:ln/>
        </p:spPr>
        <p:txBody>
          <a:bodyPr wrap="square" lIns="0" tIns="0" rIns="0" bIns="0" rtlCol="0" anchor="t"/>
          <a:lstStyle/>
          <a:p>
            <a:pPr algn="l" indent="0" marL="0">
              <a:buNone/>
            </a:pPr>
            <a:r>
              <a:rPr lang="en-US" sz="2000" b="1" dirty="0">
                <a:solidFill>
                  <a:schemeClr val="accent1"/>
                </a:solidFill>
              </a:rPr>
              <a:t>Document model</a:t>
            </a:r>
            <a:endParaRPr lang="en-US" sz="2000" dirty="0"/>
          </a:p>
        </p:txBody>
      </p:sp>
      <p:sp>
        <p:nvSpPr>
          <p:cNvPr id="28" name="Text 26"/>
          <p:cNvSpPr txBox="1"/>
          <p:nvPr/>
        </p:nvSpPr>
        <p:spPr>
          <a:xfrm>
            <a:off x="6519672" y="2304288"/>
            <a:ext cx="4846320" cy="292608"/>
          </a:xfrm>
          <a:prstGeom prst="rect">
            <a:avLst/>
          </a:prstGeom>
          <a:noFill/>
          <a:ln/>
        </p:spPr>
        <p:txBody>
          <a:bodyPr wrap="square" lIns="0" tIns="0" rIns="0" bIns="0" rtlCol="0" anchor="t"/>
          <a:lstStyle/>
          <a:p>
            <a:pPr algn="l" indent="0" marL="0">
              <a:buNone/>
            </a:pPr>
            <a:r>
              <a:rPr lang="en-US" sz="1400" dirty="0">
                <a:solidFill>
                  <a:schemeClr val="tx1"/>
                </a:solidFill>
              </a:rPr>
              <a:t>One claim is one document</a:t>
            </a:r>
            <a:endParaRPr lang="en-US" sz="1400" dirty="0"/>
          </a:p>
        </p:txBody>
      </p:sp>
      <p:sp>
        <p:nvSpPr>
          <p:cNvPr id="29" name="Claim document box"/>
          <p:cNvSpPr/>
          <p:nvPr/>
        </p:nvSpPr>
        <p:spPr>
          <a:xfrm>
            <a:off x="6519672" y="2761488"/>
            <a:ext cx="4846320" cy="1426464"/>
          </a:xfrm>
          <a:prstGeom prst="roundRect">
            <a:avLst>
              <a:gd name="adj" fmla="val 6410"/>
            </a:avLst>
          </a:prstGeom>
          <a:solidFill>
            <a:schemeClr val="bg1"/>
          </a:solidFill>
          <a:ln w="19050">
            <a:solidFill>
              <a:srgbClr val="0E7C7B"/>
            </a:solidFill>
            <a:prstDash val="solid"/>
          </a:ln>
        </p:spPr>
      </p:sp>
      <p:sp>
        <p:nvSpPr>
          <p:cNvPr id="30" name="Text 28"/>
          <p:cNvSpPr txBox="1"/>
          <p:nvPr/>
        </p:nvSpPr>
        <p:spPr>
          <a:xfrm>
            <a:off x="6656832" y="2807208"/>
            <a:ext cx="1097280" cy="27432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claim</a:t>
            </a:r>
            <a:endParaRPr lang="en-US" sz="1200" dirty="0"/>
          </a:p>
        </p:txBody>
      </p:sp>
      <p:sp>
        <p:nvSpPr>
          <p:cNvPr id="31" name="Embedded chip 39"/>
          <p:cNvSpPr/>
          <p:nvPr/>
        </p:nvSpPr>
        <p:spPr>
          <a:xfrm>
            <a:off x="6656832" y="3127248"/>
            <a:ext cx="1097280" cy="384048"/>
          </a:xfrm>
          <a:prstGeom prst="roundRect">
            <a:avLst>
              <a:gd name="adj" fmla="val 11905"/>
            </a:avLst>
          </a:prstGeom>
          <a:solidFill>
            <a:schemeClr val="bg2"/>
          </a:solidFill>
          <a:ln/>
        </p:spPr>
      </p:sp>
      <p:sp>
        <p:nvSpPr>
          <p:cNvPr id="32" name="Text 30"/>
          <p:cNvSpPr txBox="1"/>
          <p:nvPr/>
        </p:nvSpPr>
        <p:spPr>
          <a:xfrm>
            <a:off x="6656832" y="3127248"/>
            <a:ext cx="1097280"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bill{}</a:t>
            </a:r>
            <a:endParaRPr lang="en-US" sz="1100" dirty="0"/>
          </a:p>
        </p:txBody>
      </p:sp>
      <p:sp>
        <p:nvSpPr>
          <p:cNvPr id="33" name="Embedded chip 40"/>
          <p:cNvSpPr/>
          <p:nvPr/>
        </p:nvSpPr>
        <p:spPr>
          <a:xfrm>
            <a:off x="7818120" y="3127248"/>
            <a:ext cx="1097280" cy="384048"/>
          </a:xfrm>
          <a:prstGeom prst="roundRect">
            <a:avLst>
              <a:gd name="adj" fmla="val 11905"/>
            </a:avLst>
          </a:prstGeom>
          <a:solidFill>
            <a:schemeClr val="bg2"/>
          </a:solidFill>
          <a:ln/>
        </p:spPr>
      </p:sp>
      <p:sp>
        <p:nvSpPr>
          <p:cNvPr id="34" name="Text 32"/>
          <p:cNvSpPr txBox="1"/>
          <p:nvPr/>
        </p:nvSpPr>
        <p:spPr>
          <a:xfrm>
            <a:off x="7818120" y="3127248"/>
            <a:ext cx="1097280"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diagnosis[]</a:t>
            </a:r>
            <a:endParaRPr lang="en-US" sz="1100" dirty="0"/>
          </a:p>
        </p:txBody>
      </p:sp>
      <p:sp>
        <p:nvSpPr>
          <p:cNvPr id="35" name="Embedded chip 41"/>
          <p:cNvSpPr/>
          <p:nvPr/>
        </p:nvSpPr>
        <p:spPr>
          <a:xfrm>
            <a:off x="8979408" y="3127248"/>
            <a:ext cx="1097280" cy="384048"/>
          </a:xfrm>
          <a:prstGeom prst="roundRect">
            <a:avLst>
              <a:gd name="adj" fmla="val 11905"/>
            </a:avLst>
          </a:prstGeom>
          <a:solidFill>
            <a:schemeClr val="bg2"/>
          </a:solidFill>
          <a:ln/>
        </p:spPr>
      </p:sp>
      <p:sp>
        <p:nvSpPr>
          <p:cNvPr id="36" name="Text 34"/>
          <p:cNvSpPr txBox="1"/>
          <p:nvPr/>
        </p:nvSpPr>
        <p:spPr>
          <a:xfrm>
            <a:off x="8979408" y="3127248"/>
            <a:ext cx="1097280"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documents[]</a:t>
            </a:r>
            <a:endParaRPr lang="en-US" sz="1100" dirty="0"/>
          </a:p>
        </p:txBody>
      </p:sp>
      <p:sp>
        <p:nvSpPr>
          <p:cNvPr id="37" name="Embedded chip 42"/>
          <p:cNvSpPr/>
          <p:nvPr/>
        </p:nvSpPr>
        <p:spPr>
          <a:xfrm>
            <a:off x="10140696" y="3127248"/>
            <a:ext cx="1097280" cy="384048"/>
          </a:xfrm>
          <a:prstGeom prst="roundRect">
            <a:avLst>
              <a:gd name="adj" fmla="val 11905"/>
            </a:avLst>
          </a:prstGeom>
          <a:solidFill>
            <a:schemeClr val="bg2"/>
          </a:solidFill>
          <a:ln/>
        </p:spPr>
      </p:sp>
      <p:sp>
        <p:nvSpPr>
          <p:cNvPr id="38" name="Text 36"/>
          <p:cNvSpPr txBox="1"/>
          <p:nvPr/>
        </p:nvSpPr>
        <p:spPr>
          <a:xfrm>
            <a:off x="10140696" y="3127248"/>
            <a:ext cx="1097280"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queries[]</a:t>
            </a:r>
            <a:endParaRPr lang="en-US" sz="1100" dirty="0"/>
          </a:p>
        </p:txBody>
      </p:sp>
      <p:sp>
        <p:nvSpPr>
          <p:cNvPr id="39" name="Embedded chip 43"/>
          <p:cNvSpPr/>
          <p:nvPr/>
        </p:nvSpPr>
        <p:spPr>
          <a:xfrm>
            <a:off x="6656832" y="3639312"/>
            <a:ext cx="1481328" cy="384048"/>
          </a:xfrm>
          <a:prstGeom prst="roundRect">
            <a:avLst>
              <a:gd name="adj" fmla="val 11905"/>
            </a:avLst>
          </a:prstGeom>
          <a:solidFill>
            <a:schemeClr val="bg2"/>
          </a:solidFill>
          <a:ln/>
        </p:spPr>
      </p:sp>
      <p:sp>
        <p:nvSpPr>
          <p:cNvPr id="40" name="Text 38"/>
          <p:cNvSpPr txBox="1"/>
          <p:nvPr/>
        </p:nvSpPr>
        <p:spPr>
          <a:xfrm>
            <a:off x="6656832" y="3639312"/>
            <a:ext cx="1481328"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status_history[]</a:t>
            </a:r>
            <a:endParaRPr lang="en-US" sz="1100" dirty="0"/>
          </a:p>
        </p:txBody>
      </p:sp>
      <p:sp>
        <p:nvSpPr>
          <p:cNvPr id="41" name="Embedded chip 44"/>
          <p:cNvSpPr/>
          <p:nvPr/>
        </p:nvSpPr>
        <p:spPr>
          <a:xfrm>
            <a:off x="8202168" y="3639312"/>
            <a:ext cx="1481328" cy="384048"/>
          </a:xfrm>
          <a:prstGeom prst="roundRect">
            <a:avLst>
              <a:gd name="adj" fmla="val 11905"/>
            </a:avLst>
          </a:prstGeom>
          <a:solidFill>
            <a:schemeClr val="bg2"/>
          </a:solidFill>
          <a:ln/>
        </p:spPr>
      </p:sp>
      <p:sp>
        <p:nvSpPr>
          <p:cNvPr id="42" name="Text 40"/>
          <p:cNvSpPr txBox="1"/>
          <p:nvPr/>
        </p:nvSpPr>
        <p:spPr>
          <a:xfrm>
            <a:off x="8202168" y="3639312"/>
            <a:ext cx="1481328"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deductions[]</a:t>
            </a:r>
            <a:endParaRPr lang="en-US" sz="1100" dirty="0"/>
          </a:p>
        </p:txBody>
      </p:sp>
      <p:sp>
        <p:nvSpPr>
          <p:cNvPr id="43" name="Embedded chip 45"/>
          <p:cNvSpPr/>
          <p:nvPr/>
        </p:nvSpPr>
        <p:spPr>
          <a:xfrm>
            <a:off x="9747504" y="3639312"/>
            <a:ext cx="1481328" cy="384048"/>
          </a:xfrm>
          <a:prstGeom prst="roundRect">
            <a:avLst>
              <a:gd name="adj" fmla="val 11905"/>
            </a:avLst>
          </a:prstGeom>
          <a:solidFill>
            <a:schemeClr val="bg2"/>
          </a:solidFill>
          <a:ln/>
        </p:spPr>
      </p:sp>
      <p:sp>
        <p:nvSpPr>
          <p:cNvPr id="44" name="Text 42"/>
          <p:cNvSpPr txBox="1"/>
          <p:nvPr/>
        </p:nvSpPr>
        <p:spPr>
          <a:xfrm>
            <a:off x="9747504" y="3639312"/>
            <a:ext cx="1481328" cy="38404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fraud.flags[]</a:t>
            </a:r>
            <a:endParaRPr lang="en-US" sz="1100" dirty="0"/>
          </a:p>
        </p:txBody>
      </p:sp>
      <p:sp>
        <p:nvSpPr>
          <p:cNvPr id="45" name="Text 43"/>
          <p:cNvSpPr txBox="1"/>
          <p:nvPr/>
        </p:nvSpPr>
        <p:spPr>
          <a:xfrm>
            <a:off x="6519672" y="4389120"/>
            <a:ext cx="4846320" cy="822960"/>
          </a:xfrm>
          <a:prstGeom prst="rect">
            <a:avLst/>
          </a:prstGeom>
          <a:noFill/>
          <a:ln/>
        </p:spPr>
        <p:txBody>
          <a:bodyPr wrap="square" lIns="0" tIns="0" rIns="0" bIns="0" rtlCol="0" anchor="t"/>
          <a:lstStyle/>
          <a:p>
            <a:pPr algn="l" indent="0" marL="0">
              <a:buNone/>
            </a:pPr>
            <a:r>
              <a:rPr lang="en-US" sz="1400" dirty="0">
                <a:solidFill>
                  <a:schemeClr val="tx1"/>
                </a:solidFill>
              </a:rPr>
              <a:t>One read loads the whole case file, and one atomic update changes status and history together.</a:t>
            </a:r>
            <a:endParaRPr lang="en-US" sz="1400" dirty="0"/>
          </a:p>
        </p:txBody>
      </p:sp>
      <p:sp>
        <p:nvSpPr>
          <p:cNvPr id="46" name="Reference note"/>
          <p:cNvSpPr/>
          <p:nvPr/>
        </p:nvSpPr>
        <p:spPr>
          <a:xfrm>
            <a:off x="548640" y="5468112"/>
            <a:ext cx="11094415" cy="676656"/>
          </a:xfrm>
          <a:prstGeom prst="roundRect">
            <a:avLst>
              <a:gd name="adj" fmla="val 13514"/>
            </a:avLst>
          </a:prstGeom>
          <a:solidFill>
            <a:schemeClr val="accent2">
              <a:alpha val="15000"/>
            </a:schemeClr>
          </a:solidFill>
          <a:ln/>
        </p:spPr>
      </p:sp>
      <p:sp>
        <p:nvSpPr>
          <p:cNvPr id="47" name="Text 45"/>
          <p:cNvSpPr txBox="1"/>
          <p:nvPr/>
        </p:nvSpPr>
        <p:spPr>
          <a:xfrm>
            <a:off x="822960" y="5468112"/>
            <a:ext cx="10545775" cy="676656"/>
          </a:xfrm>
          <a:prstGeom prst="rect">
            <a:avLst/>
          </a:prstGeom>
          <a:noFill/>
          <a:ln/>
        </p:spPr>
        <p:txBody>
          <a:bodyPr wrap="square" lIns="0" tIns="0" rIns="0" bIns="0" rtlCol="0" anchor="ctr"/>
          <a:lstStyle/>
          <a:p>
            <a:pPr algn="l" indent="0" marL="0">
              <a:buNone/>
            </a:pPr>
            <a:r>
              <a:rPr lang="en-US" sz="1500" dirty="0">
                <a:solidFill>
                  <a:schemeClr val="tx1"/>
                </a:solidFill>
              </a:rPr>
              <a:t>Shared data is still referenced, as in a relational design: members, policies, hospitals and payments keep their own collections.</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SYSTEM</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sp>
        <p:nvSpPr>
          <p:cNvPr id="4" name="Layer band 46"/>
          <p:cNvSpPr/>
          <p:nvPr/>
        </p:nvSpPr>
        <p:spPr>
          <a:xfrm>
            <a:off x="548640" y="1783080"/>
            <a:ext cx="11094415" cy="1143000"/>
          </a:xfrm>
          <a:prstGeom prst="roundRect">
            <a:avLst>
              <a:gd name="adj" fmla="val 8000"/>
            </a:avLst>
          </a:prstGeom>
          <a:solidFill>
            <a:schemeClr val="bg2"/>
          </a:solidFill>
          <a:ln/>
        </p:spPr>
      </p:sp>
      <p:sp>
        <p:nvSpPr>
          <p:cNvPr id="5" name="Dot 47"/>
          <p:cNvSpPr/>
          <p:nvPr/>
        </p:nvSpPr>
        <p:spPr>
          <a:xfrm>
            <a:off x="731520" y="2057400"/>
            <a:ext cx="594360" cy="59436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880110" y="2205990"/>
            <a:ext cx="297180" cy="297180"/>
          </a:xfrm>
          <a:prstGeom prst="rect">
            <a:avLst/>
          </a:prstGeom>
        </p:spPr>
      </p:pic>
      <p:sp>
        <p:nvSpPr>
          <p:cNvPr id="7" name="Text 4"/>
          <p:cNvSpPr txBox="1"/>
          <p:nvPr/>
        </p:nvSpPr>
        <p:spPr>
          <a:xfrm>
            <a:off x="1463040" y="1783080"/>
            <a:ext cx="1143000" cy="1143000"/>
          </a:xfrm>
          <a:prstGeom prst="rect">
            <a:avLst/>
          </a:prstGeom>
          <a:noFill/>
          <a:ln/>
        </p:spPr>
        <p:txBody>
          <a:bodyPr wrap="square" lIns="0" tIns="0" rIns="0" bIns="0" rtlCol="0" anchor="ctr"/>
          <a:lstStyle/>
          <a:p>
            <a:pPr algn="l" indent="0" marL="0">
              <a:buNone/>
            </a:pPr>
            <a:r>
              <a:rPr lang="en-US" sz="1500" b="1" dirty="0">
                <a:solidFill>
                  <a:schemeClr val="tx2"/>
                </a:solidFill>
              </a:rPr>
              <a:t>Interfaces</a:t>
            </a:r>
            <a:endParaRPr lang="en-US" sz="1500" dirty="0"/>
          </a:p>
        </p:txBody>
      </p:sp>
      <p:sp>
        <p:nvSpPr>
          <p:cNvPr id="8" name="Layer band 48"/>
          <p:cNvSpPr/>
          <p:nvPr/>
        </p:nvSpPr>
        <p:spPr>
          <a:xfrm>
            <a:off x="548640" y="3200400"/>
            <a:ext cx="11094415" cy="1143000"/>
          </a:xfrm>
          <a:prstGeom prst="roundRect">
            <a:avLst>
              <a:gd name="adj" fmla="val 8000"/>
            </a:avLst>
          </a:prstGeom>
          <a:solidFill>
            <a:schemeClr val="bg2"/>
          </a:solidFill>
          <a:ln/>
        </p:spPr>
      </p:sp>
      <p:sp>
        <p:nvSpPr>
          <p:cNvPr id="9" name="Dot 49"/>
          <p:cNvSpPr/>
          <p:nvPr/>
        </p:nvSpPr>
        <p:spPr>
          <a:xfrm>
            <a:off x="731520" y="3474720"/>
            <a:ext cx="594360" cy="594360"/>
          </a:xfrm>
          <a:prstGeom prst="ellipse">
            <a:avLst/>
          </a:prstGeom>
          <a:solidFill>
            <a:schemeClr val="accent1"/>
          </a:solidFill>
          <a:ln/>
        </p:spPr>
      </p:sp>
      <p:pic>
        <p:nvPicPr>
          <p:cNvPr id="10" name="Image 1" descr="icon">    </p:cNvPr>
          <p:cNvPicPr>
            <a:picLocks noChangeAspect="1"/>
          </p:cNvPicPr>
          <p:nvPr/>
        </p:nvPicPr>
        <p:blipFill>
          <a:blip r:embed="rId2"/>
          <a:stretch>
            <a:fillRect/>
          </a:stretch>
        </p:blipFill>
        <p:spPr>
          <a:xfrm>
            <a:off x="880110" y="3623310"/>
            <a:ext cx="297180" cy="297180"/>
          </a:xfrm>
          <a:prstGeom prst="rect">
            <a:avLst/>
          </a:prstGeom>
        </p:spPr>
      </p:pic>
      <p:sp>
        <p:nvSpPr>
          <p:cNvPr id="11" name="Text 7"/>
          <p:cNvSpPr txBox="1"/>
          <p:nvPr/>
        </p:nvSpPr>
        <p:spPr>
          <a:xfrm>
            <a:off x="1463040" y="3200400"/>
            <a:ext cx="1143000" cy="1143000"/>
          </a:xfrm>
          <a:prstGeom prst="rect">
            <a:avLst/>
          </a:prstGeom>
          <a:noFill/>
          <a:ln/>
        </p:spPr>
        <p:txBody>
          <a:bodyPr wrap="square" lIns="0" tIns="0" rIns="0" bIns="0" rtlCol="0" anchor="ctr"/>
          <a:lstStyle/>
          <a:p>
            <a:pPr algn="l" indent="0" marL="0">
              <a:buNone/>
            </a:pPr>
            <a:r>
              <a:rPr lang="en-US" sz="1500" b="1" dirty="0">
                <a:solidFill>
                  <a:schemeClr val="tx2"/>
                </a:solidFill>
              </a:rPr>
              <a:t>Core package</a:t>
            </a:r>
            <a:endParaRPr lang="en-US" sz="1500" dirty="0"/>
          </a:p>
        </p:txBody>
      </p:sp>
      <p:sp>
        <p:nvSpPr>
          <p:cNvPr id="12" name="Layer band 50"/>
          <p:cNvSpPr/>
          <p:nvPr/>
        </p:nvSpPr>
        <p:spPr>
          <a:xfrm>
            <a:off x="548640" y="4617720"/>
            <a:ext cx="11094415" cy="1143000"/>
          </a:xfrm>
          <a:prstGeom prst="roundRect">
            <a:avLst>
              <a:gd name="adj" fmla="val 8000"/>
            </a:avLst>
          </a:prstGeom>
          <a:solidFill>
            <a:schemeClr val="bg2"/>
          </a:solidFill>
          <a:ln/>
        </p:spPr>
      </p:sp>
      <p:sp>
        <p:nvSpPr>
          <p:cNvPr id="13" name="Dot 51"/>
          <p:cNvSpPr/>
          <p:nvPr/>
        </p:nvSpPr>
        <p:spPr>
          <a:xfrm>
            <a:off x="731520" y="4892040"/>
            <a:ext cx="594360" cy="594360"/>
          </a:xfrm>
          <a:prstGeom prst="ellipse">
            <a:avLst/>
          </a:prstGeom>
          <a:solidFill>
            <a:schemeClr val="accent1"/>
          </a:solidFill>
          <a:ln/>
        </p:spPr>
      </p:sp>
      <p:pic>
        <p:nvPicPr>
          <p:cNvPr id="14" name="Image 2" descr="icon">    </p:cNvPr>
          <p:cNvPicPr>
            <a:picLocks noChangeAspect="1"/>
          </p:cNvPicPr>
          <p:nvPr/>
        </p:nvPicPr>
        <p:blipFill>
          <a:blip r:embed="rId3"/>
          <a:stretch>
            <a:fillRect/>
          </a:stretch>
        </p:blipFill>
        <p:spPr>
          <a:xfrm>
            <a:off x="880110" y="5040630"/>
            <a:ext cx="297180" cy="297180"/>
          </a:xfrm>
          <a:prstGeom prst="rect">
            <a:avLst/>
          </a:prstGeom>
        </p:spPr>
      </p:pic>
      <p:sp>
        <p:nvSpPr>
          <p:cNvPr id="15" name="Text 10"/>
          <p:cNvSpPr txBox="1"/>
          <p:nvPr/>
        </p:nvSpPr>
        <p:spPr>
          <a:xfrm>
            <a:off x="1463040" y="4617720"/>
            <a:ext cx="1143000" cy="1143000"/>
          </a:xfrm>
          <a:prstGeom prst="rect">
            <a:avLst/>
          </a:prstGeom>
          <a:noFill/>
          <a:ln/>
        </p:spPr>
        <p:txBody>
          <a:bodyPr wrap="square" lIns="0" tIns="0" rIns="0" bIns="0" rtlCol="0" anchor="ctr"/>
          <a:lstStyle/>
          <a:p>
            <a:pPr algn="l" indent="0" marL="0">
              <a:buNone/>
            </a:pPr>
            <a:r>
              <a:rPr lang="en-US" sz="1500" b="1" dirty="0">
                <a:solidFill>
                  <a:schemeClr val="tx2"/>
                </a:solidFill>
              </a:rPr>
              <a:t>Data layer</a:t>
            </a:r>
            <a:endParaRPr lang="en-US" sz="1500" dirty="0"/>
          </a:p>
        </p:txBody>
      </p:sp>
      <p:sp>
        <p:nvSpPr>
          <p:cNvPr id="16" name="Component 52"/>
          <p:cNvSpPr/>
          <p:nvPr/>
        </p:nvSpPr>
        <p:spPr>
          <a:xfrm>
            <a:off x="2697480" y="192024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17" name="Text 12"/>
          <p:cNvSpPr txBox="1"/>
          <p:nvPr/>
        </p:nvSpPr>
        <p:spPr>
          <a:xfrm>
            <a:off x="2834640" y="202996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Web application</a:t>
            </a:r>
            <a:endParaRPr lang="en-US" sz="1400" dirty="0"/>
          </a:p>
        </p:txBody>
      </p:sp>
      <p:sp>
        <p:nvSpPr>
          <p:cNvPr id="18" name="Text 13"/>
          <p:cNvSpPr txBox="1"/>
          <p:nvPr/>
        </p:nvSpPr>
        <p:spPr>
          <a:xfrm>
            <a:off x="2834640" y="234086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FastAPI, Jinja2, Chart.js; 15+ pages</a:t>
            </a:r>
            <a:endParaRPr lang="en-US" sz="1200" dirty="0"/>
          </a:p>
        </p:txBody>
      </p:sp>
      <p:sp>
        <p:nvSpPr>
          <p:cNvPr id="19" name="Component 53"/>
          <p:cNvSpPr/>
          <p:nvPr/>
        </p:nvSpPr>
        <p:spPr>
          <a:xfrm>
            <a:off x="5669280" y="192024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20" name="Text 15"/>
          <p:cNvSpPr txBox="1"/>
          <p:nvPr/>
        </p:nvSpPr>
        <p:spPr>
          <a:xfrm>
            <a:off x="5806440" y="202996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Command-line console</a:t>
            </a:r>
            <a:endParaRPr lang="en-US" sz="1400" dirty="0"/>
          </a:p>
        </p:txBody>
      </p:sp>
      <p:sp>
        <p:nvSpPr>
          <p:cNvPr id="21" name="Text 16"/>
          <p:cNvSpPr txBox="1"/>
          <p:nvPr/>
        </p:nvSpPr>
        <p:spPr>
          <a:xfrm>
            <a:off x="5806440" y="234086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Interactive menu on the same services</a:t>
            </a:r>
            <a:endParaRPr lang="en-US" sz="1200" dirty="0"/>
          </a:p>
        </p:txBody>
      </p:sp>
      <p:sp>
        <p:nvSpPr>
          <p:cNvPr id="22" name="Component 54"/>
          <p:cNvSpPr/>
          <p:nvPr/>
        </p:nvSpPr>
        <p:spPr>
          <a:xfrm>
            <a:off x="8641080" y="192024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23" name="Text 18"/>
          <p:cNvSpPr txBox="1"/>
          <p:nvPr/>
        </p:nvSpPr>
        <p:spPr>
          <a:xfrm>
            <a:off x="8778240" y="202996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mongosh scripts</a:t>
            </a:r>
            <a:endParaRPr lang="en-US" sz="1400" dirty="0"/>
          </a:p>
        </p:txBody>
      </p:sp>
      <p:sp>
        <p:nvSpPr>
          <p:cNvPr id="24" name="Text 19"/>
          <p:cNvSpPr txBox="1"/>
          <p:nvPr/>
        </p:nvSpPr>
        <p:spPr>
          <a:xfrm>
            <a:off x="8778240" y="234086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Nine scripts, run on MongoDB 8.0</a:t>
            </a:r>
            <a:endParaRPr lang="en-US" sz="1200" dirty="0"/>
          </a:p>
        </p:txBody>
      </p:sp>
      <p:sp>
        <p:nvSpPr>
          <p:cNvPr id="25" name="Module 55"/>
          <p:cNvSpPr/>
          <p:nvPr/>
        </p:nvSpPr>
        <p:spPr>
          <a:xfrm>
            <a:off x="2697480"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26" name="Text 21"/>
          <p:cNvSpPr txBox="1"/>
          <p:nvPr/>
        </p:nvSpPr>
        <p:spPr>
          <a:xfrm>
            <a:off x="2697480"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services</a:t>
            </a:r>
            <a:endParaRPr lang="en-US" sz="1200" dirty="0"/>
          </a:p>
        </p:txBody>
      </p:sp>
      <p:sp>
        <p:nvSpPr>
          <p:cNvPr id="27" name="Text 22"/>
          <p:cNvSpPr txBox="1"/>
          <p:nvPr/>
        </p:nvSpPr>
        <p:spPr>
          <a:xfrm>
            <a:off x="2697480"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workflow</a:t>
            </a:r>
            <a:endParaRPr lang="en-US" sz="1200" dirty="0"/>
          </a:p>
        </p:txBody>
      </p:sp>
      <p:sp>
        <p:nvSpPr>
          <p:cNvPr id="28" name="Module 56"/>
          <p:cNvSpPr/>
          <p:nvPr/>
        </p:nvSpPr>
        <p:spPr>
          <a:xfrm>
            <a:off x="3963924"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29" name="Text 24"/>
          <p:cNvSpPr txBox="1"/>
          <p:nvPr/>
        </p:nvSpPr>
        <p:spPr>
          <a:xfrm>
            <a:off x="3963924"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adjudication</a:t>
            </a:r>
            <a:endParaRPr lang="en-US" sz="1200" dirty="0"/>
          </a:p>
        </p:txBody>
      </p:sp>
      <p:sp>
        <p:nvSpPr>
          <p:cNvPr id="30" name="Text 25"/>
          <p:cNvSpPr txBox="1"/>
          <p:nvPr/>
        </p:nvSpPr>
        <p:spPr>
          <a:xfrm>
            <a:off x="3963924"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policy rules</a:t>
            </a:r>
            <a:endParaRPr lang="en-US" sz="1200" dirty="0"/>
          </a:p>
        </p:txBody>
      </p:sp>
      <p:sp>
        <p:nvSpPr>
          <p:cNvPr id="31" name="Module 57"/>
          <p:cNvSpPr/>
          <p:nvPr/>
        </p:nvSpPr>
        <p:spPr>
          <a:xfrm>
            <a:off x="5230368"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32" name="Text 27"/>
          <p:cNvSpPr txBox="1"/>
          <p:nvPr/>
        </p:nvSpPr>
        <p:spPr>
          <a:xfrm>
            <a:off x="5230368"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fraud</a:t>
            </a:r>
            <a:endParaRPr lang="en-US" sz="1200" dirty="0"/>
          </a:p>
        </p:txBody>
      </p:sp>
      <p:sp>
        <p:nvSpPr>
          <p:cNvPr id="33" name="Text 28"/>
          <p:cNvSpPr txBox="1"/>
          <p:nvPr/>
        </p:nvSpPr>
        <p:spPr>
          <a:xfrm>
            <a:off x="5230368"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risk scoring</a:t>
            </a:r>
            <a:endParaRPr lang="en-US" sz="1200" dirty="0"/>
          </a:p>
        </p:txBody>
      </p:sp>
      <p:sp>
        <p:nvSpPr>
          <p:cNvPr id="34" name="Module 58"/>
          <p:cNvSpPr/>
          <p:nvPr/>
        </p:nvSpPr>
        <p:spPr>
          <a:xfrm>
            <a:off x="6496812"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35" name="Text 30"/>
          <p:cNvSpPr txBox="1"/>
          <p:nvPr/>
        </p:nvSpPr>
        <p:spPr>
          <a:xfrm>
            <a:off x="6496812"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analytics</a:t>
            </a:r>
            <a:endParaRPr lang="en-US" sz="1200" dirty="0"/>
          </a:p>
        </p:txBody>
      </p:sp>
      <p:sp>
        <p:nvSpPr>
          <p:cNvPr id="36" name="Text 31"/>
          <p:cNvSpPr txBox="1"/>
          <p:nvPr/>
        </p:nvSpPr>
        <p:spPr>
          <a:xfrm>
            <a:off x="6496812"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19 pipelines</a:t>
            </a:r>
            <a:endParaRPr lang="en-US" sz="1200" dirty="0"/>
          </a:p>
        </p:txBody>
      </p:sp>
      <p:sp>
        <p:nvSpPr>
          <p:cNvPr id="37" name="Module 59"/>
          <p:cNvSpPr/>
          <p:nvPr/>
        </p:nvSpPr>
        <p:spPr>
          <a:xfrm>
            <a:off x="7763256"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38" name="Text 33"/>
          <p:cNvSpPr txBox="1"/>
          <p:nvPr/>
        </p:nvSpPr>
        <p:spPr>
          <a:xfrm>
            <a:off x="7763256"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transactions</a:t>
            </a:r>
            <a:endParaRPr lang="en-US" sz="1200" dirty="0"/>
          </a:p>
        </p:txBody>
      </p:sp>
      <p:sp>
        <p:nvSpPr>
          <p:cNvPr id="39" name="Text 34"/>
          <p:cNvSpPr txBox="1"/>
          <p:nvPr/>
        </p:nvSpPr>
        <p:spPr>
          <a:xfrm>
            <a:off x="7763256"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ACID settle</a:t>
            </a:r>
            <a:endParaRPr lang="en-US" sz="1200" dirty="0"/>
          </a:p>
        </p:txBody>
      </p:sp>
      <p:sp>
        <p:nvSpPr>
          <p:cNvPr id="40" name="Module 60"/>
          <p:cNvSpPr/>
          <p:nvPr/>
        </p:nvSpPr>
        <p:spPr>
          <a:xfrm>
            <a:off x="9029700"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41" name="Text 36"/>
          <p:cNvSpPr txBox="1"/>
          <p:nvPr/>
        </p:nvSpPr>
        <p:spPr>
          <a:xfrm>
            <a:off x="9029700"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schema</a:t>
            </a:r>
            <a:endParaRPr lang="en-US" sz="1200" dirty="0"/>
          </a:p>
        </p:txBody>
      </p:sp>
      <p:sp>
        <p:nvSpPr>
          <p:cNvPr id="42" name="Text 37"/>
          <p:cNvSpPr txBox="1"/>
          <p:nvPr/>
        </p:nvSpPr>
        <p:spPr>
          <a:xfrm>
            <a:off x="9029700"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validation</a:t>
            </a:r>
            <a:endParaRPr lang="en-US" sz="1200" dirty="0"/>
          </a:p>
        </p:txBody>
      </p:sp>
      <p:sp>
        <p:nvSpPr>
          <p:cNvPr id="43" name="Module 61"/>
          <p:cNvSpPr/>
          <p:nvPr/>
        </p:nvSpPr>
        <p:spPr>
          <a:xfrm>
            <a:off x="10296144" y="3337560"/>
            <a:ext cx="1179576"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44" name="Text 39"/>
          <p:cNvSpPr txBox="1"/>
          <p:nvPr/>
        </p:nvSpPr>
        <p:spPr>
          <a:xfrm>
            <a:off x="10296144" y="3447288"/>
            <a:ext cx="1179576" cy="292608"/>
          </a:xfrm>
          <a:prstGeom prst="rect">
            <a:avLst/>
          </a:prstGeom>
          <a:noFill/>
          <a:ln/>
        </p:spPr>
        <p:txBody>
          <a:bodyPr wrap="square" lIns="0" tIns="0" rIns="0" bIns="0" rtlCol="0" anchor="t"/>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indexes</a:t>
            </a:r>
            <a:endParaRPr lang="en-US" sz="1200" dirty="0"/>
          </a:p>
        </p:txBody>
      </p:sp>
      <p:sp>
        <p:nvSpPr>
          <p:cNvPr id="45" name="Text 40"/>
          <p:cNvSpPr txBox="1"/>
          <p:nvPr/>
        </p:nvSpPr>
        <p:spPr>
          <a:xfrm>
            <a:off x="10296144" y="3767328"/>
            <a:ext cx="1179576" cy="292608"/>
          </a:xfrm>
          <a:prstGeom prst="rect">
            <a:avLst/>
          </a:prstGeom>
          <a:noFill/>
          <a:ln/>
        </p:spPr>
        <p:txBody>
          <a:bodyPr wrap="square" lIns="0" tIns="0" rIns="0" bIns="0" rtlCol="0" anchor="t"/>
          <a:lstStyle/>
          <a:p>
            <a:pPr algn="ctr" indent="0" marL="0">
              <a:buNone/>
            </a:pPr>
            <a:r>
              <a:rPr lang="en-US" sz="1200" dirty="0">
                <a:solidFill>
                  <a:schemeClr val="accent6"/>
                </a:solidFill>
              </a:rPr>
              <a:t>query plans</a:t>
            </a:r>
            <a:endParaRPr lang="en-US" sz="1200" dirty="0"/>
          </a:p>
        </p:txBody>
      </p:sp>
      <p:sp>
        <p:nvSpPr>
          <p:cNvPr id="46" name="Component 62"/>
          <p:cNvSpPr/>
          <p:nvPr/>
        </p:nvSpPr>
        <p:spPr>
          <a:xfrm>
            <a:off x="2697480" y="475488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47" name="Text 42"/>
          <p:cNvSpPr txBox="1"/>
          <p:nvPr/>
        </p:nvSpPr>
        <p:spPr>
          <a:xfrm>
            <a:off x="2834640" y="486460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MongoDB Atlas (M0)</a:t>
            </a:r>
            <a:endParaRPr lang="en-US" sz="1400" dirty="0"/>
          </a:p>
        </p:txBody>
      </p:sp>
      <p:sp>
        <p:nvSpPr>
          <p:cNvPr id="48" name="Text 43"/>
          <p:cNvSpPr txBox="1"/>
          <p:nvPr/>
        </p:nvSpPr>
        <p:spPr>
          <a:xfrm>
            <a:off x="2834640" y="517550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Replica set: transactions, change streams</a:t>
            </a:r>
            <a:endParaRPr lang="en-US" sz="1200" dirty="0"/>
          </a:p>
        </p:txBody>
      </p:sp>
      <p:sp>
        <p:nvSpPr>
          <p:cNvPr id="49" name="Component 63"/>
          <p:cNvSpPr/>
          <p:nvPr/>
        </p:nvSpPr>
        <p:spPr>
          <a:xfrm>
            <a:off x="5669280" y="475488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50" name="Text 45"/>
          <p:cNvSpPr txBox="1"/>
          <p:nvPr/>
        </p:nvSpPr>
        <p:spPr>
          <a:xfrm>
            <a:off x="5806440" y="486460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mongomock (fallback)</a:t>
            </a:r>
            <a:endParaRPr lang="en-US" sz="1400" dirty="0"/>
          </a:p>
        </p:txBody>
      </p:sp>
      <p:sp>
        <p:nvSpPr>
          <p:cNvPr id="51" name="Text 46"/>
          <p:cNvSpPr txBox="1"/>
          <p:nvPr/>
        </p:nvSpPr>
        <p:spPr>
          <a:xfrm>
            <a:off x="5806440" y="517550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In-memory; runs with no network</a:t>
            </a:r>
            <a:endParaRPr lang="en-US" sz="1200" dirty="0"/>
          </a:p>
        </p:txBody>
      </p:sp>
      <p:sp>
        <p:nvSpPr>
          <p:cNvPr id="52" name="Component 64"/>
          <p:cNvSpPr/>
          <p:nvPr/>
        </p:nvSpPr>
        <p:spPr>
          <a:xfrm>
            <a:off x="8641080" y="4754880"/>
            <a:ext cx="2788920" cy="868680"/>
          </a:xfrm>
          <a:prstGeom prst="roundRect">
            <a:avLst>
              <a:gd name="adj" fmla="val 6316"/>
            </a:avLst>
          </a:prstGeom>
          <a:solidFill>
            <a:schemeClr val="bg1"/>
          </a:solidFill>
          <a:ln/>
          <a:effectLst>
            <a:outerShdw sx="100000" sy="100000" kx="0" ky="0" algn="bl" rotWithShape="0" blurRad="114300" dist="31750" dir="5400000">
              <a:srgbClr val="000000">
                <a:alpha val="14000"/>
              </a:srgbClr>
            </a:outerShdw>
          </a:effectLst>
        </p:spPr>
      </p:sp>
      <p:sp>
        <p:nvSpPr>
          <p:cNvPr id="53" name="Text 48"/>
          <p:cNvSpPr txBox="1"/>
          <p:nvPr/>
        </p:nvSpPr>
        <p:spPr>
          <a:xfrm>
            <a:off x="8778240" y="4864608"/>
            <a:ext cx="2514600" cy="292608"/>
          </a:xfrm>
          <a:prstGeom prst="rect">
            <a:avLst/>
          </a:prstGeom>
          <a:noFill/>
          <a:ln/>
        </p:spPr>
        <p:txBody>
          <a:bodyPr wrap="square" lIns="0" tIns="0" rIns="0" bIns="0" rtlCol="0" anchor="t"/>
          <a:lstStyle/>
          <a:p>
            <a:pPr algn="l" indent="0" marL="0">
              <a:buNone/>
            </a:pPr>
            <a:r>
              <a:rPr lang="en-US" sz="1400" b="1" dirty="0">
                <a:solidFill>
                  <a:schemeClr val="tx2"/>
                </a:solidFill>
              </a:rPr>
              <a:t>Shared definitions</a:t>
            </a:r>
            <a:endParaRPr lang="en-US" sz="1400" dirty="0"/>
          </a:p>
        </p:txBody>
      </p:sp>
      <p:sp>
        <p:nvSpPr>
          <p:cNvPr id="54" name="Text 49"/>
          <p:cNvSpPr txBox="1"/>
          <p:nvPr/>
        </p:nvSpPr>
        <p:spPr>
          <a:xfrm>
            <a:off x="8778240" y="5175504"/>
            <a:ext cx="2514600" cy="393192"/>
          </a:xfrm>
          <a:prstGeom prst="rect">
            <a:avLst/>
          </a:prstGeom>
          <a:noFill/>
          <a:ln/>
        </p:spPr>
        <p:txBody>
          <a:bodyPr wrap="square" lIns="0" tIns="0" rIns="0" bIns="0" rtlCol="0" anchor="t"/>
          <a:lstStyle/>
          <a:p>
            <a:pPr algn="l" indent="0" marL="0">
              <a:buNone/>
            </a:pPr>
            <a:r>
              <a:rPr lang="en-US" sz="1200" dirty="0">
                <a:solidFill>
                  <a:schemeClr val="accent6"/>
                </a:solidFill>
              </a:rPr>
              <a:t>validators.json, indexes.json, data/*.json</a:t>
            </a:r>
            <a:endParaRPr lang="en-US" sz="1200" dirty="0"/>
          </a:p>
        </p:txBody>
      </p:sp>
      <p:pic>
        <p:nvPicPr>
          <p:cNvPr id="55" name="Image 3" descr="arrow down">    </p:cNvPr>
          <p:cNvPicPr>
            <a:picLocks noChangeAspect="1"/>
          </p:cNvPicPr>
          <p:nvPr/>
        </p:nvPicPr>
        <p:blipFill>
          <a:blip r:embed="rId4"/>
          <a:stretch>
            <a:fillRect/>
          </a:stretch>
        </p:blipFill>
        <p:spPr>
          <a:xfrm>
            <a:off x="7059168" y="2953512"/>
            <a:ext cx="219456" cy="219456"/>
          </a:xfrm>
          <a:prstGeom prst="rect">
            <a:avLst/>
          </a:prstGeom>
        </p:spPr>
      </p:pic>
      <p:pic>
        <p:nvPicPr>
          <p:cNvPr id="56" name="Image 4" descr="arrow down">    </p:cNvPr>
          <p:cNvPicPr>
            <a:picLocks noChangeAspect="1"/>
          </p:cNvPicPr>
          <p:nvPr/>
        </p:nvPicPr>
        <p:blipFill>
          <a:blip r:embed="rId5"/>
          <a:stretch>
            <a:fillRect/>
          </a:stretch>
        </p:blipFill>
        <p:spPr>
          <a:xfrm>
            <a:off x="7059168" y="4370832"/>
            <a:ext cx="219456" cy="219456"/>
          </a:xfrm>
          <a:prstGeom prst="rect">
            <a:avLst/>
          </a:prstGeom>
        </p:spPr>
      </p:pic>
      <p:sp>
        <p:nvSpPr>
          <p:cNvPr id="57" name="Text 50"/>
          <p:cNvSpPr txBox="1"/>
          <p:nvPr/>
        </p:nvSpPr>
        <p:spPr>
          <a:xfrm>
            <a:off x="548640" y="5870448"/>
            <a:ext cx="11094415" cy="292608"/>
          </a:xfrm>
          <a:prstGeom prst="rect">
            <a:avLst/>
          </a:prstGeom>
          <a:noFill/>
          <a:ln/>
        </p:spPr>
        <p:txBody>
          <a:bodyPr wrap="square" lIns="0" tIns="0" rIns="0" bIns="0" rtlCol="0" anchor="ctr"/>
          <a:lstStyle/>
          <a:p>
            <a:pPr algn="l" indent="0" marL="0">
              <a:buNone/>
            </a:pPr>
            <a:r>
              <a:rPr lang="en-US" sz="1200" dirty="0">
                <a:solidFill>
                  <a:schemeClr val="accent6"/>
                </a:solidFill>
              </a:rPr>
              <a:t>The connection string lives in a git-ignored .env file; CLAIMSURE_MODE=mock switches to the in-memory fallback. The code path is the same.</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DATA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The dataset at a glance</a:t>
            </a:r>
            <a:endParaRPr lang="en-US" sz="3600" dirty="0"/>
          </a:p>
        </p:txBody>
      </p:sp>
      <p:sp>
        <p:nvSpPr>
          <p:cNvPr id="4" name="Stat 65"/>
          <p:cNvSpPr/>
          <p:nvPr/>
        </p:nvSpPr>
        <p:spPr>
          <a:xfrm>
            <a:off x="548640" y="1783080"/>
            <a:ext cx="2377440" cy="1207008"/>
          </a:xfrm>
          <a:prstGeom prst="roundRect">
            <a:avLst>
              <a:gd name="adj" fmla="val 7576"/>
            </a:avLst>
          </a:prstGeom>
          <a:solidFill>
            <a:schemeClr val="bg2"/>
          </a:solidFill>
          <a:ln/>
        </p:spPr>
      </p:sp>
      <p:sp>
        <p:nvSpPr>
          <p:cNvPr id="5" name="Text 3"/>
          <p:cNvSpPr txBox="1"/>
          <p:nvPr/>
        </p:nvSpPr>
        <p:spPr>
          <a:xfrm>
            <a:off x="777240" y="19110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16,760</a:t>
            </a:r>
            <a:endParaRPr lang="en-US" sz="2800" dirty="0"/>
          </a:p>
        </p:txBody>
      </p:sp>
      <p:sp>
        <p:nvSpPr>
          <p:cNvPr id="6" name="Text 4"/>
          <p:cNvSpPr txBox="1"/>
          <p:nvPr/>
        </p:nvSpPr>
        <p:spPr>
          <a:xfrm>
            <a:off x="777240" y="25146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documents</a:t>
            </a:r>
            <a:endParaRPr lang="en-US" sz="1400" dirty="0"/>
          </a:p>
        </p:txBody>
      </p:sp>
      <p:sp>
        <p:nvSpPr>
          <p:cNvPr id="7" name="Stat 66"/>
          <p:cNvSpPr/>
          <p:nvPr/>
        </p:nvSpPr>
        <p:spPr>
          <a:xfrm>
            <a:off x="3108960" y="1783080"/>
            <a:ext cx="2377440" cy="1207008"/>
          </a:xfrm>
          <a:prstGeom prst="roundRect">
            <a:avLst>
              <a:gd name="adj" fmla="val 7576"/>
            </a:avLst>
          </a:prstGeom>
          <a:solidFill>
            <a:schemeClr val="bg2"/>
          </a:solidFill>
          <a:ln/>
        </p:spPr>
      </p:sp>
      <p:sp>
        <p:nvSpPr>
          <p:cNvPr id="8" name="Text 6"/>
          <p:cNvSpPr txBox="1"/>
          <p:nvPr/>
        </p:nvSpPr>
        <p:spPr>
          <a:xfrm>
            <a:off x="3337560" y="19110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14</a:t>
            </a:r>
            <a:endParaRPr lang="en-US" sz="2800" dirty="0"/>
          </a:p>
        </p:txBody>
      </p:sp>
      <p:sp>
        <p:nvSpPr>
          <p:cNvPr id="9" name="Text 7"/>
          <p:cNvSpPr txBox="1"/>
          <p:nvPr/>
        </p:nvSpPr>
        <p:spPr>
          <a:xfrm>
            <a:off x="3337560" y="25146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collections</a:t>
            </a:r>
            <a:endParaRPr lang="en-US" sz="1400" dirty="0"/>
          </a:p>
        </p:txBody>
      </p:sp>
      <p:sp>
        <p:nvSpPr>
          <p:cNvPr id="10" name="Stat 67"/>
          <p:cNvSpPr/>
          <p:nvPr/>
        </p:nvSpPr>
        <p:spPr>
          <a:xfrm>
            <a:off x="548640" y="3154680"/>
            <a:ext cx="2377440" cy="1207008"/>
          </a:xfrm>
          <a:prstGeom prst="roundRect">
            <a:avLst>
              <a:gd name="adj" fmla="val 7576"/>
            </a:avLst>
          </a:prstGeom>
          <a:solidFill>
            <a:schemeClr val="bg2"/>
          </a:solidFill>
          <a:ln/>
        </p:spPr>
      </p:sp>
      <p:sp>
        <p:nvSpPr>
          <p:cNvPr id="11" name="Text 9"/>
          <p:cNvSpPr txBox="1"/>
          <p:nvPr/>
        </p:nvSpPr>
        <p:spPr>
          <a:xfrm>
            <a:off x="777240" y="32826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5,288</a:t>
            </a:r>
            <a:endParaRPr lang="en-US" sz="2800" dirty="0"/>
          </a:p>
        </p:txBody>
      </p:sp>
      <p:sp>
        <p:nvSpPr>
          <p:cNvPr id="12" name="Text 10"/>
          <p:cNvSpPr txBox="1"/>
          <p:nvPr/>
        </p:nvSpPr>
        <p:spPr>
          <a:xfrm>
            <a:off x="777240" y="38862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insured lives</a:t>
            </a:r>
            <a:endParaRPr lang="en-US" sz="1400" dirty="0"/>
          </a:p>
        </p:txBody>
      </p:sp>
      <p:sp>
        <p:nvSpPr>
          <p:cNvPr id="13" name="Stat 68"/>
          <p:cNvSpPr/>
          <p:nvPr/>
        </p:nvSpPr>
        <p:spPr>
          <a:xfrm>
            <a:off x="3108960" y="3154680"/>
            <a:ext cx="2377440" cy="1207008"/>
          </a:xfrm>
          <a:prstGeom prst="roundRect">
            <a:avLst>
              <a:gd name="adj" fmla="val 7576"/>
            </a:avLst>
          </a:prstGeom>
          <a:solidFill>
            <a:schemeClr val="bg2"/>
          </a:solidFill>
          <a:ln/>
        </p:spPr>
      </p:sp>
      <p:sp>
        <p:nvSpPr>
          <p:cNvPr id="14" name="Text 12"/>
          <p:cNvSpPr txBox="1"/>
          <p:nvPr/>
        </p:nvSpPr>
        <p:spPr>
          <a:xfrm>
            <a:off x="3337560" y="32826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2,591</a:t>
            </a:r>
            <a:endParaRPr lang="en-US" sz="2800" dirty="0"/>
          </a:p>
        </p:txBody>
      </p:sp>
      <p:sp>
        <p:nvSpPr>
          <p:cNvPr id="15" name="Text 13"/>
          <p:cNvSpPr txBox="1"/>
          <p:nvPr/>
        </p:nvSpPr>
        <p:spPr>
          <a:xfrm>
            <a:off x="3337560" y="38862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claims</a:t>
            </a:r>
            <a:endParaRPr lang="en-US" sz="1400" dirty="0"/>
          </a:p>
        </p:txBody>
      </p:sp>
      <p:sp>
        <p:nvSpPr>
          <p:cNvPr id="16" name="Stat 69"/>
          <p:cNvSpPr/>
          <p:nvPr/>
        </p:nvSpPr>
        <p:spPr>
          <a:xfrm>
            <a:off x="548640" y="4526280"/>
            <a:ext cx="2377440" cy="1207008"/>
          </a:xfrm>
          <a:prstGeom prst="roundRect">
            <a:avLst>
              <a:gd name="adj" fmla="val 7576"/>
            </a:avLst>
          </a:prstGeom>
          <a:solidFill>
            <a:schemeClr val="bg2"/>
          </a:solidFill>
          <a:ln/>
        </p:spPr>
      </p:sp>
      <p:sp>
        <p:nvSpPr>
          <p:cNvPr id="17" name="Text 15"/>
          <p:cNvSpPr txBox="1"/>
          <p:nvPr/>
        </p:nvSpPr>
        <p:spPr>
          <a:xfrm>
            <a:off x="777240" y="46542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₹34.40 Cr</a:t>
            </a:r>
            <a:endParaRPr lang="en-US" sz="2800" dirty="0"/>
          </a:p>
        </p:txBody>
      </p:sp>
      <p:sp>
        <p:nvSpPr>
          <p:cNvPr id="18" name="Text 16"/>
          <p:cNvSpPr txBox="1"/>
          <p:nvPr/>
        </p:nvSpPr>
        <p:spPr>
          <a:xfrm>
            <a:off x="777240" y="52578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claimed in total</a:t>
            </a:r>
            <a:endParaRPr lang="en-US" sz="1400" dirty="0"/>
          </a:p>
        </p:txBody>
      </p:sp>
      <p:sp>
        <p:nvSpPr>
          <p:cNvPr id="19" name="Stat 70"/>
          <p:cNvSpPr/>
          <p:nvPr/>
        </p:nvSpPr>
        <p:spPr>
          <a:xfrm>
            <a:off x="3108960" y="4526280"/>
            <a:ext cx="2377440" cy="1207008"/>
          </a:xfrm>
          <a:prstGeom prst="roundRect">
            <a:avLst>
              <a:gd name="adj" fmla="val 7576"/>
            </a:avLst>
          </a:prstGeom>
          <a:solidFill>
            <a:schemeClr val="bg2"/>
          </a:solidFill>
          <a:ln/>
        </p:spPr>
      </p:sp>
      <p:sp>
        <p:nvSpPr>
          <p:cNvPr id="20" name="Text 18"/>
          <p:cNvSpPr txBox="1"/>
          <p:nvPr/>
        </p:nvSpPr>
        <p:spPr>
          <a:xfrm>
            <a:off x="3337560" y="4654296"/>
            <a:ext cx="1920240" cy="603504"/>
          </a:xfrm>
          <a:prstGeom prst="rect">
            <a:avLst/>
          </a:prstGeom>
          <a:noFill/>
          <a:ln/>
        </p:spPr>
        <p:txBody>
          <a:bodyPr wrap="square" lIns="0" tIns="0" rIns="0" bIns="0" rtlCol="0" anchor="ctr"/>
          <a:lstStyle/>
          <a:p>
            <a:pPr algn="l" indent="0" marL="0">
              <a:buNone/>
            </a:pPr>
            <a:r>
              <a:rPr lang="en-US" sz="2800" b="1" dirty="0">
                <a:solidFill>
                  <a:schemeClr val="accent1"/>
                </a:solidFill>
              </a:rPr>
              <a:t>99</a:t>
            </a:r>
            <a:endParaRPr lang="en-US" sz="2800" dirty="0"/>
          </a:p>
        </p:txBody>
      </p:sp>
      <p:sp>
        <p:nvSpPr>
          <p:cNvPr id="21" name="Text 19"/>
          <p:cNvSpPr txBox="1"/>
          <p:nvPr/>
        </p:nvSpPr>
        <p:spPr>
          <a:xfrm>
            <a:off x="3337560" y="5257800"/>
            <a:ext cx="1920240" cy="458663"/>
          </a:xfrm>
          <a:prstGeom prst="rect">
            <a:avLst/>
          </a:prstGeom>
          <a:noFill/>
          <a:ln/>
        </p:spPr>
        <p:txBody>
          <a:bodyPr wrap="square" lIns="0" tIns="0" rIns="0" bIns="0" rtlCol="0" anchor="t"/>
          <a:lstStyle/>
          <a:p>
            <a:pPr algn="l" indent="0" marL="0">
              <a:buNone/>
            </a:pPr>
            <a:r>
              <a:rPr lang="en-US" sz="1400" dirty="0">
                <a:solidFill>
                  <a:schemeClr val="tx1"/>
                </a:solidFill>
              </a:rPr>
              <a:t>hospitals in 26 cities</a:t>
            </a:r>
            <a:endParaRPr lang="en-US" sz="1400" dirty="0"/>
          </a:p>
        </p:txBody>
      </p:sp>
      <p:graphicFrame>
        <p:nvGraphicFramePr>
          <p:cNvPr id="22" name="Documents per collection chart" descr=""/>
          <p:cNvGraphicFramePr/>
          <p:nvPr/>
        </p:nvGraphicFramePr>
        <p:xfrm>
          <a:off x="5852160" y="1737360"/>
          <a:ext cx="5788152" cy="397764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5852160" y="5760720"/>
            <a:ext cx="5788152" cy="411480"/>
          </a:xfrm>
          <a:prstGeom prst="rect">
            <a:avLst/>
          </a:prstGeom>
          <a:noFill/>
          <a:ln/>
        </p:spPr>
        <p:txBody>
          <a:bodyPr wrap="square" lIns="0" tIns="0" rIns="0" bIns="0" rtlCol="0" anchor="t"/>
          <a:lstStyle/>
          <a:p>
            <a:pPr algn="l" indent="0" marL="0">
              <a:buNone/>
            </a:pPr>
            <a:r>
              <a:rPr lang="en-US" sz="1200" dirty="0">
                <a:solidFill>
                  <a:schemeClr val="accent6"/>
                </a:solidFill>
              </a:rPr>
              <a:t>Synthetic and repeatable: tools/generate_data.py builds the same data every time from a fixed seed. All names are fictional.</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DATA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Data model: 14 collections</a:t>
            </a:r>
            <a:endParaRPr lang="en-US" sz="3600" dirty="0"/>
          </a:p>
        </p:txBody>
      </p:sp>
      <p:sp>
        <p:nvSpPr>
          <p:cNvPr id="4" name="Connector 71"/>
          <p:cNvSpPr/>
          <p:nvPr/>
        </p:nvSpPr>
        <p:spPr>
          <a:xfrm>
            <a:off x="2103120" y="2194560"/>
            <a:ext cx="347472" cy="0"/>
          </a:xfrm>
          <a:prstGeom prst="line">
            <a:avLst/>
          </a:prstGeom>
          <a:noFill/>
          <a:ln w="19050">
            <a:solidFill>
              <a:schemeClr val="accent6"/>
            </a:solidFill>
            <a:prstDash val="solid"/>
          </a:ln>
        </p:spPr>
      </p:sp>
      <p:sp>
        <p:nvSpPr>
          <p:cNvPr id="5" name="Text 3"/>
          <p:cNvSpPr txBox="1"/>
          <p:nvPr/>
        </p:nvSpPr>
        <p:spPr>
          <a:xfrm>
            <a:off x="2048256" y="197510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N:M</a:t>
            </a:r>
            <a:endParaRPr lang="en-US" sz="1000" dirty="0"/>
          </a:p>
        </p:txBody>
      </p:sp>
      <p:sp>
        <p:nvSpPr>
          <p:cNvPr id="6" name="Connector 72"/>
          <p:cNvSpPr/>
          <p:nvPr/>
        </p:nvSpPr>
        <p:spPr>
          <a:xfrm>
            <a:off x="4005072" y="2194560"/>
            <a:ext cx="347472" cy="0"/>
          </a:xfrm>
          <a:prstGeom prst="line">
            <a:avLst/>
          </a:prstGeom>
          <a:noFill/>
          <a:ln w="19050">
            <a:solidFill>
              <a:schemeClr val="accent6"/>
            </a:solidFill>
            <a:prstDash val="solid"/>
          </a:ln>
        </p:spPr>
      </p:sp>
      <p:sp>
        <p:nvSpPr>
          <p:cNvPr id="7" name="Text 5"/>
          <p:cNvSpPr txBox="1"/>
          <p:nvPr/>
        </p:nvSpPr>
        <p:spPr>
          <a:xfrm>
            <a:off x="3950208" y="197510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8" name="Connector 73"/>
          <p:cNvSpPr/>
          <p:nvPr/>
        </p:nvSpPr>
        <p:spPr>
          <a:xfrm>
            <a:off x="5129784" y="2560320"/>
            <a:ext cx="0" cy="731520"/>
          </a:xfrm>
          <a:prstGeom prst="line">
            <a:avLst/>
          </a:prstGeom>
          <a:noFill/>
          <a:ln w="19050">
            <a:solidFill>
              <a:schemeClr val="accent6"/>
            </a:solidFill>
            <a:prstDash val="solid"/>
          </a:ln>
        </p:spPr>
      </p:sp>
      <p:sp>
        <p:nvSpPr>
          <p:cNvPr id="9" name="Text 7"/>
          <p:cNvSpPr txBox="1"/>
          <p:nvPr/>
        </p:nvSpPr>
        <p:spPr>
          <a:xfrm>
            <a:off x="5166360" y="2816352"/>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10" name="Connector 74"/>
          <p:cNvSpPr/>
          <p:nvPr/>
        </p:nvSpPr>
        <p:spPr>
          <a:xfrm>
            <a:off x="4005072" y="3657600"/>
            <a:ext cx="347472" cy="0"/>
          </a:xfrm>
          <a:prstGeom prst="line">
            <a:avLst/>
          </a:prstGeom>
          <a:noFill/>
          <a:ln w="19050">
            <a:solidFill>
              <a:schemeClr val="accent6"/>
            </a:solidFill>
            <a:prstDash val="solid"/>
          </a:ln>
        </p:spPr>
      </p:sp>
      <p:sp>
        <p:nvSpPr>
          <p:cNvPr id="11" name="Text 9"/>
          <p:cNvSpPr txBox="1"/>
          <p:nvPr/>
        </p:nvSpPr>
        <p:spPr>
          <a:xfrm>
            <a:off x="3950208" y="343814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N:M</a:t>
            </a:r>
            <a:endParaRPr lang="en-US" sz="1000" dirty="0"/>
          </a:p>
        </p:txBody>
      </p:sp>
      <p:sp>
        <p:nvSpPr>
          <p:cNvPr id="12" name="Connector 75"/>
          <p:cNvSpPr/>
          <p:nvPr/>
        </p:nvSpPr>
        <p:spPr>
          <a:xfrm>
            <a:off x="5907024" y="3657600"/>
            <a:ext cx="347472" cy="0"/>
          </a:xfrm>
          <a:prstGeom prst="line">
            <a:avLst/>
          </a:prstGeom>
          <a:noFill/>
          <a:ln w="19050">
            <a:solidFill>
              <a:schemeClr val="accent6"/>
            </a:solidFill>
            <a:prstDash val="solid"/>
          </a:ln>
        </p:spPr>
      </p:sp>
      <p:sp>
        <p:nvSpPr>
          <p:cNvPr id="13" name="Text 11"/>
          <p:cNvSpPr txBox="1"/>
          <p:nvPr/>
        </p:nvSpPr>
        <p:spPr>
          <a:xfrm>
            <a:off x="5852160" y="343814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14" name="Connector 76"/>
          <p:cNvSpPr/>
          <p:nvPr/>
        </p:nvSpPr>
        <p:spPr>
          <a:xfrm>
            <a:off x="7808976" y="3657600"/>
            <a:ext cx="347472" cy="0"/>
          </a:xfrm>
          <a:prstGeom prst="line">
            <a:avLst/>
          </a:prstGeom>
          <a:noFill/>
          <a:ln w="19050">
            <a:solidFill>
              <a:schemeClr val="accent6"/>
            </a:solidFill>
            <a:prstDash val="solid"/>
          </a:ln>
        </p:spPr>
      </p:sp>
      <p:sp>
        <p:nvSpPr>
          <p:cNvPr id="15" name="Text 13"/>
          <p:cNvSpPr txBox="1"/>
          <p:nvPr/>
        </p:nvSpPr>
        <p:spPr>
          <a:xfrm>
            <a:off x="7754112" y="343814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1:1</a:t>
            </a:r>
            <a:endParaRPr lang="en-US" sz="1000" dirty="0"/>
          </a:p>
        </p:txBody>
      </p:sp>
      <p:sp>
        <p:nvSpPr>
          <p:cNvPr id="16" name="Connector 77"/>
          <p:cNvSpPr/>
          <p:nvPr/>
        </p:nvSpPr>
        <p:spPr>
          <a:xfrm>
            <a:off x="7031736" y="2560320"/>
            <a:ext cx="0" cy="731520"/>
          </a:xfrm>
          <a:prstGeom prst="line">
            <a:avLst/>
          </a:prstGeom>
          <a:noFill/>
          <a:ln w="19050">
            <a:solidFill>
              <a:schemeClr val="accent6"/>
            </a:solidFill>
            <a:prstDash val="solid"/>
          </a:ln>
        </p:spPr>
      </p:sp>
      <p:sp>
        <p:nvSpPr>
          <p:cNvPr id="17" name="Text 15"/>
          <p:cNvSpPr txBox="1"/>
          <p:nvPr/>
        </p:nvSpPr>
        <p:spPr>
          <a:xfrm>
            <a:off x="7068312" y="2816352"/>
            <a:ext cx="640080" cy="201168"/>
          </a:xfrm>
          <a:prstGeom prst="rect">
            <a:avLst/>
          </a:prstGeom>
          <a:noFill/>
          <a:ln/>
        </p:spPr>
        <p:txBody>
          <a:bodyPr wrap="square" lIns="0" tIns="0" rIns="0" bIns="0" rtlCol="0" anchor="ctr"/>
          <a:lstStyle/>
          <a:p>
            <a:pPr algn="ctr" indent="0" marL="0">
              <a:buNone/>
            </a:pPr>
            <a:r>
              <a:rPr lang="en-US" sz="1000" dirty="0">
                <a:solidFill>
                  <a:schemeClr val="accent6"/>
                </a:solidFill>
              </a:rPr>
              <a:t>decides</a:t>
            </a:r>
            <a:endParaRPr lang="en-US" sz="1000" dirty="0"/>
          </a:p>
        </p:txBody>
      </p:sp>
      <p:sp>
        <p:nvSpPr>
          <p:cNvPr id="18" name="Connector 78"/>
          <p:cNvSpPr/>
          <p:nvPr/>
        </p:nvSpPr>
        <p:spPr>
          <a:xfrm flipV="1">
            <a:off x="7808976" y="2560320"/>
            <a:ext cx="347472" cy="731520"/>
          </a:xfrm>
          <a:prstGeom prst="line">
            <a:avLst/>
          </a:prstGeom>
          <a:noFill/>
          <a:ln w="19050">
            <a:solidFill>
              <a:schemeClr val="accent6"/>
            </a:solidFill>
            <a:prstDash val="solid"/>
          </a:ln>
        </p:spPr>
      </p:sp>
      <p:sp>
        <p:nvSpPr>
          <p:cNvPr id="19" name="Text 17"/>
          <p:cNvSpPr txBox="1"/>
          <p:nvPr/>
        </p:nvSpPr>
        <p:spPr>
          <a:xfrm>
            <a:off x="7991856" y="2962656"/>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20" name="Connector 79"/>
          <p:cNvSpPr/>
          <p:nvPr/>
        </p:nvSpPr>
        <p:spPr>
          <a:xfrm flipV="1">
            <a:off x="4005072" y="4023360"/>
            <a:ext cx="347472" cy="731520"/>
          </a:xfrm>
          <a:prstGeom prst="line">
            <a:avLst/>
          </a:prstGeom>
          <a:noFill/>
          <a:ln w="19050">
            <a:solidFill>
              <a:schemeClr val="accent6"/>
            </a:solidFill>
            <a:prstDash val="solid"/>
          </a:ln>
        </p:spPr>
      </p:sp>
      <p:sp>
        <p:nvSpPr>
          <p:cNvPr id="21" name="Text 19"/>
          <p:cNvSpPr txBox="1"/>
          <p:nvPr/>
        </p:nvSpPr>
        <p:spPr>
          <a:xfrm>
            <a:off x="4187952" y="4425696"/>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22" name="Connector 80"/>
          <p:cNvSpPr/>
          <p:nvPr/>
        </p:nvSpPr>
        <p:spPr>
          <a:xfrm flipV="1">
            <a:off x="5907024" y="4023360"/>
            <a:ext cx="347472" cy="731520"/>
          </a:xfrm>
          <a:prstGeom prst="line">
            <a:avLst/>
          </a:prstGeom>
          <a:noFill/>
          <a:ln w="19050">
            <a:solidFill>
              <a:schemeClr val="accent6"/>
            </a:solidFill>
            <a:prstDash val="solid"/>
          </a:ln>
        </p:spPr>
      </p:sp>
      <p:sp>
        <p:nvSpPr>
          <p:cNvPr id="23" name="Text 21"/>
          <p:cNvSpPr txBox="1"/>
          <p:nvPr/>
        </p:nvSpPr>
        <p:spPr>
          <a:xfrm>
            <a:off x="6089904" y="4425696"/>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24" name="Connector 81"/>
          <p:cNvSpPr/>
          <p:nvPr/>
        </p:nvSpPr>
        <p:spPr>
          <a:xfrm>
            <a:off x="7031736" y="4023360"/>
            <a:ext cx="0" cy="731520"/>
          </a:xfrm>
          <a:prstGeom prst="line">
            <a:avLst/>
          </a:prstGeom>
          <a:noFill/>
          <a:ln w="19050">
            <a:solidFill>
              <a:schemeClr val="accent6"/>
            </a:solidFill>
            <a:prstDash val="solid"/>
          </a:ln>
        </p:spPr>
      </p:sp>
      <p:sp>
        <p:nvSpPr>
          <p:cNvPr id="25" name="Text 23"/>
          <p:cNvSpPr txBox="1"/>
          <p:nvPr/>
        </p:nvSpPr>
        <p:spPr>
          <a:xfrm>
            <a:off x="7068312" y="4279392"/>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26" name="Connector 82"/>
          <p:cNvSpPr/>
          <p:nvPr/>
        </p:nvSpPr>
        <p:spPr>
          <a:xfrm>
            <a:off x="7808976" y="5120640"/>
            <a:ext cx="347472" cy="0"/>
          </a:xfrm>
          <a:prstGeom prst="line">
            <a:avLst/>
          </a:prstGeom>
          <a:noFill/>
          <a:ln w="19050">
            <a:solidFill>
              <a:schemeClr val="accent6"/>
            </a:solidFill>
            <a:prstDash val="solid"/>
          </a:ln>
        </p:spPr>
      </p:sp>
      <p:sp>
        <p:nvSpPr>
          <p:cNvPr id="27" name="Text 25"/>
          <p:cNvSpPr txBox="1"/>
          <p:nvPr/>
        </p:nvSpPr>
        <p:spPr>
          <a:xfrm>
            <a:off x="7754112" y="4901184"/>
            <a:ext cx="457200" cy="201168"/>
          </a:xfrm>
          <a:prstGeom prst="rect">
            <a:avLst/>
          </a:prstGeom>
          <a:noFill/>
          <a:ln/>
        </p:spPr>
        <p:txBody>
          <a:bodyPr wrap="square" lIns="0" tIns="0" rIns="0" bIns="0" rtlCol="0" anchor="ctr"/>
          <a:lstStyle/>
          <a:p>
            <a:pPr algn="ctr" indent="0" marL="0">
              <a:buNone/>
            </a:pPr>
            <a:r>
              <a:rPr lang="en-US" sz="1000" dirty="0">
                <a:solidFill>
                  <a:schemeClr val="accent6"/>
                </a:solidFill>
              </a:rPr>
              <a:t>1:N</a:t>
            </a:r>
            <a:endParaRPr lang="en-US" sz="1000" dirty="0"/>
          </a:p>
        </p:txBody>
      </p:sp>
      <p:sp>
        <p:nvSpPr>
          <p:cNvPr id="28" name="Collection tpas"/>
          <p:cNvSpPr/>
          <p:nvPr/>
        </p:nvSpPr>
        <p:spPr>
          <a:xfrm>
            <a:off x="548640" y="1828800"/>
            <a:ext cx="1554480" cy="731520"/>
          </a:xfrm>
          <a:prstGeom prst="roundRect">
            <a:avLst>
              <a:gd name="adj" fmla="val 8750"/>
            </a:avLst>
          </a:prstGeom>
          <a:solidFill>
            <a:schemeClr val="bg2"/>
          </a:solidFill>
          <a:ln/>
        </p:spPr>
      </p:sp>
      <p:sp>
        <p:nvSpPr>
          <p:cNvPr id="29" name="Text 27"/>
          <p:cNvSpPr txBox="1"/>
          <p:nvPr/>
        </p:nvSpPr>
        <p:spPr>
          <a:xfrm>
            <a:off x="548640"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tpas</a:t>
            </a:r>
            <a:endParaRPr lang="en-US" sz="1300" dirty="0"/>
          </a:p>
        </p:txBody>
      </p:sp>
      <p:sp>
        <p:nvSpPr>
          <p:cNvPr id="30" name="Text 28"/>
          <p:cNvSpPr txBox="1"/>
          <p:nvPr/>
        </p:nvSpPr>
        <p:spPr>
          <a:xfrm>
            <a:off x="548640"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6 docs</a:t>
            </a:r>
            <a:endParaRPr lang="en-US" sz="1100" dirty="0"/>
          </a:p>
        </p:txBody>
      </p:sp>
      <p:sp>
        <p:nvSpPr>
          <p:cNvPr id="31" name="Collection insurers"/>
          <p:cNvSpPr/>
          <p:nvPr/>
        </p:nvSpPr>
        <p:spPr>
          <a:xfrm>
            <a:off x="2450592" y="1828800"/>
            <a:ext cx="1554480" cy="731520"/>
          </a:xfrm>
          <a:prstGeom prst="roundRect">
            <a:avLst>
              <a:gd name="adj" fmla="val 8750"/>
            </a:avLst>
          </a:prstGeom>
          <a:solidFill>
            <a:schemeClr val="bg2"/>
          </a:solidFill>
          <a:ln/>
        </p:spPr>
      </p:sp>
      <p:sp>
        <p:nvSpPr>
          <p:cNvPr id="32" name="Text 30"/>
          <p:cNvSpPr txBox="1"/>
          <p:nvPr/>
        </p:nvSpPr>
        <p:spPr>
          <a:xfrm>
            <a:off x="2450592"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insurers</a:t>
            </a:r>
            <a:endParaRPr lang="en-US" sz="1300" dirty="0"/>
          </a:p>
        </p:txBody>
      </p:sp>
      <p:sp>
        <p:nvSpPr>
          <p:cNvPr id="33" name="Text 31"/>
          <p:cNvSpPr txBox="1"/>
          <p:nvPr/>
        </p:nvSpPr>
        <p:spPr>
          <a:xfrm>
            <a:off x="2450592"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10 docs</a:t>
            </a:r>
            <a:endParaRPr lang="en-US" sz="1100" dirty="0"/>
          </a:p>
        </p:txBody>
      </p:sp>
      <p:sp>
        <p:nvSpPr>
          <p:cNvPr id="34" name="Collection plans"/>
          <p:cNvSpPr/>
          <p:nvPr/>
        </p:nvSpPr>
        <p:spPr>
          <a:xfrm>
            <a:off x="4352544" y="1828800"/>
            <a:ext cx="1554480" cy="731520"/>
          </a:xfrm>
          <a:prstGeom prst="roundRect">
            <a:avLst>
              <a:gd name="adj" fmla="val 8750"/>
            </a:avLst>
          </a:prstGeom>
          <a:solidFill>
            <a:schemeClr val="bg2"/>
          </a:solidFill>
          <a:ln/>
        </p:spPr>
      </p:sp>
      <p:sp>
        <p:nvSpPr>
          <p:cNvPr id="35" name="Text 33"/>
          <p:cNvSpPr txBox="1"/>
          <p:nvPr/>
        </p:nvSpPr>
        <p:spPr>
          <a:xfrm>
            <a:off x="4352544"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plans</a:t>
            </a:r>
            <a:endParaRPr lang="en-US" sz="1300" dirty="0"/>
          </a:p>
        </p:txBody>
      </p:sp>
      <p:sp>
        <p:nvSpPr>
          <p:cNvPr id="36" name="Text 34"/>
          <p:cNvSpPr txBox="1"/>
          <p:nvPr/>
        </p:nvSpPr>
        <p:spPr>
          <a:xfrm>
            <a:off x="4352544"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35 docs</a:t>
            </a:r>
            <a:endParaRPr lang="en-US" sz="1100" dirty="0"/>
          </a:p>
        </p:txBody>
      </p:sp>
      <p:sp>
        <p:nvSpPr>
          <p:cNvPr id="37" name="Collection users"/>
          <p:cNvSpPr/>
          <p:nvPr/>
        </p:nvSpPr>
        <p:spPr>
          <a:xfrm>
            <a:off x="6254496" y="1828800"/>
            <a:ext cx="1554480" cy="731520"/>
          </a:xfrm>
          <a:prstGeom prst="roundRect">
            <a:avLst>
              <a:gd name="adj" fmla="val 8750"/>
            </a:avLst>
          </a:prstGeom>
          <a:solidFill>
            <a:schemeClr val="bg2"/>
          </a:solidFill>
          <a:ln/>
        </p:spPr>
      </p:sp>
      <p:sp>
        <p:nvSpPr>
          <p:cNvPr id="38" name="Text 36"/>
          <p:cNvSpPr txBox="1"/>
          <p:nvPr/>
        </p:nvSpPr>
        <p:spPr>
          <a:xfrm>
            <a:off x="6254496"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users</a:t>
            </a:r>
            <a:endParaRPr lang="en-US" sz="1300" dirty="0"/>
          </a:p>
        </p:txBody>
      </p:sp>
      <p:sp>
        <p:nvSpPr>
          <p:cNvPr id="39" name="Text 37"/>
          <p:cNvSpPr txBox="1"/>
          <p:nvPr/>
        </p:nvSpPr>
        <p:spPr>
          <a:xfrm>
            <a:off x="6254496"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24 docs</a:t>
            </a:r>
            <a:endParaRPr lang="en-US" sz="1100" dirty="0"/>
          </a:p>
        </p:txBody>
      </p:sp>
      <p:sp>
        <p:nvSpPr>
          <p:cNvPr id="40" name="Collection grievances"/>
          <p:cNvSpPr/>
          <p:nvPr/>
        </p:nvSpPr>
        <p:spPr>
          <a:xfrm>
            <a:off x="8156448" y="1828800"/>
            <a:ext cx="1554480" cy="731520"/>
          </a:xfrm>
          <a:prstGeom prst="roundRect">
            <a:avLst>
              <a:gd name="adj" fmla="val 8750"/>
            </a:avLst>
          </a:prstGeom>
          <a:solidFill>
            <a:schemeClr val="accent2">
              <a:alpha val="22000"/>
            </a:schemeClr>
          </a:solidFill>
          <a:ln/>
        </p:spPr>
      </p:sp>
      <p:sp>
        <p:nvSpPr>
          <p:cNvPr id="41" name="Text 39"/>
          <p:cNvSpPr txBox="1"/>
          <p:nvPr/>
        </p:nvSpPr>
        <p:spPr>
          <a:xfrm>
            <a:off x="8156448"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grievances</a:t>
            </a:r>
            <a:endParaRPr lang="en-US" sz="1300" dirty="0"/>
          </a:p>
        </p:txBody>
      </p:sp>
      <p:sp>
        <p:nvSpPr>
          <p:cNvPr id="42" name="Text 40"/>
          <p:cNvSpPr txBox="1"/>
          <p:nvPr/>
        </p:nvSpPr>
        <p:spPr>
          <a:xfrm>
            <a:off x="8156448"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253 docs</a:t>
            </a:r>
            <a:endParaRPr lang="en-US" sz="1100" dirty="0"/>
          </a:p>
        </p:txBody>
      </p:sp>
      <p:sp>
        <p:nvSpPr>
          <p:cNvPr id="43" name="Collection audit_logs"/>
          <p:cNvSpPr/>
          <p:nvPr/>
        </p:nvSpPr>
        <p:spPr>
          <a:xfrm>
            <a:off x="10058400" y="1828800"/>
            <a:ext cx="1554480" cy="731520"/>
          </a:xfrm>
          <a:prstGeom prst="roundRect">
            <a:avLst>
              <a:gd name="adj" fmla="val 8750"/>
            </a:avLst>
          </a:prstGeom>
          <a:solidFill>
            <a:schemeClr val="accent2">
              <a:alpha val="22000"/>
            </a:schemeClr>
          </a:solidFill>
          <a:ln/>
        </p:spPr>
      </p:sp>
      <p:sp>
        <p:nvSpPr>
          <p:cNvPr id="44" name="Text 42"/>
          <p:cNvSpPr txBox="1"/>
          <p:nvPr/>
        </p:nvSpPr>
        <p:spPr>
          <a:xfrm>
            <a:off x="10058400" y="192024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audit_logs</a:t>
            </a:r>
            <a:endParaRPr lang="en-US" sz="1300" dirty="0"/>
          </a:p>
        </p:txBody>
      </p:sp>
      <p:sp>
        <p:nvSpPr>
          <p:cNvPr id="45" name="Text 43"/>
          <p:cNvSpPr txBox="1"/>
          <p:nvPr/>
        </p:nvSpPr>
        <p:spPr>
          <a:xfrm>
            <a:off x="10058400" y="223113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3,631 docs</a:t>
            </a:r>
            <a:endParaRPr lang="en-US" sz="1100" dirty="0"/>
          </a:p>
        </p:txBody>
      </p:sp>
      <p:sp>
        <p:nvSpPr>
          <p:cNvPr id="46" name="Collection members"/>
          <p:cNvSpPr/>
          <p:nvPr/>
        </p:nvSpPr>
        <p:spPr>
          <a:xfrm>
            <a:off x="2450592" y="3291840"/>
            <a:ext cx="1554480" cy="731520"/>
          </a:xfrm>
          <a:prstGeom prst="roundRect">
            <a:avLst>
              <a:gd name="adj" fmla="val 8750"/>
            </a:avLst>
          </a:prstGeom>
          <a:solidFill>
            <a:schemeClr val="bg2"/>
          </a:solidFill>
          <a:ln/>
        </p:spPr>
      </p:sp>
      <p:sp>
        <p:nvSpPr>
          <p:cNvPr id="47" name="Text 45"/>
          <p:cNvSpPr txBox="1"/>
          <p:nvPr/>
        </p:nvSpPr>
        <p:spPr>
          <a:xfrm>
            <a:off x="2450592" y="338328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members</a:t>
            </a:r>
            <a:endParaRPr lang="en-US" sz="1300" dirty="0"/>
          </a:p>
        </p:txBody>
      </p:sp>
      <p:sp>
        <p:nvSpPr>
          <p:cNvPr id="48" name="Text 46"/>
          <p:cNvSpPr txBox="1"/>
          <p:nvPr/>
        </p:nvSpPr>
        <p:spPr>
          <a:xfrm>
            <a:off x="2450592" y="369417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5,288 docs</a:t>
            </a:r>
            <a:endParaRPr lang="en-US" sz="1100" dirty="0"/>
          </a:p>
        </p:txBody>
      </p:sp>
      <p:sp>
        <p:nvSpPr>
          <p:cNvPr id="49" name="Collection policies"/>
          <p:cNvSpPr/>
          <p:nvPr/>
        </p:nvSpPr>
        <p:spPr>
          <a:xfrm>
            <a:off x="4352544" y="3291840"/>
            <a:ext cx="1554480" cy="731520"/>
          </a:xfrm>
          <a:prstGeom prst="roundRect">
            <a:avLst>
              <a:gd name="adj" fmla="val 8750"/>
            </a:avLst>
          </a:prstGeom>
          <a:solidFill>
            <a:schemeClr val="accent2">
              <a:alpha val="22000"/>
            </a:schemeClr>
          </a:solidFill>
          <a:ln/>
        </p:spPr>
      </p:sp>
      <p:sp>
        <p:nvSpPr>
          <p:cNvPr id="50" name="Text 48"/>
          <p:cNvSpPr txBox="1"/>
          <p:nvPr/>
        </p:nvSpPr>
        <p:spPr>
          <a:xfrm>
            <a:off x="4352544" y="338328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policies</a:t>
            </a:r>
            <a:endParaRPr lang="en-US" sz="1300" dirty="0"/>
          </a:p>
        </p:txBody>
      </p:sp>
      <p:sp>
        <p:nvSpPr>
          <p:cNvPr id="51" name="Text 49"/>
          <p:cNvSpPr txBox="1"/>
          <p:nvPr/>
        </p:nvSpPr>
        <p:spPr>
          <a:xfrm>
            <a:off x="4352544" y="369417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2,200 docs</a:t>
            </a:r>
            <a:endParaRPr lang="en-US" sz="1100" dirty="0"/>
          </a:p>
        </p:txBody>
      </p:sp>
      <p:sp>
        <p:nvSpPr>
          <p:cNvPr id="52" name="Collection claims"/>
          <p:cNvSpPr/>
          <p:nvPr/>
        </p:nvSpPr>
        <p:spPr>
          <a:xfrm>
            <a:off x="6254496" y="3291840"/>
            <a:ext cx="1554480" cy="731520"/>
          </a:xfrm>
          <a:prstGeom prst="roundRect">
            <a:avLst>
              <a:gd name="adj" fmla="val 8750"/>
            </a:avLst>
          </a:prstGeom>
          <a:solidFill>
            <a:schemeClr val="tx2"/>
          </a:solidFill>
          <a:ln/>
        </p:spPr>
      </p:sp>
      <p:sp>
        <p:nvSpPr>
          <p:cNvPr id="53" name="Text 51"/>
          <p:cNvSpPr txBox="1"/>
          <p:nvPr/>
        </p:nvSpPr>
        <p:spPr>
          <a:xfrm>
            <a:off x="6254496" y="3383280"/>
            <a:ext cx="1554480"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claims</a:t>
            </a:r>
            <a:endParaRPr lang="en-US" sz="1300" dirty="0"/>
          </a:p>
        </p:txBody>
      </p:sp>
      <p:sp>
        <p:nvSpPr>
          <p:cNvPr id="54" name="Text 52"/>
          <p:cNvSpPr txBox="1"/>
          <p:nvPr/>
        </p:nvSpPr>
        <p:spPr>
          <a:xfrm>
            <a:off x="6254496" y="3694176"/>
            <a:ext cx="1554480" cy="237744"/>
          </a:xfrm>
          <a:prstGeom prst="rect">
            <a:avLst/>
          </a:prstGeom>
          <a:noFill/>
          <a:ln/>
        </p:spPr>
        <p:txBody>
          <a:bodyPr wrap="square" lIns="0" tIns="0" rIns="0" bIns="0" rtlCol="0" anchor="ctr"/>
          <a:lstStyle/>
          <a:p>
            <a:pPr algn="ctr" indent="0" marL="0">
              <a:buNone/>
            </a:pPr>
            <a:r>
              <a:rPr lang="en-US" sz="1100" dirty="0">
                <a:solidFill>
                  <a:schemeClr val="bg2"/>
                </a:solidFill>
              </a:rPr>
              <a:t>2,591 docs</a:t>
            </a:r>
            <a:endParaRPr lang="en-US" sz="1100" dirty="0"/>
          </a:p>
        </p:txBody>
      </p:sp>
      <p:sp>
        <p:nvSpPr>
          <p:cNvPr id="55" name="Collection payments"/>
          <p:cNvSpPr/>
          <p:nvPr/>
        </p:nvSpPr>
        <p:spPr>
          <a:xfrm>
            <a:off x="8156448" y="3291840"/>
            <a:ext cx="1554480" cy="731520"/>
          </a:xfrm>
          <a:prstGeom prst="roundRect">
            <a:avLst>
              <a:gd name="adj" fmla="val 8750"/>
            </a:avLst>
          </a:prstGeom>
          <a:solidFill>
            <a:schemeClr val="accent2">
              <a:alpha val="22000"/>
            </a:schemeClr>
          </a:solidFill>
          <a:ln/>
        </p:spPr>
      </p:sp>
      <p:sp>
        <p:nvSpPr>
          <p:cNvPr id="56" name="Text 54"/>
          <p:cNvSpPr txBox="1"/>
          <p:nvPr/>
        </p:nvSpPr>
        <p:spPr>
          <a:xfrm>
            <a:off x="8156448" y="338328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payments</a:t>
            </a:r>
            <a:endParaRPr lang="en-US" sz="1300" dirty="0"/>
          </a:p>
        </p:txBody>
      </p:sp>
      <p:sp>
        <p:nvSpPr>
          <p:cNvPr id="57" name="Text 55"/>
          <p:cNvSpPr txBox="1"/>
          <p:nvPr/>
        </p:nvSpPr>
        <p:spPr>
          <a:xfrm>
            <a:off x="8156448" y="369417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2,039 docs</a:t>
            </a:r>
            <a:endParaRPr lang="en-US" sz="1100" dirty="0"/>
          </a:p>
        </p:txBody>
      </p:sp>
      <p:sp>
        <p:nvSpPr>
          <p:cNvPr id="58" name="Collection agents"/>
          <p:cNvSpPr/>
          <p:nvPr/>
        </p:nvSpPr>
        <p:spPr>
          <a:xfrm>
            <a:off x="2450592" y="4754880"/>
            <a:ext cx="1554480" cy="731520"/>
          </a:xfrm>
          <a:prstGeom prst="roundRect">
            <a:avLst>
              <a:gd name="adj" fmla="val 8750"/>
            </a:avLst>
          </a:prstGeom>
          <a:solidFill>
            <a:schemeClr val="bg2"/>
          </a:solidFill>
          <a:ln/>
        </p:spPr>
      </p:sp>
      <p:sp>
        <p:nvSpPr>
          <p:cNvPr id="59" name="Text 57"/>
          <p:cNvSpPr txBox="1"/>
          <p:nvPr/>
        </p:nvSpPr>
        <p:spPr>
          <a:xfrm>
            <a:off x="2450592" y="484632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agents</a:t>
            </a:r>
            <a:endParaRPr lang="en-US" sz="1300" dirty="0"/>
          </a:p>
        </p:txBody>
      </p:sp>
      <p:sp>
        <p:nvSpPr>
          <p:cNvPr id="60" name="Text 58"/>
          <p:cNvSpPr txBox="1"/>
          <p:nvPr/>
        </p:nvSpPr>
        <p:spPr>
          <a:xfrm>
            <a:off x="2450592" y="515721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45 docs</a:t>
            </a:r>
            <a:endParaRPr lang="en-US" sz="1100" dirty="0"/>
          </a:p>
        </p:txBody>
      </p:sp>
      <p:sp>
        <p:nvSpPr>
          <p:cNvPr id="61" name="Collection icd_codes"/>
          <p:cNvSpPr/>
          <p:nvPr/>
        </p:nvSpPr>
        <p:spPr>
          <a:xfrm>
            <a:off x="4352544" y="4754880"/>
            <a:ext cx="1554480" cy="731520"/>
          </a:xfrm>
          <a:prstGeom prst="roundRect">
            <a:avLst>
              <a:gd name="adj" fmla="val 8750"/>
            </a:avLst>
          </a:prstGeom>
          <a:solidFill>
            <a:schemeClr val="bg2"/>
          </a:solidFill>
          <a:ln/>
        </p:spPr>
      </p:sp>
      <p:sp>
        <p:nvSpPr>
          <p:cNvPr id="62" name="Text 60"/>
          <p:cNvSpPr txBox="1"/>
          <p:nvPr/>
        </p:nvSpPr>
        <p:spPr>
          <a:xfrm>
            <a:off x="4352544" y="484632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icd_codes</a:t>
            </a:r>
            <a:endParaRPr lang="en-US" sz="1300" dirty="0"/>
          </a:p>
        </p:txBody>
      </p:sp>
      <p:sp>
        <p:nvSpPr>
          <p:cNvPr id="63" name="Text 61"/>
          <p:cNvSpPr txBox="1"/>
          <p:nvPr/>
        </p:nvSpPr>
        <p:spPr>
          <a:xfrm>
            <a:off x="4352544" y="515721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55 docs</a:t>
            </a:r>
            <a:endParaRPr lang="en-US" sz="1100" dirty="0"/>
          </a:p>
        </p:txBody>
      </p:sp>
      <p:sp>
        <p:nvSpPr>
          <p:cNvPr id="64" name="Collection hospitals"/>
          <p:cNvSpPr/>
          <p:nvPr/>
        </p:nvSpPr>
        <p:spPr>
          <a:xfrm>
            <a:off x="6254496" y="4754880"/>
            <a:ext cx="1554480" cy="731520"/>
          </a:xfrm>
          <a:prstGeom prst="roundRect">
            <a:avLst>
              <a:gd name="adj" fmla="val 8750"/>
            </a:avLst>
          </a:prstGeom>
          <a:solidFill>
            <a:schemeClr val="bg2"/>
          </a:solidFill>
          <a:ln/>
        </p:spPr>
      </p:sp>
      <p:sp>
        <p:nvSpPr>
          <p:cNvPr id="65" name="Text 63"/>
          <p:cNvSpPr txBox="1"/>
          <p:nvPr/>
        </p:nvSpPr>
        <p:spPr>
          <a:xfrm>
            <a:off x="6254496" y="484632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hospitals</a:t>
            </a:r>
            <a:endParaRPr lang="en-US" sz="1300" dirty="0"/>
          </a:p>
        </p:txBody>
      </p:sp>
      <p:sp>
        <p:nvSpPr>
          <p:cNvPr id="66" name="Text 64"/>
          <p:cNvSpPr txBox="1"/>
          <p:nvPr/>
        </p:nvSpPr>
        <p:spPr>
          <a:xfrm>
            <a:off x="6254496" y="515721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99 docs</a:t>
            </a:r>
            <a:endParaRPr lang="en-US" sz="1100" dirty="0"/>
          </a:p>
        </p:txBody>
      </p:sp>
      <p:sp>
        <p:nvSpPr>
          <p:cNvPr id="67" name="Collection doctors"/>
          <p:cNvSpPr/>
          <p:nvPr/>
        </p:nvSpPr>
        <p:spPr>
          <a:xfrm>
            <a:off x="8156448" y="4754880"/>
            <a:ext cx="1554480" cy="731520"/>
          </a:xfrm>
          <a:prstGeom prst="roundRect">
            <a:avLst>
              <a:gd name="adj" fmla="val 8750"/>
            </a:avLst>
          </a:prstGeom>
          <a:solidFill>
            <a:schemeClr val="bg2"/>
          </a:solidFill>
          <a:ln/>
        </p:spPr>
      </p:sp>
      <p:sp>
        <p:nvSpPr>
          <p:cNvPr id="68" name="Text 66"/>
          <p:cNvSpPr txBox="1"/>
          <p:nvPr/>
        </p:nvSpPr>
        <p:spPr>
          <a:xfrm>
            <a:off x="8156448" y="4846320"/>
            <a:ext cx="1554480" cy="310896"/>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doctors</a:t>
            </a:r>
            <a:endParaRPr lang="en-US" sz="1300" dirty="0"/>
          </a:p>
        </p:txBody>
      </p:sp>
      <p:sp>
        <p:nvSpPr>
          <p:cNvPr id="69" name="Text 67"/>
          <p:cNvSpPr txBox="1"/>
          <p:nvPr/>
        </p:nvSpPr>
        <p:spPr>
          <a:xfrm>
            <a:off x="8156448" y="5157216"/>
            <a:ext cx="1554480" cy="237744"/>
          </a:xfrm>
          <a:prstGeom prst="rect">
            <a:avLst/>
          </a:prstGeom>
          <a:noFill/>
          <a:ln/>
        </p:spPr>
        <p:txBody>
          <a:bodyPr wrap="square" lIns="0" tIns="0" rIns="0" bIns="0" rtlCol="0" anchor="ctr"/>
          <a:lstStyle/>
          <a:p>
            <a:pPr algn="ctr" indent="0" marL="0">
              <a:buNone/>
            </a:pPr>
            <a:r>
              <a:rPr lang="en-US" sz="1100" dirty="0">
                <a:solidFill>
                  <a:schemeClr val="accent6"/>
                </a:solidFill>
              </a:rPr>
              <a:t>484 docs</a:t>
            </a:r>
            <a:endParaRPr lang="en-US" sz="1100" dirty="0"/>
          </a:p>
        </p:txBody>
      </p:sp>
      <p:sp>
        <p:nvSpPr>
          <p:cNvPr id="70" name="Legend swatch 83"/>
          <p:cNvSpPr/>
          <p:nvPr/>
        </p:nvSpPr>
        <p:spPr>
          <a:xfrm>
            <a:off x="10058400" y="3291840"/>
            <a:ext cx="274320" cy="237744"/>
          </a:xfrm>
          <a:prstGeom prst="roundRect">
            <a:avLst>
              <a:gd name="adj" fmla="val 15385"/>
            </a:avLst>
          </a:prstGeom>
          <a:solidFill>
            <a:schemeClr val="bg2"/>
          </a:solidFill>
          <a:ln/>
        </p:spPr>
      </p:sp>
      <p:sp>
        <p:nvSpPr>
          <p:cNvPr id="71" name="Text 69"/>
          <p:cNvSpPr txBox="1"/>
          <p:nvPr/>
        </p:nvSpPr>
        <p:spPr>
          <a:xfrm>
            <a:off x="10424160" y="3291840"/>
            <a:ext cx="1234440" cy="237744"/>
          </a:xfrm>
          <a:prstGeom prst="rect">
            <a:avLst/>
          </a:prstGeom>
          <a:noFill/>
          <a:ln/>
        </p:spPr>
        <p:txBody>
          <a:bodyPr wrap="square" lIns="0" tIns="0" rIns="0" bIns="0" rtlCol="0" anchor="ctr"/>
          <a:lstStyle/>
          <a:p>
            <a:pPr algn="l" indent="0" marL="0">
              <a:buNone/>
            </a:pPr>
            <a:r>
              <a:rPr lang="en-US" sz="1100" dirty="0">
                <a:solidFill>
                  <a:schemeClr val="tx1"/>
                </a:solidFill>
              </a:rPr>
              <a:t>Master data</a:t>
            </a:r>
            <a:endParaRPr lang="en-US" sz="1100" dirty="0"/>
          </a:p>
        </p:txBody>
      </p:sp>
      <p:sp>
        <p:nvSpPr>
          <p:cNvPr id="72" name="Legend swatch 84"/>
          <p:cNvSpPr/>
          <p:nvPr/>
        </p:nvSpPr>
        <p:spPr>
          <a:xfrm>
            <a:off x="10058400" y="3675888"/>
            <a:ext cx="274320" cy="237744"/>
          </a:xfrm>
          <a:prstGeom prst="roundRect">
            <a:avLst>
              <a:gd name="adj" fmla="val 15385"/>
            </a:avLst>
          </a:prstGeom>
          <a:solidFill>
            <a:schemeClr val="accent2">
              <a:alpha val="22000"/>
            </a:schemeClr>
          </a:solidFill>
          <a:ln/>
        </p:spPr>
      </p:sp>
      <p:sp>
        <p:nvSpPr>
          <p:cNvPr id="73" name="Text 71"/>
          <p:cNvSpPr txBox="1"/>
          <p:nvPr/>
        </p:nvSpPr>
        <p:spPr>
          <a:xfrm>
            <a:off x="10424160" y="3675888"/>
            <a:ext cx="1234440" cy="237744"/>
          </a:xfrm>
          <a:prstGeom prst="rect">
            <a:avLst/>
          </a:prstGeom>
          <a:noFill/>
          <a:ln/>
        </p:spPr>
        <p:txBody>
          <a:bodyPr wrap="square" lIns="0" tIns="0" rIns="0" bIns="0" rtlCol="0" anchor="ctr"/>
          <a:lstStyle/>
          <a:p>
            <a:pPr algn="l" indent="0" marL="0">
              <a:buNone/>
            </a:pPr>
            <a:r>
              <a:rPr lang="en-US" sz="1100" dirty="0">
                <a:solidFill>
                  <a:schemeClr val="tx1"/>
                </a:solidFill>
              </a:rPr>
              <a:t>Transactions</a:t>
            </a:r>
            <a:endParaRPr lang="en-US" sz="1100" dirty="0"/>
          </a:p>
        </p:txBody>
      </p:sp>
      <p:sp>
        <p:nvSpPr>
          <p:cNvPr id="74" name="Legend swatch 85"/>
          <p:cNvSpPr/>
          <p:nvPr/>
        </p:nvSpPr>
        <p:spPr>
          <a:xfrm>
            <a:off x="10058400" y="4059936"/>
            <a:ext cx="274320" cy="237744"/>
          </a:xfrm>
          <a:prstGeom prst="roundRect">
            <a:avLst>
              <a:gd name="adj" fmla="val 15385"/>
            </a:avLst>
          </a:prstGeom>
          <a:solidFill>
            <a:schemeClr val="tx2"/>
          </a:solidFill>
          <a:ln/>
        </p:spPr>
      </p:sp>
      <p:sp>
        <p:nvSpPr>
          <p:cNvPr id="75" name="Text 73"/>
          <p:cNvSpPr txBox="1"/>
          <p:nvPr/>
        </p:nvSpPr>
        <p:spPr>
          <a:xfrm>
            <a:off x="10424160" y="4059936"/>
            <a:ext cx="1234440" cy="237744"/>
          </a:xfrm>
          <a:prstGeom prst="rect">
            <a:avLst/>
          </a:prstGeom>
          <a:noFill/>
          <a:ln/>
        </p:spPr>
        <p:txBody>
          <a:bodyPr wrap="square" lIns="0" tIns="0" rIns="0" bIns="0" rtlCol="0" anchor="ctr"/>
          <a:lstStyle/>
          <a:p>
            <a:pPr algn="l" indent="0" marL="0">
              <a:buNone/>
            </a:pPr>
            <a:r>
              <a:rPr lang="en-US" sz="1100" dirty="0">
                <a:solidFill>
                  <a:schemeClr val="tx1"/>
                </a:solidFill>
              </a:rPr>
              <a:t>The claim case file</a:t>
            </a:r>
            <a:endParaRPr lang="en-US" sz="1100" dirty="0"/>
          </a:p>
        </p:txBody>
      </p:sp>
      <p:sp>
        <p:nvSpPr>
          <p:cNvPr id="76" name="Text 74"/>
          <p:cNvSpPr txBox="1"/>
          <p:nvPr/>
        </p:nvSpPr>
        <p:spPr>
          <a:xfrm>
            <a:off x="10058400" y="4572000"/>
            <a:ext cx="1600200" cy="1005840"/>
          </a:xfrm>
          <a:prstGeom prst="rect">
            <a:avLst/>
          </a:prstGeom>
          <a:noFill/>
          <a:ln/>
        </p:spPr>
        <p:txBody>
          <a:bodyPr wrap="square" lIns="0" tIns="0" rIns="0" bIns="0" rtlCol="0" anchor="t"/>
          <a:lstStyle/>
          <a:p>
            <a:pPr algn="l" indent="0" marL="0">
              <a:buNone/>
            </a:pPr>
            <a:r>
              <a:rPr lang="en-US" sz="1100" dirty="0">
                <a:solidFill>
                  <a:schemeClr val="accent6"/>
                </a:solidFill>
              </a:rPr>
              <a:t>Claims also reference members directly (member_id). audit_logs records every change.</a:t>
            </a:r>
            <a:endParaRPr lang="en-US" sz="1100" dirty="0"/>
          </a:p>
        </p:txBody>
      </p:sp>
      <p:sp>
        <p:nvSpPr>
          <p:cNvPr id="77" name="Text 75"/>
          <p:cNvSpPr txBox="1"/>
          <p:nvPr/>
        </p:nvSpPr>
        <p:spPr>
          <a:xfrm>
            <a:off x="548640" y="5806440"/>
            <a:ext cx="9326880" cy="320040"/>
          </a:xfrm>
          <a:prstGeom prst="rect">
            <a:avLst/>
          </a:prstGeom>
          <a:noFill/>
          <a:ln/>
        </p:spPr>
        <p:txBody>
          <a:bodyPr wrap="square" lIns="0" tIns="0" rIns="0" bIns="0" rtlCol="0" anchor="ctr"/>
          <a:lstStyle/>
          <a:p>
            <a:pPr algn="l" indent="0" marL="0">
              <a:buNone/>
            </a:pPr>
            <a:r>
              <a:rPr lang="en-US" sz="1200" dirty="0">
                <a:solidFill>
                  <a:schemeClr val="accent6"/>
                </a:solidFill>
              </a:rPr>
              <a:t>Labels give cardinality. A 15th utility collection, counters, issues claim and payment numbers.</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SCHEMA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Embed or reference: the decisions</a:t>
            </a:r>
            <a:endParaRPr lang="en-US" sz="3600" dirty="0"/>
          </a:p>
        </p:txBody>
      </p:sp>
      <p:graphicFrame>
        <p:nvGraphicFramePr>
          <p:cNvPr id="10" name="Embed or reference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566160"/>
                <a:gridCol w="2651760"/>
                <a:gridCol w="4873752"/>
              </a:tblGrid>
              <a:tr h="411480">
                <a:tc>
                  <a:txBody>
                    <a:bodyPr/>
                    <a:lstStyle/>
                    <a:p>
                      <a:pPr indent="0" marL="0">
                        <a:buNone/>
                      </a:pPr>
                      <a:r>
                        <a:rPr lang="en-US" sz="1400" b="1" dirty="0">
                          <a:solidFill>
                            <a:schemeClr val="bg1"/>
                          </a:solidFill>
                        </a:rPr>
                        <a:t>Relationship</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Technique</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Claim to bill, diagnoses, documents, history</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Embedded</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Owned by the claim, read together, bounded in size</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48640">
                <a:tc>
                  <a:txBody>
                    <a:bodyPr/>
                    <a:lstStyle/>
                    <a:p>
                      <a:pPr indent="0" marL="0">
                        <a:buNone/>
                      </a:pPr>
                      <a:r>
                        <a:rPr lang="en-US" sz="1400" dirty="0">
                          <a:solidFill>
                            <a:schemeClr val="tx1"/>
                          </a:solidFill>
                        </a:rPr>
                        <a:t>Policy to insured members</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Embedded subset + reference</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Adjudication needs only name, relation, DOB and declared conditions</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48640">
                <a:tc>
                  <a:txBody>
                    <a:bodyPr/>
                    <a:lstStyle/>
                    <a:p>
                      <a:pPr indent="0" marL="0">
                        <a:buNone/>
                      </a:pPr>
                      <a:r>
                        <a:rPr lang="en-US" sz="1400" dirty="0">
                          <a:solidFill>
                            <a:schemeClr val="tx1"/>
                          </a:solidFill>
                        </a:rPr>
                        <a:t>Policy to renewal history</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Embedded array</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One small entry per policy year; feeds premium analytics</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48640">
                <a:tc>
                  <a:txBody>
                    <a:bodyPr/>
                    <a:lstStyle/>
                    <a:p>
                      <a:pPr indent="0" marL="0">
                        <a:buNone/>
                      </a:pPr>
                      <a:r>
                        <a:rPr lang="en-US" sz="1400" dirty="0">
                          <a:solidFill>
                            <a:schemeClr val="tx1"/>
                          </a:solidFill>
                        </a:rPr>
                        <a:t>Claim to member and hospital</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Reference + snapshot</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Shared masters; the snapshot keeps lists fast and history accurate</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48640">
                <a:tc>
                  <a:txBody>
                    <a:bodyPr/>
                    <a:lstStyle/>
                    <a:p>
                      <a:pPr indent="0" marL="0">
                        <a:buNone/>
                      </a:pPr>
                      <a:r>
                        <a:rPr lang="en-US" sz="1400" dirty="0">
                          <a:solidFill>
                            <a:schemeClr val="tx1"/>
                          </a:solidFill>
                        </a:rPr>
                        <a:t>Claim to payment</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Reference, unique index</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A separate ledger, with one payment per claim enforced</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48640">
                <a:tc>
                  <a:txBody>
                    <a:bodyPr/>
                    <a:lstStyle/>
                    <a:p>
                      <a:pPr indent="0" marL="0">
                        <a:buNone/>
                      </a:pPr>
                      <a:r>
                        <a:rPr lang="en-US" sz="1400" dirty="0">
                          <a:solidFill>
                            <a:schemeClr val="tx1"/>
                          </a:solidFill>
                        </a:rPr>
                        <a:t>Hospital to doctors, insurer to plans</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b="1" dirty="0">
                          <a:solidFill>
                            <a:schemeClr val="accent1"/>
                          </a:solidFill>
                        </a:rPr>
                        <a:t>Reference</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Shared data that is also queried on its own</a:t>
                      </a:r>
                      <a:endParaRPr lang="en-US" sz="1400" dirty="0"/>
                    </a:p>
                  </a:txBody>
                  <a:tcPr marL="109728" marR="109728"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bl>
          </a:graphicData>
        </a:graphic>
      </p:graphicFrame>
      <p:sp>
        <p:nvSpPr>
          <p:cNvPr id="5" name="Card 86"/>
          <p:cNvSpPr/>
          <p:nvPr/>
        </p:nvSpPr>
        <p:spPr>
          <a:xfrm>
            <a:off x="548640" y="5623560"/>
            <a:ext cx="11094415" cy="548640"/>
          </a:xfrm>
          <a:prstGeom prst="roundRect">
            <a:avLst>
              <a:gd name="adj" fmla="val 16667"/>
            </a:avLst>
          </a:prstGeom>
          <a:solidFill>
            <a:schemeClr val="bg2"/>
          </a:solidFill>
          <a:ln/>
        </p:spPr>
      </p:sp>
      <p:sp>
        <p:nvSpPr>
          <p:cNvPr id="6" name="Text 3"/>
          <p:cNvSpPr txBox="1"/>
          <p:nvPr/>
        </p:nvSpPr>
        <p:spPr>
          <a:xfrm>
            <a:off x="822960" y="5623560"/>
            <a:ext cx="10545775" cy="548640"/>
          </a:xfrm>
          <a:prstGeom prst="rect">
            <a:avLst/>
          </a:prstGeom>
          <a:noFill/>
          <a:ln/>
        </p:spPr>
        <p:txBody>
          <a:bodyPr wrap="square" lIns="0" tIns="0" rIns="0" bIns="0" rtlCol="0" anchor="ctr"/>
          <a:lstStyle/>
          <a:p>
            <a:pPr algn="l" indent="0" marL="0">
              <a:buNone/>
            </a:pPr>
            <a:r>
              <a:rPr lang="en-US" sz="1500" b="1" dirty="0">
                <a:solidFill>
                  <a:schemeClr val="accent1"/>
                </a:solidFill>
              </a:rPr>
              <a:t>Rule of thumb: </a:t>
            </a:r>
            <a:pPr algn="l" indent="0" marL="0">
              <a:buNone/>
            </a:pPr>
            <a:r>
              <a:rPr lang="en-US" sz="1500" dirty="0">
                <a:solidFill>
                  <a:schemeClr val="tx1"/>
                </a:solidFill>
              </a:rPr>
              <a:t>embed what is read together and bounded; reference what is shared or grows without limit.</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SCHEMA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Six schema design patterns</a:t>
            </a:r>
            <a:endParaRPr lang="en-US" sz="3600" dirty="0"/>
          </a:p>
        </p:txBody>
      </p:sp>
      <p:sp>
        <p:nvSpPr>
          <p:cNvPr id="4" name="Card 87"/>
          <p:cNvSpPr/>
          <p:nvPr/>
        </p:nvSpPr>
        <p:spPr>
          <a:xfrm>
            <a:off x="548640" y="1783080"/>
            <a:ext cx="3538728" cy="2057400"/>
          </a:xfrm>
          <a:prstGeom prst="roundRect">
            <a:avLst>
              <a:gd name="adj" fmla="val 4444"/>
            </a:avLst>
          </a:prstGeom>
          <a:solidFill>
            <a:schemeClr val="bg2"/>
          </a:solidFill>
          <a:ln/>
        </p:spPr>
      </p:sp>
      <p:sp>
        <p:nvSpPr>
          <p:cNvPr id="5" name="Dot 88"/>
          <p:cNvSpPr/>
          <p:nvPr/>
        </p:nvSpPr>
        <p:spPr>
          <a:xfrm>
            <a:off x="822960" y="2057400"/>
            <a:ext cx="603504" cy="603504"/>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73836" y="2208276"/>
            <a:ext cx="301752" cy="301752"/>
          </a:xfrm>
          <a:prstGeom prst="rect">
            <a:avLst/>
          </a:prstGeom>
        </p:spPr>
      </p:pic>
      <p:sp>
        <p:nvSpPr>
          <p:cNvPr id="7" name="Text 4"/>
          <p:cNvSpPr txBox="1"/>
          <p:nvPr/>
        </p:nvSpPr>
        <p:spPr>
          <a:xfrm>
            <a:off x="1600200" y="205740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Embedding</a:t>
            </a:r>
            <a:endParaRPr lang="en-US" sz="1800" dirty="0"/>
          </a:p>
        </p:txBody>
      </p:sp>
      <p:sp>
        <p:nvSpPr>
          <p:cNvPr id="8" name="Text 5"/>
          <p:cNvSpPr txBox="1"/>
          <p:nvPr/>
        </p:nvSpPr>
        <p:spPr>
          <a:xfrm>
            <a:off x="822960" y="283464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A claim embeds its bill, documents, queries and status history.</a:t>
            </a:r>
            <a:endParaRPr lang="en-US" sz="1400" dirty="0"/>
          </a:p>
        </p:txBody>
      </p:sp>
      <p:sp>
        <p:nvSpPr>
          <p:cNvPr id="9" name="Card 89"/>
          <p:cNvSpPr/>
          <p:nvPr/>
        </p:nvSpPr>
        <p:spPr>
          <a:xfrm>
            <a:off x="4325112" y="1783080"/>
            <a:ext cx="3538728" cy="2057400"/>
          </a:xfrm>
          <a:prstGeom prst="roundRect">
            <a:avLst>
              <a:gd name="adj" fmla="val 4444"/>
            </a:avLst>
          </a:prstGeom>
          <a:solidFill>
            <a:schemeClr val="bg2"/>
          </a:solidFill>
          <a:ln/>
        </p:spPr>
      </p:sp>
      <p:sp>
        <p:nvSpPr>
          <p:cNvPr id="10" name="Dot 90"/>
          <p:cNvSpPr/>
          <p:nvPr/>
        </p:nvSpPr>
        <p:spPr>
          <a:xfrm>
            <a:off x="4599432" y="2057400"/>
            <a:ext cx="603504" cy="603504"/>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4750308" y="2208276"/>
            <a:ext cx="301752" cy="301752"/>
          </a:xfrm>
          <a:prstGeom prst="rect">
            <a:avLst/>
          </a:prstGeom>
        </p:spPr>
      </p:pic>
      <p:sp>
        <p:nvSpPr>
          <p:cNvPr id="12" name="Text 8"/>
          <p:cNvSpPr txBox="1"/>
          <p:nvPr/>
        </p:nvSpPr>
        <p:spPr>
          <a:xfrm>
            <a:off x="5376672" y="205740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Extended reference</a:t>
            </a:r>
            <a:endParaRPr lang="en-US" sz="1800" dirty="0"/>
          </a:p>
        </p:txBody>
      </p:sp>
      <p:sp>
        <p:nvSpPr>
          <p:cNvPr id="13" name="Text 9"/>
          <p:cNvSpPr txBox="1"/>
          <p:nvPr/>
        </p:nvSpPr>
        <p:spPr>
          <a:xfrm>
            <a:off x="4599432" y="283464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Claims keep a snapshot of patient and hospital names, so lists need no $lookup.</a:t>
            </a:r>
            <a:endParaRPr lang="en-US" sz="1400" dirty="0"/>
          </a:p>
        </p:txBody>
      </p:sp>
      <p:sp>
        <p:nvSpPr>
          <p:cNvPr id="14" name="Card 91"/>
          <p:cNvSpPr/>
          <p:nvPr/>
        </p:nvSpPr>
        <p:spPr>
          <a:xfrm>
            <a:off x="8101584" y="1783080"/>
            <a:ext cx="3538728" cy="2057400"/>
          </a:xfrm>
          <a:prstGeom prst="roundRect">
            <a:avLst>
              <a:gd name="adj" fmla="val 4444"/>
            </a:avLst>
          </a:prstGeom>
          <a:solidFill>
            <a:schemeClr val="bg2"/>
          </a:solidFill>
          <a:ln/>
        </p:spPr>
      </p:sp>
      <p:sp>
        <p:nvSpPr>
          <p:cNvPr id="15" name="Dot 92"/>
          <p:cNvSpPr/>
          <p:nvPr/>
        </p:nvSpPr>
        <p:spPr>
          <a:xfrm>
            <a:off x="8375904" y="2057400"/>
            <a:ext cx="603504" cy="603504"/>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8526780" y="2208276"/>
            <a:ext cx="301752" cy="301752"/>
          </a:xfrm>
          <a:prstGeom prst="rect">
            <a:avLst/>
          </a:prstGeom>
        </p:spPr>
      </p:pic>
      <p:sp>
        <p:nvSpPr>
          <p:cNvPr id="17" name="Text 12"/>
          <p:cNvSpPr txBox="1"/>
          <p:nvPr/>
        </p:nvSpPr>
        <p:spPr>
          <a:xfrm>
            <a:off x="9153144" y="205740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Subset</a:t>
            </a:r>
            <a:endParaRPr lang="en-US" sz="1800" dirty="0"/>
          </a:p>
        </p:txBody>
      </p:sp>
      <p:sp>
        <p:nvSpPr>
          <p:cNvPr id="18" name="Text 13"/>
          <p:cNvSpPr txBox="1"/>
          <p:nvPr/>
        </p:nvSpPr>
        <p:spPr>
          <a:xfrm>
            <a:off x="8375904" y="283464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A policy embeds only the member fields that adjudication needs.</a:t>
            </a:r>
            <a:endParaRPr lang="en-US" sz="1400" dirty="0"/>
          </a:p>
        </p:txBody>
      </p:sp>
      <p:sp>
        <p:nvSpPr>
          <p:cNvPr id="19" name="Card 93"/>
          <p:cNvSpPr/>
          <p:nvPr/>
        </p:nvSpPr>
        <p:spPr>
          <a:xfrm>
            <a:off x="548640" y="4023360"/>
            <a:ext cx="3538728" cy="2057400"/>
          </a:xfrm>
          <a:prstGeom prst="roundRect">
            <a:avLst>
              <a:gd name="adj" fmla="val 4444"/>
            </a:avLst>
          </a:prstGeom>
          <a:solidFill>
            <a:schemeClr val="bg2"/>
          </a:solidFill>
          <a:ln/>
        </p:spPr>
      </p:sp>
      <p:sp>
        <p:nvSpPr>
          <p:cNvPr id="20" name="Dot 94"/>
          <p:cNvSpPr/>
          <p:nvPr/>
        </p:nvSpPr>
        <p:spPr>
          <a:xfrm>
            <a:off x="822960" y="4297680"/>
            <a:ext cx="603504" cy="603504"/>
          </a:xfrm>
          <a:prstGeom prst="ellipse">
            <a:avLst/>
          </a:prstGeom>
          <a:solidFill>
            <a:schemeClr val="accent1"/>
          </a:solidFill>
          <a:ln/>
        </p:spPr>
      </p:sp>
      <p:pic>
        <p:nvPicPr>
          <p:cNvPr id="21" name="Image 3" descr="icon">    </p:cNvPr>
          <p:cNvPicPr>
            <a:picLocks noChangeAspect="1"/>
          </p:cNvPicPr>
          <p:nvPr/>
        </p:nvPicPr>
        <p:blipFill>
          <a:blip r:embed="rId4"/>
          <a:stretch>
            <a:fillRect/>
          </a:stretch>
        </p:blipFill>
        <p:spPr>
          <a:xfrm>
            <a:off x="973836" y="4448556"/>
            <a:ext cx="301752" cy="301752"/>
          </a:xfrm>
          <a:prstGeom prst="rect">
            <a:avLst/>
          </a:prstGeom>
        </p:spPr>
      </p:pic>
      <p:sp>
        <p:nvSpPr>
          <p:cNvPr id="22" name="Text 16"/>
          <p:cNvSpPr txBox="1"/>
          <p:nvPr/>
        </p:nvSpPr>
        <p:spPr>
          <a:xfrm>
            <a:off x="1600200" y="429768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Computed</a:t>
            </a:r>
            <a:endParaRPr lang="en-US" sz="1800" dirty="0"/>
          </a:p>
        </p:txBody>
      </p:sp>
      <p:sp>
        <p:nvSpPr>
          <p:cNvPr id="23" name="Text 17"/>
          <p:cNvSpPr txBox="1"/>
          <p:nvPr/>
        </p:nvSpPr>
        <p:spPr>
          <a:xfrm>
            <a:off x="822960" y="507492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Turnaround days, available cover and fraud score are stored at write time.</a:t>
            </a:r>
            <a:endParaRPr lang="en-US" sz="1400" dirty="0"/>
          </a:p>
        </p:txBody>
      </p:sp>
      <p:sp>
        <p:nvSpPr>
          <p:cNvPr id="24" name="Card 95"/>
          <p:cNvSpPr/>
          <p:nvPr/>
        </p:nvSpPr>
        <p:spPr>
          <a:xfrm>
            <a:off x="4325112" y="4023360"/>
            <a:ext cx="3538728" cy="2057400"/>
          </a:xfrm>
          <a:prstGeom prst="roundRect">
            <a:avLst>
              <a:gd name="adj" fmla="val 4444"/>
            </a:avLst>
          </a:prstGeom>
          <a:solidFill>
            <a:schemeClr val="bg2"/>
          </a:solidFill>
          <a:ln/>
        </p:spPr>
      </p:sp>
      <p:sp>
        <p:nvSpPr>
          <p:cNvPr id="25" name="Dot 96"/>
          <p:cNvSpPr/>
          <p:nvPr/>
        </p:nvSpPr>
        <p:spPr>
          <a:xfrm>
            <a:off x="4599432" y="4297680"/>
            <a:ext cx="603504" cy="603504"/>
          </a:xfrm>
          <a:prstGeom prst="ellipse">
            <a:avLst/>
          </a:prstGeom>
          <a:solidFill>
            <a:schemeClr val="accent1"/>
          </a:solidFill>
          <a:ln/>
        </p:spPr>
      </p:sp>
      <p:pic>
        <p:nvPicPr>
          <p:cNvPr id="26" name="Image 4" descr="icon">    </p:cNvPr>
          <p:cNvPicPr>
            <a:picLocks noChangeAspect="1"/>
          </p:cNvPicPr>
          <p:nvPr/>
        </p:nvPicPr>
        <p:blipFill>
          <a:blip r:embed="rId5"/>
          <a:stretch>
            <a:fillRect/>
          </a:stretch>
        </p:blipFill>
        <p:spPr>
          <a:xfrm>
            <a:off x="4750308" y="4448556"/>
            <a:ext cx="301752" cy="301752"/>
          </a:xfrm>
          <a:prstGeom prst="rect">
            <a:avLst/>
          </a:prstGeom>
        </p:spPr>
      </p:pic>
      <p:sp>
        <p:nvSpPr>
          <p:cNvPr id="27" name="Text 20"/>
          <p:cNvSpPr txBox="1"/>
          <p:nvPr/>
        </p:nvSpPr>
        <p:spPr>
          <a:xfrm>
            <a:off x="5376672" y="429768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Bounded array</a:t>
            </a:r>
            <a:endParaRPr lang="en-US" sz="1800" dirty="0"/>
          </a:p>
        </p:txBody>
      </p:sp>
      <p:sp>
        <p:nvSpPr>
          <p:cNvPr id="28" name="Text 21"/>
          <p:cNvSpPr txBox="1"/>
          <p:nvPr/>
        </p:nvSpPr>
        <p:spPr>
          <a:xfrm>
            <a:off x="4599432" y="507492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renewal_history holds one entry per policy year, so it cannot grow unchecked.</a:t>
            </a:r>
            <a:endParaRPr lang="en-US" sz="1400" dirty="0"/>
          </a:p>
        </p:txBody>
      </p:sp>
      <p:sp>
        <p:nvSpPr>
          <p:cNvPr id="29" name="Card 97"/>
          <p:cNvSpPr/>
          <p:nvPr/>
        </p:nvSpPr>
        <p:spPr>
          <a:xfrm>
            <a:off x="8101584" y="4023360"/>
            <a:ext cx="3538728" cy="2057400"/>
          </a:xfrm>
          <a:prstGeom prst="roundRect">
            <a:avLst>
              <a:gd name="adj" fmla="val 4444"/>
            </a:avLst>
          </a:prstGeom>
          <a:solidFill>
            <a:schemeClr val="bg2"/>
          </a:solidFill>
          <a:ln/>
        </p:spPr>
      </p:sp>
      <p:sp>
        <p:nvSpPr>
          <p:cNvPr id="30" name="Dot 98"/>
          <p:cNvSpPr/>
          <p:nvPr/>
        </p:nvSpPr>
        <p:spPr>
          <a:xfrm>
            <a:off x="8375904" y="4297680"/>
            <a:ext cx="603504" cy="603504"/>
          </a:xfrm>
          <a:prstGeom prst="ellipse">
            <a:avLst/>
          </a:prstGeom>
          <a:solidFill>
            <a:schemeClr val="accent1"/>
          </a:solidFill>
          <a:ln/>
        </p:spPr>
      </p:sp>
      <p:pic>
        <p:nvPicPr>
          <p:cNvPr id="31" name="Image 5" descr="icon">    </p:cNvPr>
          <p:cNvPicPr>
            <a:picLocks noChangeAspect="1"/>
          </p:cNvPicPr>
          <p:nvPr/>
        </p:nvPicPr>
        <p:blipFill>
          <a:blip r:embed="rId6"/>
          <a:stretch>
            <a:fillRect/>
          </a:stretch>
        </p:blipFill>
        <p:spPr>
          <a:xfrm>
            <a:off x="8526780" y="4448556"/>
            <a:ext cx="301752" cy="301752"/>
          </a:xfrm>
          <a:prstGeom prst="rect">
            <a:avLst/>
          </a:prstGeom>
        </p:spPr>
      </p:pic>
      <p:sp>
        <p:nvSpPr>
          <p:cNvPr id="32" name="Text 24"/>
          <p:cNvSpPr txBox="1"/>
          <p:nvPr/>
        </p:nvSpPr>
        <p:spPr>
          <a:xfrm>
            <a:off x="9153144" y="4297680"/>
            <a:ext cx="2331720" cy="603504"/>
          </a:xfrm>
          <a:prstGeom prst="rect">
            <a:avLst/>
          </a:prstGeom>
          <a:noFill/>
          <a:ln/>
        </p:spPr>
        <p:txBody>
          <a:bodyPr wrap="square" lIns="0" tIns="0" rIns="0" bIns="0" rtlCol="0" anchor="ctr"/>
          <a:lstStyle/>
          <a:p>
            <a:pPr algn="l" indent="0" marL="0">
              <a:buNone/>
            </a:pPr>
            <a:r>
              <a:rPr lang="en-US" sz="1800" b="1" dirty="0">
                <a:solidFill>
                  <a:schemeClr val="tx2"/>
                </a:solidFill>
              </a:rPr>
              <a:t>Sequence counter</a:t>
            </a:r>
            <a:endParaRPr lang="en-US" sz="1800" dirty="0"/>
          </a:p>
        </p:txBody>
      </p:sp>
      <p:sp>
        <p:nvSpPr>
          <p:cNvPr id="33" name="Text 25"/>
          <p:cNvSpPr txBox="1"/>
          <p:nvPr/>
        </p:nvSpPr>
        <p:spPr>
          <a:xfrm>
            <a:off x="8375904" y="5074920"/>
            <a:ext cx="3017520" cy="868680"/>
          </a:xfrm>
          <a:prstGeom prst="rect">
            <a:avLst/>
          </a:prstGeom>
          <a:noFill/>
          <a:ln/>
        </p:spPr>
        <p:txBody>
          <a:bodyPr wrap="square" lIns="0" tIns="0" rIns="0" bIns="0" rtlCol="0" anchor="t"/>
          <a:lstStyle/>
          <a:p>
            <a:pPr algn="l" indent="0" marL="0">
              <a:buNone/>
            </a:pPr>
            <a:r>
              <a:rPr lang="en-US" sz="1400" dirty="0">
                <a:solidFill>
                  <a:schemeClr val="tx1"/>
                </a:solidFill>
              </a:rPr>
              <a:t>A counters collection with an atomic $inc issues claim and payment numbers.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SCHEMA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Anatomy of a claim document</a:t>
            </a:r>
            <a:endParaRPr lang="en-US" sz="3600" dirty="0"/>
          </a:p>
        </p:txBody>
      </p:sp>
      <p:sp>
        <p:nvSpPr>
          <p:cNvPr id="4" name="Code panel 99"/>
          <p:cNvSpPr/>
          <p:nvPr/>
        </p:nvSpPr>
        <p:spPr>
          <a:xfrm>
            <a:off x="548640" y="1737360"/>
            <a:ext cx="6675120" cy="4434840"/>
          </a:xfrm>
          <a:prstGeom prst="roundRect">
            <a:avLst>
              <a:gd name="adj" fmla="val 2062"/>
            </a:avLst>
          </a:prstGeom>
          <a:solidFill>
            <a:schemeClr val="tx2"/>
          </a:solidFill>
          <a:ln/>
        </p:spPr>
      </p:sp>
      <p:sp>
        <p:nvSpPr>
          <p:cNvPr id="5" name="Text 3"/>
          <p:cNvSpPr txBox="1"/>
          <p:nvPr/>
        </p:nvSpPr>
        <p:spPr>
          <a:xfrm>
            <a:off x="777240" y="1920240"/>
            <a:ext cx="6309360" cy="406908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claim_number: "CLM-2026-002207",</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status: "Settled",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policy_number: "RNI-HL-2018-000875",                      </a:t>
            </a:r>
            <a:pPr algn="l" indent="0" marL="0">
              <a:buNone/>
            </a:pPr>
            <a:r>
              <a:rPr lang="en-US" sz="1200" dirty="0">
                <a:solidFill>
                  <a:schemeClr val="accent2"/>
                </a:solidFill>
                <a:latin typeface="Courier New" pitchFamily="34" charset="0"/>
                <a:ea typeface="Courier New" pitchFamily="34" charset="-122"/>
                <a:cs typeface="Courier New" pitchFamily="34" charset="-120"/>
              </a:rPr>
              <a:t>// 1</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member_id: "MEM002135", hospital_id: "HSP0062",           </a:t>
            </a:r>
            <a:pPr algn="l" indent="0" marL="0">
              <a:buNone/>
            </a:pPr>
            <a:r>
              <a:rPr lang="en-US" sz="1200" dirty="0">
                <a:solidFill>
                  <a:schemeClr val="accent2"/>
                </a:solidFill>
                <a:latin typeface="Courier New" pitchFamily="34" charset="0"/>
                <a:ea typeface="Courier New" pitchFamily="34" charset="-122"/>
                <a:cs typeface="Courier New" pitchFamily="34" charset="-120"/>
              </a:rPr>
              <a:t>// 1</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snapshot: { member_name: "Sunita Khan", member_age: 64,   </a:t>
            </a:r>
            <a:pPr algn="l" indent="0" marL="0">
              <a:buNone/>
            </a:pPr>
            <a:r>
              <a:rPr lang="en-US" sz="1200" dirty="0">
                <a:solidFill>
                  <a:schemeClr val="accent2"/>
                </a:solidFill>
                <a:latin typeface="Courier New" pitchFamily="34" charset="0"/>
                <a:ea typeface="Courier New" pitchFamily="34" charset="-122"/>
                <a:cs typeface="Courier New" pitchFamily="34" charset="-120"/>
              </a:rPr>
              <a:t>// 2</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hospital_city: "Kolkata", hospital_tier: 1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diagnosis: [ { icd_code: "A01.0",                         </a:t>
            </a:r>
            <a:pPr algn="l" indent="0" marL="0">
              <a:buNone/>
            </a:pPr>
            <a:r>
              <a:rPr lang="en-US" sz="1200" dirty="0">
                <a:solidFill>
                  <a:schemeClr val="accent2"/>
                </a:solidFill>
                <a:latin typeface="Courier New" pitchFamily="34" charset="0"/>
                <a:ea typeface="Courier New" pitchFamily="34" charset="-122"/>
                <a:cs typeface="Courier New" pitchFamily="34" charset="-120"/>
              </a:rPr>
              <a:t>// 3</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description: "Typhoid fever", type: "Primary"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bill: { room_charges: 48000, medicines: 13990, ...,       </a:t>
            </a:r>
            <a:pPr algn="l" indent="0" marL="0">
              <a:buNone/>
            </a:pPr>
            <a:r>
              <a:rPr lang="en-US" sz="1200" dirty="0">
                <a:solidFill>
                  <a:schemeClr val="accent2"/>
                </a:solidFill>
                <a:latin typeface="Courier New" pitchFamily="34" charset="0"/>
                <a:ea typeface="Courier New" pitchFamily="34" charset="-122"/>
                <a:cs typeface="Courier New" pitchFamily="34" charset="-120"/>
              </a:rPr>
              <a:t>// 3</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total: 86080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adjudication: { decision: "Partially Approved",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payable_amount: 40476,</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deductions: [ { category: "Room Rent Excess",           </a:t>
            </a:r>
            <a:pPr algn="l" indent="0" marL="0">
              <a:buNone/>
            </a:pPr>
            <a:r>
              <a:rPr lang="en-US" sz="1200" dirty="0">
                <a:solidFill>
                  <a:schemeClr val="accent2"/>
                </a:solidFill>
                <a:latin typeface="Courier New" pitchFamily="34" charset="0"/>
                <a:ea typeface="Courier New" pitchFamily="34" charset="-122"/>
                <a:cs typeface="Courier New" pitchFamily="34" charset="-120"/>
              </a:rPr>
              <a:t>// 3</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amount: 23000 }, ...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status_history: [ { status: "Intimated",                  </a:t>
            </a:r>
            <a:pPr algn="l" indent="0" marL="0">
              <a:buNone/>
            </a:pPr>
            <a:r>
              <a:rPr lang="en-US" sz="1200" dirty="0">
                <a:solidFill>
                  <a:schemeClr val="accent2"/>
                </a:solidFill>
                <a:latin typeface="Courier New" pitchFamily="34" charset="0"/>
                <a:ea typeface="Courier New" pitchFamily="34" charset="-122"/>
                <a:cs typeface="Courier New" pitchFamily="34" charset="-120"/>
              </a:rPr>
              <a:t>// 3</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at: ISODate(...), by: "HOSPITAL" },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fraud: { score: 0, risk_level: "Low", flags: [...] },     </a:t>
            </a:r>
            <a:pPr algn="l" indent="0" marL="0">
              <a:buNone/>
            </a:pPr>
            <a:r>
              <a:rPr lang="en-US" sz="1200" dirty="0">
                <a:solidFill>
                  <a:schemeClr val="accent2"/>
                </a:solidFill>
                <a:latin typeface="Courier New" pitchFamily="34" charset="0"/>
                <a:ea typeface="Courier New" pitchFamily="34" charset="-122"/>
                <a:cs typeface="Courier New" pitchFamily="34" charset="-120"/>
              </a:rPr>
              <a:t>// 4</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tat_days: 42.7                                            </a:t>
            </a:r>
            <a:pPr algn="l" indent="0" marL="0">
              <a:buNone/>
            </a:pPr>
            <a:r>
              <a:rPr lang="en-US" sz="1200" dirty="0">
                <a:solidFill>
                  <a:schemeClr val="accent2"/>
                </a:solidFill>
                <a:latin typeface="Courier New" pitchFamily="34" charset="0"/>
                <a:ea typeface="Courier New" pitchFamily="34" charset="-122"/>
                <a:cs typeface="Courier New" pitchFamily="34" charset="-120"/>
              </a:rPr>
              <a:t>// 4</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Dot 100"/>
          <p:cNvSpPr/>
          <p:nvPr/>
        </p:nvSpPr>
        <p:spPr>
          <a:xfrm>
            <a:off x="7543800" y="1783080"/>
            <a:ext cx="457200" cy="457200"/>
          </a:xfrm>
          <a:prstGeom prst="ellipse">
            <a:avLst/>
          </a:prstGeom>
          <a:solidFill>
            <a:schemeClr val="accent2"/>
          </a:solidFill>
          <a:ln/>
        </p:spPr>
      </p:sp>
      <p:sp>
        <p:nvSpPr>
          <p:cNvPr id="7" name="Text 5"/>
          <p:cNvSpPr txBox="1"/>
          <p:nvPr/>
        </p:nvSpPr>
        <p:spPr>
          <a:xfrm>
            <a:off x="754380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8183880" y="1783080"/>
            <a:ext cx="3456432" cy="457200"/>
          </a:xfrm>
          <a:prstGeom prst="rect">
            <a:avLst/>
          </a:prstGeom>
          <a:noFill/>
          <a:ln/>
        </p:spPr>
        <p:txBody>
          <a:bodyPr wrap="square" lIns="0" tIns="0" rIns="0" bIns="0" rtlCol="0" anchor="ctr"/>
          <a:lstStyle/>
          <a:p>
            <a:pPr algn="l" indent="0" marL="0">
              <a:buNone/>
            </a:pPr>
            <a:r>
              <a:rPr lang="en-US" sz="1700" b="1" dirty="0">
                <a:solidFill>
                  <a:schemeClr val="tx2"/>
                </a:solidFill>
              </a:rPr>
              <a:t>References</a:t>
            </a:r>
            <a:endParaRPr lang="en-US" sz="1700" dirty="0"/>
          </a:p>
        </p:txBody>
      </p:sp>
      <p:sp>
        <p:nvSpPr>
          <p:cNvPr id="9" name="Text 7"/>
          <p:cNvSpPr txBox="1"/>
          <p:nvPr/>
        </p:nvSpPr>
        <p:spPr>
          <a:xfrm>
            <a:off x="8183880" y="2240280"/>
            <a:ext cx="3456432" cy="566928"/>
          </a:xfrm>
          <a:prstGeom prst="rect">
            <a:avLst/>
          </a:prstGeom>
          <a:noFill/>
          <a:ln/>
        </p:spPr>
        <p:txBody>
          <a:bodyPr wrap="square" lIns="0" tIns="0" rIns="0" bIns="0" rtlCol="0" anchor="t"/>
          <a:lstStyle/>
          <a:p>
            <a:pPr algn="l" indent="0" marL="0">
              <a:buNone/>
            </a:pPr>
            <a:r>
              <a:rPr lang="en-US" sz="1400" dirty="0">
                <a:solidFill>
                  <a:schemeClr val="tx1"/>
                </a:solidFill>
              </a:rPr>
              <a:t>policy_number, member_id and hospital_id point to shared master collections.</a:t>
            </a:r>
            <a:endParaRPr lang="en-US" sz="1400" dirty="0"/>
          </a:p>
        </p:txBody>
      </p:sp>
      <p:sp>
        <p:nvSpPr>
          <p:cNvPr id="10" name="Dot 101"/>
          <p:cNvSpPr/>
          <p:nvPr/>
        </p:nvSpPr>
        <p:spPr>
          <a:xfrm>
            <a:off x="7543800" y="2880360"/>
            <a:ext cx="457200" cy="457200"/>
          </a:xfrm>
          <a:prstGeom prst="ellipse">
            <a:avLst/>
          </a:prstGeom>
          <a:solidFill>
            <a:schemeClr val="accent2"/>
          </a:solidFill>
          <a:ln/>
        </p:spPr>
      </p:sp>
      <p:sp>
        <p:nvSpPr>
          <p:cNvPr id="11" name="Text 9"/>
          <p:cNvSpPr txBox="1"/>
          <p:nvPr/>
        </p:nvSpPr>
        <p:spPr>
          <a:xfrm>
            <a:off x="754380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8183880" y="2880360"/>
            <a:ext cx="3456432" cy="457200"/>
          </a:xfrm>
          <a:prstGeom prst="rect">
            <a:avLst/>
          </a:prstGeom>
          <a:noFill/>
          <a:ln/>
        </p:spPr>
        <p:txBody>
          <a:bodyPr wrap="square" lIns="0" tIns="0" rIns="0" bIns="0" rtlCol="0" anchor="ctr"/>
          <a:lstStyle/>
          <a:p>
            <a:pPr algn="l" indent="0" marL="0">
              <a:buNone/>
            </a:pPr>
            <a:r>
              <a:rPr lang="en-US" sz="1700" b="1" dirty="0">
                <a:solidFill>
                  <a:schemeClr val="tx2"/>
                </a:solidFill>
              </a:rPr>
              <a:t>Extended reference</a:t>
            </a:r>
            <a:endParaRPr lang="en-US" sz="1700" dirty="0"/>
          </a:p>
        </p:txBody>
      </p:sp>
      <p:sp>
        <p:nvSpPr>
          <p:cNvPr id="13" name="Text 11"/>
          <p:cNvSpPr txBox="1"/>
          <p:nvPr/>
        </p:nvSpPr>
        <p:spPr>
          <a:xfrm>
            <a:off x="8183880" y="3337560"/>
            <a:ext cx="3456432" cy="566928"/>
          </a:xfrm>
          <a:prstGeom prst="rect">
            <a:avLst/>
          </a:prstGeom>
          <a:noFill/>
          <a:ln/>
        </p:spPr>
        <p:txBody>
          <a:bodyPr wrap="square" lIns="0" tIns="0" rIns="0" bIns="0" rtlCol="0" anchor="t"/>
          <a:lstStyle/>
          <a:p>
            <a:pPr algn="l" indent="0" marL="0">
              <a:buNone/>
            </a:pPr>
            <a:r>
              <a:rPr lang="en-US" sz="1400" dirty="0">
                <a:solidFill>
                  <a:schemeClr val="tx1"/>
                </a:solidFill>
              </a:rPr>
              <a:t>snapshot copies names, age, city and tier as they were on admission.</a:t>
            </a:r>
            <a:endParaRPr lang="en-US" sz="1400" dirty="0"/>
          </a:p>
        </p:txBody>
      </p:sp>
      <p:sp>
        <p:nvSpPr>
          <p:cNvPr id="14" name="Dot 102"/>
          <p:cNvSpPr/>
          <p:nvPr/>
        </p:nvSpPr>
        <p:spPr>
          <a:xfrm>
            <a:off x="7543800" y="3977640"/>
            <a:ext cx="457200" cy="457200"/>
          </a:xfrm>
          <a:prstGeom prst="ellipse">
            <a:avLst/>
          </a:prstGeom>
          <a:solidFill>
            <a:schemeClr val="accent2"/>
          </a:solidFill>
          <a:ln/>
        </p:spPr>
      </p:sp>
      <p:sp>
        <p:nvSpPr>
          <p:cNvPr id="15" name="Text 13"/>
          <p:cNvSpPr txBox="1"/>
          <p:nvPr/>
        </p:nvSpPr>
        <p:spPr>
          <a:xfrm>
            <a:off x="754380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183880" y="3977640"/>
            <a:ext cx="3456432" cy="457200"/>
          </a:xfrm>
          <a:prstGeom prst="rect">
            <a:avLst/>
          </a:prstGeom>
          <a:noFill/>
          <a:ln/>
        </p:spPr>
        <p:txBody>
          <a:bodyPr wrap="square" lIns="0" tIns="0" rIns="0" bIns="0" rtlCol="0" anchor="ctr"/>
          <a:lstStyle/>
          <a:p>
            <a:pPr algn="l" indent="0" marL="0">
              <a:buNone/>
            </a:pPr>
            <a:r>
              <a:rPr lang="en-US" sz="1700" b="1" dirty="0">
                <a:solidFill>
                  <a:schemeClr val="tx2"/>
                </a:solidFill>
              </a:rPr>
              <a:t>Embedded data</a:t>
            </a:r>
            <a:endParaRPr lang="en-US" sz="1700" dirty="0"/>
          </a:p>
        </p:txBody>
      </p:sp>
      <p:sp>
        <p:nvSpPr>
          <p:cNvPr id="17" name="Text 15"/>
          <p:cNvSpPr txBox="1"/>
          <p:nvPr/>
        </p:nvSpPr>
        <p:spPr>
          <a:xfrm>
            <a:off x="8183880" y="4434840"/>
            <a:ext cx="3456432" cy="566928"/>
          </a:xfrm>
          <a:prstGeom prst="rect">
            <a:avLst/>
          </a:prstGeom>
          <a:noFill/>
          <a:ln/>
        </p:spPr>
        <p:txBody>
          <a:bodyPr wrap="square" lIns="0" tIns="0" rIns="0" bIns="0" rtlCol="0" anchor="t"/>
          <a:lstStyle/>
          <a:p>
            <a:pPr algn="l" indent="0" marL="0">
              <a:buNone/>
            </a:pPr>
            <a:r>
              <a:rPr lang="en-US" sz="1400" dirty="0">
                <a:solidFill>
                  <a:schemeClr val="tx1"/>
                </a:solidFill>
              </a:rPr>
              <a:t>Bill, diagnoses, deductions and status history live inside the claim.</a:t>
            </a:r>
            <a:endParaRPr lang="en-US" sz="1400" dirty="0"/>
          </a:p>
        </p:txBody>
      </p:sp>
      <p:sp>
        <p:nvSpPr>
          <p:cNvPr id="18" name="Dot 103"/>
          <p:cNvSpPr/>
          <p:nvPr/>
        </p:nvSpPr>
        <p:spPr>
          <a:xfrm>
            <a:off x="7543800" y="5074920"/>
            <a:ext cx="457200" cy="457200"/>
          </a:xfrm>
          <a:prstGeom prst="ellipse">
            <a:avLst/>
          </a:prstGeom>
          <a:solidFill>
            <a:schemeClr val="accent2"/>
          </a:solidFill>
          <a:ln/>
        </p:spPr>
      </p:sp>
      <p:sp>
        <p:nvSpPr>
          <p:cNvPr id="19" name="Text 17"/>
          <p:cNvSpPr txBox="1"/>
          <p:nvPr/>
        </p:nvSpPr>
        <p:spPr>
          <a:xfrm>
            <a:off x="7543800" y="5074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8"/>
          <p:cNvSpPr txBox="1"/>
          <p:nvPr/>
        </p:nvSpPr>
        <p:spPr>
          <a:xfrm>
            <a:off x="8183880" y="5074920"/>
            <a:ext cx="3456432" cy="457200"/>
          </a:xfrm>
          <a:prstGeom prst="rect">
            <a:avLst/>
          </a:prstGeom>
          <a:noFill/>
          <a:ln/>
        </p:spPr>
        <p:txBody>
          <a:bodyPr wrap="square" lIns="0" tIns="0" rIns="0" bIns="0" rtlCol="0" anchor="ctr"/>
          <a:lstStyle/>
          <a:p>
            <a:pPr algn="l" indent="0" marL="0">
              <a:buNone/>
            </a:pPr>
            <a:r>
              <a:rPr lang="en-US" sz="1700" b="1" dirty="0">
                <a:solidFill>
                  <a:schemeClr val="tx2"/>
                </a:solidFill>
              </a:rPr>
              <a:t>Computed fields</a:t>
            </a:r>
            <a:endParaRPr lang="en-US" sz="1700" dirty="0"/>
          </a:p>
        </p:txBody>
      </p:sp>
      <p:sp>
        <p:nvSpPr>
          <p:cNvPr id="21" name="Text 19"/>
          <p:cNvSpPr txBox="1"/>
          <p:nvPr/>
        </p:nvSpPr>
        <p:spPr>
          <a:xfrm>
            <a:off x="8183880" y="5532120"/>
            <a:ext cx="3456432" cy="566928"/>
          </a:xfrm>
          <a:prstGeom prst="rect">
            <a:avLst/>
          </a:prstGeom>
          <a:noFill/>
          <a:ln/>
        </p:spPr>
        <p:txBody>
          <a:bodyPr wrap="square" lIns="0" tIns="0" rIns="0" bIns="0" rtlCol="0" anchor="t"/>
          <a:lstStyle/>
          <a:p>
            <a:pPr algn="l" indent="0" marL="0">
              <a:buNone/>
            </a:pPr>
            <a:r>
              <a:rPr lang="en-US" sz="1400" dirty="0">
                <a:solidFill>
                  <a:schemeClr val="tx1"/>
                </a:solidFill>
              </a:rPr>
              <a:t>tat_days and the fraud score are stored whenever the claim changes.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SCHEMA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Schema validation with $jsonSchema</a:t>
            </a:r>
            <a:endParaRPr lang="en-US" sz="3600" dirty="0"/>
          </a:p>
        </p:txBody>
      </p:sp>
      <p:sp>
        <p:nvSpPr>
          <p:cNvPr id="4" name="Rule tag 104"/>
          <p:cNvSpPr/>
          <p:nvPr/>
        </p:nvSpPr>
        <p:spPr>
          <a:xfrm>
            <a:off x="548640" y="1819656"/>
            <a:ext cx="1188720" cy="365760"/>
          </a:xfrm>
          <a:prstGeom prst="roundRect">
            <a:avLst>
              <a:gd name="adj" fmla="val 15000"/>
            </a:avLst>
          </a:prstGeom>
          <a:solidFill>
            <a:schemeClr val="accent1"/>
          </a:solidFill>
          <a:ln/>
        </p:spPr>
      </p:sp>
      <p:sp>
        <p:nvSpPr>
          <p:cNvPr id="5" name="Text 3"/>
          <p:cNvSpPr txBox="1"/>
          <p:nvPr/>
        </p:nvSpPr>
        <p:spPr>
          <a:xfrm>
            <a:off x="548640" y="1819656"/>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Required</a:t>
            </a:r>
            <a:endParaRPr lang="en-US" sz="1300" dirty="0"/>
          </a:p>
        </p:txBody>
      </p:sp>
      <p:sp>
        <p:nvSpPr>
          <p:cNvPr id="6" name="Text 4"/>
          <p:cNvSpPr txBox="1"/>
          <p:nvPr/>
        </p:nvSpPr>
        <p:spPr>
          <a:xfrm>
            <a:off x="1965960" y="1783080"/>
            <a:ext cx="4343400" cy="310896"/>
          </a:xfrm>
          <a:prstGeom prst="rect">
            <a:avLst/>
          </a:prstGeom>
          <a:noFill/>
          <a:ln/>
        </p:spPr>
        <p:txBody>
          <a:bodyPr wrap="square" lIns="0" tIns="0" rIns="0" bIns="0" rtlCol="0" anchor="ctr"/>
          <a:lstStyle/>
          <a:p>
            <a:pPr algn="l" indent="0" marL="0">
              <a:buNone/>
            </a:pPr>
            <a:r>
              <a:rPr lang="en-US" sz="1500" b="1" dirty="0">
                <a:solidFill>
                  <a:schemeClr val="tx2"/>
                </a:solidFill>
              </a:rPr>
              <a:t>18 mandatory fields on every claim</a:t>
            </a:r>
            <a:endParaRPr lang="en-US" sz="1500" dirty="0"/>
          </a:p>
        </p:txBody>
      </p:sp>
      <p:sp>
        <p:nvSpPr>
          <p:cNvPr id="7" name="Text 5"/>
          <p:cNvSpPr txBox="1"/>
          <p:nvPr/>
        </p:nvSpPr>
        <p:spPr>
          <a:xfrm>
            <a:off x="1965960" y="2112264"/>
            <a:ext cx="4343400" cy="274320"/>
          </a:xfrm>
          <a:prstGeom prst="rect">
            <a:avLst/>
          </a:prstGeom>
          <a:noFill/>
          <a:ln/>
        </p:spPr>
        <p:txBody>
          <a:bodyPr wrap="square" lIns="0" tIns="0" rIns="0" bIns="0" rtlCol="0" anchor="ctr"/>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claim_number, status, bill, status_history</a:t>
            </a:r>
            <a:endParaRPr lang="en-US" sz="1200" dirty="0"/>
          </a:p>
        </p:txBody>
      </p:sp>
      <p:sp>
        <p:nvSpPr>
          <p:cNvPr id="8" name="Rule tag 105"/>
          <p:cNvSpPr/>
          <p:nvPr/>
        </p:nvSpPr>
        <p:spPr>
          <a:xfrm>
            <a:off x="548640" y="2587752"/>
            <a:ext cx="1188720" cy="365760"/>
          </a:xfrm>
          <a:prstGeom prst="roundRect">
            <a:avLst>
              <a:gd name="adj" fmla="val 15000"/>
            </a:avLst>
          </a:prstGeom>
          <a:solidFill>
            <a:schemeClr val="accent1"/>
          </a:solidFill>
          <a:ln/>
        </p:spPr>
      </p:sp>
      <p:sp>
        <p:nvSpPr>
          <p:cNvPr id="9" name="Text 7"/>
          <p:cNvSpPr txBox="1"/>
          <p:nvPr/>
        </p:nvSpPr>
        <p:spPr>
          <a:xfrm>
            <a:off x="548640" y="2587752"/>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Type</a:t>
            </a:r>
            <a:endParaRPr lang="en-US" sz="1300" dirty="0"/>
          </a:p>
        </p:txBody>
      </p:sp>
      <p:sp>
        <p:nvSpPr>
          <p:cNvPr id="10" name="Text 8"/>
          <p:cNvSpPr txBox="1"/>
          <p:nvPr/>
        </p:nvSpPr>
        <p:spPr>
          <a:xfrm>
            <a:off x="1965960" y="2551176"/>
            <a:ext cx="4343400" cy="310896"/>
          </a:xfrm>
          <a:prstGeom prst="rect">
            <a:avLst/>
          </a:prstGeom>
          <a:noFill/>
          <a:ln/>
        </p:spPr>
        <p:txBody>
          <a:bodyPr wrap="square" lIns="0" tIns="0" rIns="0" bIns="0" rtlCol="0" anchor="ctr"/>
          <a:lstStyle/>
          <a:p>
            <a:pPr algn="l" indent="0" marL="0">
              <a:buNone/>
            </a:pPr>
            <a:r>
              <a:rPr lang="en-US" sz="1500" b="1" dirty="0">
                <a:solidFill>
                  <a:schemeClr val="tx2"/>
                </a:solidFill>
              </a:rPr>
              <a:t>Dates are BSON dates, amounts are numbers</a:t>
            </a:r>
            <a:endParaRPr lang="en-US" sz="1500" dirty="0"/>
          </a:p>
        </p:txBody>
      </p:sp>
      <p:sp>
        <p:nvSpPr>
          <p:cNvPr id="11" name="Text 9"/>
          <p:cNvSpPr txBox="1"/>
          <p:nvPr/>
        </p:nvSpPr>
        <p:spPr>
          <a:xfrm>
            <a:off x="1965960" y="2880360"/>
            <a:ext cx="4343400" cy="274320"/>
          </a:xfrm>
          <a:prstGeom prst="rect">
            <a:avLst/>
          </a:prstGeom>
          <a:noFill/>
          <a:ln/>
        </p:spPr>
        <p:txBody>
          <a:bodyPr wrap="square" lIns="0" tIns="0" rIns="0" bIns="0" rtlCol="0" anchor="ctr"/>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admission_date: { bsonType: "date" }</a:t>
            </a:r>
            <a:endParaRPr lang="en-US" sz="1200" dirty="0"/>
          </a:p>
        </p:txBody>
      </p:sp>
      <p:sp>
        <p:nvSpPr>
          <p:cNvPr id="12" name="Rule tag 106"/>
          <p:cNvSpPr/>
          <p:nvPr/>
        </p:nvSpPr>
        <p:spPr>
          <a:xfrm>
            <a:off x="548640" y="3355848"/>
            <a:ext cx="1188720" cy="365760"/>
          </a:xfrm>
          <a:prstGeom prst="roundRect">
            <a:avLst>
              <a:gd name="adj" fmla="val 15000"/>
            </a:avLst>
          </a:prstGeom>
          <a:solidFill>
            <a:schemeClr val="accent1"/>
          </a:solidFill>
          <a:ln/>
        </p:spPr>
      </p:sp>
      <p:sp>
        <p:nvSpPr>
          <p:cNvPr id="13" name="Text 11"/>
          <p:cNvSpPr txBox="1"/>
          <p:nvPr/>
        </p:nvSpPr>
        <p:spPr>
          <a:xfrm>
            <a:off x="548640" y="3355848"/>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Enum</a:t>
            </a:r>
            <a:endParaRPr lang="en-US" sz="1300" dirty="0"/>
          </a:p>
        </p:txBody>
      </p:sp>
      <p:sp>
        <p:nvSpPr>
          <p:cNvPr id="14" name="Text 12"/>
          <p:cNvSpPr txBox="1"/>
          <p:nvPr/>
        </p:nvSpPr>
        <p:spPr>
          <a:xfrm>
            <a:off x="1965960" y="3319272"/>
            <a:ext cx="4343400" cy="310896"/>
          </a:xfrm>
          <a:prstGeom prst="rect">
            <a:avLst/>
          </a:prstGeom>
          <a:noFill/>
          <a:ln/>
        </p:spPr>
        <p:txBody>
          <a:bodyPr wrap="square" lIns="0" tIns="0" rIns="0" bIns="0" rtlCol="0" anchor="ctr"/>
          <a:lstStyle/>
          <a:p>
            <a:pPr algn="l" indent="0" marL="0">
              <a:buNone/>
            </a:pPr>
            <a:r>
              <a:rPr lang="en-US" sz="1500" b="1" dirty="0">
                <a:solidFill>
                  <a:schemeClr val="tx2"/>
                </a:solidFill>
              </a:rPr>
              <a:t>Status is limited to the 10 lifecycle states</a:t>
            </a:r>
            <a:endParaRPr lang="en-US" sz="1500" dirty="0"/>
          </a:p>
        </p:txBody>
      </p:sp>
      <p:sp>
        <p:nvSpPr>
          <p:cNvPr id="15" name="Text 13"/>
          <p:cNvSpPr txBox="1"/>
          <p:nvPr/>
        </p:nvSpPr>
        <p:spPr>
          <a:xfrm>
            <a:off x="1965960" y="3648456"/>
            <a:ext cx="4343400" cy="274320"/>
          </a:xfrm>
          <a:prstGeom prst="rect">
            <a:avLst/>
          </a:prstGeom>
          <a:noFill/>
          <a:ln/>
        </p:spPr>
        <p:txBody>
          <a:bodyPr wrap="square" lIns="0" tIns="0" rIns="0" bIns="0" rtlCol="0" anchor="ctr"/>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status: { enum: ["Intimated", ..., "Settled"] }</a:t>
            </a:r>
            <a:endParaRPr lang="en-US" sz="1200" dirty="0"/>
          </a:p>
        </p:txBody>
      </p:sp>
      <p:sp>
        <p:nvSpPr>
          <p:cNvPr id="16" name="Rule tag 107"/>
          <p:cNvSpPr/>
          <p:nvPr/>
        </p:nvSpPr>
        <p:spPr>
          <a:xfrm>
            <a:off x="548640" y="4123944"/>
            <a:ext cx="1188720" cy="365760"/>
          </a:xfrm>
          <a:prstGeom prst="roundRect">
            <a:avLst>
              <a:gd name="adj" fmla="val 15000"/>
            </a:avLst>
          </a:prstGeom>
          <a:solidFill>
            <a:schemeClr val="accent1"/>
          </a:solidFill>
          <a:ln/>
        </p:spPr>
      </p:sp>
      <p:sp>
        <p:nvSpPr>
          <p:cNvPr id="17" name="Text 15"/>
          <p:cNvSpPr txBox="1"/>
          <p:nvPr/>
        </p:nvSpPr>
        <p:spPr>
          <a:xfrm>
            <a:off x="548640" y="4123944"/>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Pattern</a:t>
            </a:r>
            <a:endParaRPr lang="en-US" sz="1300" dirty="0"/>
          </a:p>
        </p:txBody>
      </p:sp>
      <p:sp>
        <p:nvSpPr>
          <p:cNvPr id="18" name="Text 16"/>
          <p:cNvSpPr txBox="1"/>
          <p:nvPr/>
        </p:nvSpPr>
        <p:spPr>
          <a:xfrm>
            <a:off x="1965960" y="4087368"/>
            <a:ext cx="4343400" cy="310896"/>
          </a:xfrm>
          <a:prstGeom prst="rect">
            <a:avLst/>
          </a:prstGeom>
          <a:noFill/>
          <a:ln/>
        </p:spPr>
        <p:txBody>
          <a:bodyPr wrap="square" lIns="0" tIns="0" rIns="0" bIns="0" rtlCol="0" anchor="ctr"/>
          <a:lstStyle/>
          <a:p>
            <a:pPr algn="l" indent="0" marL="0">
              <a:buNone/>
            </a:pPr>
            <a:r>
              <a:rPr lang="en-US" sz="1500" b="1" dirty="0">
                <a:solidFill>
                  <a:schemeClr val="tx2"/>
                </a:solidFill>
              </a:rPr>
              <a:t>Business keys follow a fixed format</a:t>
            </a:r>
            <a:endParaRPr lang="en-US" sz="1500" dirty="0"/>
          </a:p>
        </p:txBody>
      </p:sp>
      <p:sp>
        <p:nvSpPr>
          <p:cNvPr id="19" name="Text 17"/>
          <p:cNvSpPr txBox="1"/>
          <p:nvPr/>
        </p:nvSpPr>
        <p:spPr>
          <a:xfrm>
            <a:off x="1965960" y="4416552"/>
            <a:ext cx="4343400" cy="274320"/>
          </a:xfrm>
          <a:prstGeom prst="rect">
            <a:avLst/>
          </a:prstGeom>
          <a:noFill/>
          <a:ln/>
        </p:spPr>
        <p:txBody>
          <a:bodyPr wrap="square" lIns="0" tIns="0" rIns="0" bIns="0" rtlCol="0" anchor="ctr"/>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claim_number: ^CLM-[0-9]{4}-[0-9]{6}$</a:t>
            </a:r>
            <a:endParaRPr lang="en-US" sz="1200" dirty="0"/>
          </a:p>
        </p:txBody>
      </p:sp>
      <p:sp>
        <p:nvSpPr>
          <p:cNvPr id="20" name="Rule tag 108"/>
          <p:cNvSpPr/>
          <p:nvPr/>
        </p:nvSpPr>
        <p:spPr>
          <a:xfrm>
            <a:off x="548640" y="4892040"/>
            <a:ext cx="1188720" cy="365760"/>
          </a:xfrm>
          <a:prstGeom prst="roundRect">
            <a:avLst>
              <a:gd name="adj" fmla="val 15000"/>
            </a:avLst>
          </a:prstGeom>
          <a:solidFill>
            <a:schemeClr val="accent1"/>
          </a:solidFill>
          <a:ln/>
        </p:spPr>
      </p:sp>
      <p:sp>
        <p:nvSpPr>
          <p:cNvPr id="21" name="Text 19"/>
          <p:cNvSpPr txBox="1"/>
          <p:nvPr/>
        </p:nvSpPr>
        <p:spPr>
          <a:xfrm>
            <a:off x="548640" y="4892040"/>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Range</a:t>
            </a:r>
            <a:endParaRPr lang="en-US" sz="1300" dirty="0"/>
          </a:p>
        </p:txBody>
      </p:sp>
      <p:sp>
        <p:nvSpPr>
          <p:cNvPr id="22" name="Text 20"/>
          <p:cNvSpPr txBox="1"/>
          <p:nvPr/>
        </p:nvSpPr>
        <p:spPr>
          <a:xfrm>
            <a:off x="1965960" y="4855464"/>
            <a:ext cx="4343400" cy="310896"/>
          </a:xfrm>
          <a:prstGeom prst="rect">
            <a:avLst/>
          </a:prstGeom>
          <a:noFill/>
          <a:ln/>
        </p:spPr>
        <p:txBody>
          <a:bodyPr wrap="square" lIns="0" tIns="0" rIns="0" bIns="0" rtlCol="0" anchor="ctr"/>
          <a:lstStyle/>
          <a:p>
            <a:pPr algn="l" indent="0" marL="0">
              <a:buNone/>
            </a:pPr>
            <a:r>
              <a:rPr lang="en-US" sz="1500" b="1" dirty="0">
                <a:solidFill>
                  <a:schemeClr val="tx2"/>
                </a:solidFill>
              </a:rPr>
              <a:t>Amounts can never be negative</a:t>
            </a:r>
            <a:endParaRPr lang="en-US" sz="1500" dirty="0"/>
          </a:p>
        </p:txBody>
      </p:sp>
      <p:sp>
        <p:nvSpPr>
          <p:cNvPr id="23" name="Text 21"/>
          <p:cNvSpPr txBox="1"/>
          <p:nvPr/>
        </p:nvSpPr>
        <p:spPr>
          <a:xfrm>
            <a:off x="1965960" y="5184648"/>
            <a:ext cx="4343400" cy="274320"/>
          </a:xfrm>
          <a:prstGeom prst="rect">
            <a:avLst/>
          </a:prstGeom>
          <a:noFill/>
          <a:ln/>
        </p:spPr>
        <p:txBody>
          <a:bodyPr wrap="square" lIns="0" tIns="0" rIns="0" bIns="0" rtlCol="0" anchor="ctr"/>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bill.total: { minimum: 0 }</a:t>
            </a:r>
            <a:endParaRPr lang="en-US" sz="1200" dirty="0"/>
          </a:p>
        </p:txBody>
      </p:sp>
      <p:sp>
        <p:nvSpPr>
          <p:cNvPr id="24" name="Rejected insert card"/>
          <p:cNvSpPr/>
          <p:nvPr/>
        </p:nvSpPr>
        <p:spPr>
          <a:xfrm>
            <a:off x="6675120" y="1783080"/>
            <a:ext cx="4965192" cy="3703320"/>
          </a:xfrm>
          <a:prstGeom prst="roundRect">
            <a:avLst>
              <a:gd name="adj" fmla="val 2469"/>
            </a:avLst>
          </a:prstGeom>
          <a:solidFill>
            <a:schemeClr val="accent3">
              <a:alpha val="10000"/>
            </a:schemeClr>
          </a:solidFill>
          <a:ln/>
        </p:spPr>
      </p:sp>
      <p:sp>
        <p:nvSpPr>
          <p:cNvPr id="25" name="Dot 109"/>
          <p:cNvSpPr/>
          <p:nvPr/>
        </p:nvSpPr>
        <p:spPr>
          <a:xfrm>
            <a:off x="6903720" y="1965960"/>
            <a:ext cx="512064" cy="512064"/>
          </a:xfrm>
          <a:prstGeom prst="ellipse">
            <a:avLst/>
          </a:prstGeom>
          <a:solidFill>
            <a:schemeClr val="accent3"/>
          </a:solidFill>
          <a:ln/>
        </p:spPr>
      </p:sp>
      <p:pic>
        <p:nvPicPr>
          <p:cNvPr id="26" name="Image 0" descr="icon">    </p:cNvPr>
          <p:cNvPicPr>
            <a:picLocks noChangeAspect="1"/>
          </p:cNvPicPr>
          <p:nvPr/>
        </p:nvPicPr>
        <p:blipFill>
          <a:blip r:embed="rId1"/>
          <a:stretch>
            <a:fillRect/>
          </a:stretch>
        </p:blipFill>
        <p:spPr>
          <a:xfrm>
            <a:off x="7031736" y="2093976"/>
            <a:ext cx="256032" cy="256032"/>
          </a:xfrm>
          <a:prstGeom prst="rect">
            <a:avLst/>
          </a:prstGeom>
        </p:spPr>
      </p:pic>
      <p:sp>
        <p:nvSpPr>
          <p:cNvPr id="27" name="Text 24"/>
          <p:cNvSpPr txBox="1"/>
          <p:nvPr/>
        </p:nvSpPr>
        <p:spPr>
          <a:xfrm>
            <a:off x="7589520" y="1965960"/>
            <a:ext cx="3840480" cy="512064"/>
          </a:xfrm>
          <a:prstGeom prst="rect">
            <a:avLst/>
          </a:prstGeom>
          <a:noFill/>
          <a:ln/>
        </p:spPr>
        <p:txBody>
          <a:bodyPr wrap="square" lIns="0" tIns="0" rIns="0" bIns="0" rtlCol="0" anchor="ctr"/>
          <a:lstStyle/>
          <a:p>
            <a:pPr algn="l" indent="0" marL="0">
              <a:buNone/>
            </a:pPr>
            <a:r>
              <a:rPr lang="en-US" sz="1900" b="1" dirty="0">
                <a:solidFill>
                  <a:schemeClr val="accent3"/>
                </a:solidFill>
              </a:rPr>
              <a:t>Insert rejected</a:t>
            </a:r>
            <a:endParaRPr lang="en-US" sz="1900" dirty="0"/>
          </a:p>
        </p:txBody>
      </p:sp>
      <p:sp>
        <p:nvSpPr>
          <p:cNvPr id="28" name="Text 25"/>
          <p:cNvSpPr txBox="1"/>
          <p:nvPr/>
        </p:nvSpPr>
        <p:spPr>
          <a:xfrm>
            <a:off x="6903720" y="2651760"/>
            <a:ext cx="4572000" cy="685800"/>
          </a:xfrm>
          <a:prstGeom prst="rect">
            <a:avLst/>
          </a:prstGeom>
          <a:noFill/>
          <a:ln/>
        </p:spPr>
        <p:txBody>
          <a:bodyPr wrap="square" lIns="0" tIns="0" rIns="0" bIns="0" rtlCol="0" anchor="t"/>
          <a:lstStyle/>
          <a:p>
            <a:pPr algn="l" indent="0" marL="0">
              <a:buNone/>
            </a:pPr>
            <a:r>
              <a:rPr lang="en-US" sz="1200" dirty="0">
                <a:solidFill>
                  <a:schemeClr val="tx2"/>
                </a:solidFill>
                <a:latin typeface="Courier New" pitchFamily="34" charset="0"/>
                <a:ea typeface="Courier New" pitchFamily="34" charset="-122"/>
                <a:cs typeface="Courier New" pitchFamily="34" charset="-120"/>
              </a:rPr>
              <a:t>db.claims.insertOne({</a:t>
            </a:r>
            <a:endParaRPr lang="en-US" sz="1200" dirty="0"/>
          </a:p>
          <a:p>
            <a:pPr algn="l" indent="0" marL="0">
              <a:buNone/>
            </a:pPr>
            <a:r>
              <a:rPr lang="en-US" sz="1200" dirty="0">
                <a:solidFill>
                  <a:schemeClr val="tx2"/>
                </a:solidFill>
                <a:latin typeface="Courier New" pitchFamily="34" charset="0"/>
                <a:ea typeface="Courier New" pitchFamily="34" charset="-122"/>
                <a:cs typeface="Courier New" pitchFamily="34" charset="-120"/>
              </a:rPr>
              <a:t>  claim_number: "CLAIM-42", status: "Paid",</a:t>
            </a:r>
            <a:endParaRPr lang="en-US" sz="1200" dirty="0"/>
          </a:p>
          <a:p>
            <a:pPr algn="l" indent="0" marL="0">
              <a:buNone/>
            </a:pPr>
            <a:r>
              <a:rPr lang="en-US" sz="1200" dirty="0">
                <a:solidFill>
                  <a:schemeClr val="tx2"/>
                </a:solidFill>
                <a:latin typeface="Courier New" pitchFamily="34" charset="0"/>
                <a:ea typeface="Courier New" pitchFamily="34" charset="-122"/>
                <a:cs typeface="Courier New" pitchFamily="34" charset="-120"/>
              </a:rPr>
              <a:t>  claimed_amount: -5000, diagnosis: [] })</a:t>
            </a:r>
            <a:endParaRPr lang="en-US" sz="1200" dirty="0"/>
          </a:p>
        </p:txBody>
      </p:sp>
      <p:sp>
        <p:nvSpPr>
          <p:cNvPr id="29" name="Text 26"/>
          <p:cNvSpPr txBox="1"/>
          <p:nvPr/>
        </p:nvSpPr>
        <p:spPr>
          <a:xfrm>
            <a:off x="6903720" y="3520440"/>
            <a:ext cx="4572000" cy="18288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claim_number does not match the pattern</a:t>
            </a:r>
            <a:endParaRPr lang="en-US" sz="1400" dirty="0"/>
          </a:p>
          <a:p>
            <a:pPr algn="l" marL="342900" indent="-342900">
              <a:spcAft>
                <a:spcPts val="600"/>
              </a:spcAft>
              <a:buSzPct val="100000"/>
              <a:buChar char="•"/>
            </a:pPr>
            <a:r>
              <a:rPr lang="en-US" sz="1400" dirty="0">
                <a:solidFill>
                  <a:schemeClr val="tx1"/>
                </a:solidFill>
              </a:rPr>
              <a:t>status 'Paid' is not an allowed value</a:t>
            </a:r>
            <a:endParaRPr lang="en-US" sz="1400" dirty="0"/>
          </a:p>
          <a:p>
            <a:pPr algn="l" marL="342900" indent="-342900">
              <a:spcAft>
                <a:spcPts val="600"/>
              </a:spcAft>
              <a:buSzPct val="100000"/>
              <a:buChar char="•"/>
            </a:pPr>
            <a:r>
              <a:rPr lang="en-US" sz="1400" dirty="0">
                <a:solidFill>
                  <a:schemeClr val="tx1"/>
                </a:solidFill>
              </a:rPr>
              <a:t>claimed_amount -5000 is below the minimum 0</a:t>
            </a:r>
            <a:endParaRPr lang="en-US" sz="1400" dirty="0"/>
          </a:p>
          <a:p>
            <a:pPr algn="l" marL="342900" indent="-342900">
              <a:spcAft>
                <a:spcPts val="600"/>
              </a:spcAft>
              <a:buSzPct val="100000"/>
              <a:buChar char="•"/>
            </a:pPr>
            <a:r>
              <a:rPr lang="en-US" sz="1400" dirty="0">
                <a:solidFill>
                  <a:schemeClr val="tx1"/>
                </a:solidFill>
              </a:rPr>
              <a:t>diagnosis needs at least one item</a:t>
            </a:r>
            <a:endParaRPr lang="en-US" sz="1400" dirty="0"/>
          </a:p>
        </p:txBody>
      </p:sp>
      <p:sp>
        <p:nvSpPr>
          <p:cNvPr id="30" name="Card 110"/>
          <p:cNvSpPr/>
          <p:nvPr/>
        </p:nvSpPr>
        <p:spPr>
          <a:xfrm>
            <a:off x="548640" y="5650992"/>
            <a:ext cx="11094415" cy="521208"/>
          </a:xfrm>
          <a:prstGeom prst="roundRect">
            <a:avLst>
              <a:gd name="adj" fmla="val 17544"/>
            </a:avLst>
          </a:prstGeom>
          <a:solidFill>
            <a:schemeClr val="bg2"/>
          </a:solidFill>
          <a:ln/>
        </p:spPr>
      </p:sp>
      <p:sp>
        <p:nvSpPr>
          <p:cNvPr id="31" name="Text 28"/>
          <p:cNvSpPr txBox="1"/>
          <p:nvPr/>
        </p:nvSpPr>
        <p:spPr>
          <a:xfrm>
            <a:off x="822960" y="5650992"/>
            <a:ext cx="10545775" cy="521208"/>
          </a:xfrm>
          <a:prstGeom prst="rect">
            <a:avLst/>
          </a:prstGeom>
          <a:noFill/>
          <a:ln/>
        </p:spPr>
        <p:txBody>
          <a:bodyPr wrap="square" lIns="0" tIns="0" rIns="0" bIns="0" rtlCol="0" anchor="ctr"/>
          <a:lstStyle/>
          <a:p>
            <a:pPr algn="l" indent="0" marL="0">
              <a:buNone/>
            </a:pPr>
            <a:r>
              <a:rPr lang="en-US" sz="1400" dirty="0">
                <a:solidFill>
                  <a:schemeClr val="tx1"/>
                </a:solidFill>
              </a:rPr>
              <a:t>One validators.json file is used by MongoDB itself (collMod) and by the app's own checker, across all 14 collections.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The claim lifecycle</a:t>
            </a:r>
            <a:endParaRPr lang="en-US" sz="3600" dirty="0"/>
          </a:p>
        </p:txBody>
      </p:sp>
      <p:sp>
        <p:nvSpPr>
          <p:cNvPr id="4" name="Connector 111"/>
          <p:cNvSpPr/>
          <p:nvPr/>
        </p:nvSpPr>
        <p:spPr>
          <a:xfrm>
            <a:off x="2286000" y="3200400"/>
            <a:ext cx="411480" cy="0"/>
          </a:xfrm>
          <a:prstGeom prst="line">
            <a:avLst/>
          </a:prstGeom>
          <a:noFill/>
          <a:ln w="19050">
            <a:solidFill>
              <a:schemeClr val="accent6"/>
            </a:solidFill>
            <a:prstDash val="solid"/>
            <a:tailEnd type="triangle"/>
          </a:ln>
        </p:spPr>
      </p:sp>
      <p:sp>
        <p:nvSpPr>
          <p:cNvPr id="5" name="Connector 112"/>
          <p:cNvSpPr/>
          <p:nvPr/>
        </p:nvSpPr>
        <p:spPr>
          <a:xfrm>
            <a:off x="4434840" y="3200400"/>
            <a:ext cx="411480" cy="0"/>
          </a:xfrm>
          <a:prstGeom prst="line">
            <a:avLst/>
          </a:prstGeom>
          <a:noFill/>
          <a:ln w="19050">
            <a:solidFill>
              <a:schemeClr val="accent6"/>
            </a:solidFill>
            <a:prstDash val="solid"/>
            <a:tailEnd type="triangle"/>
          </a:ln>
        </p:spPr>
      </p:sp>
      <p:sp>
        <p:nvSpPr>
          <p:cNvPr id="6" name="Connector 113"/>
          <p:cNvSpPr/>
          <p:nvPr/>
        </p:nvSpPr>
        <p:spPr>
          <a:xfrm flipV="1">
            <a:off x="5715000" y="2377440"/>
            <a:ext cx="0" cy="548640"/>
          </a:xfrm>
          <a:prstGeom prst="line">
            <a:avLst/>
          </a:prstGeom>
          <a:noFill/>
          <a:ln w="19050">
            <a:solidFill>
              <a:schemeClr val="accent6"/>
            </a:solidFill>
            <a:prstDash val="solid"/>
            <a:tailEnd type="triangle"/>
          </a:ln>
        </p:spPr>
      </p:sp>
      <p:sp>
        <p:nvSpPr>
          <p:cNvPr id="7" name="Connector 114"/>
          <p:cNvSpPr/>
          <p:nvPr/>
        </p:nvSpPr>
        <p:spPr>
          <a:xfrm>
            <a:off x="5715000" y="3474720"/>
            <a:ext cx="0" cy="548640"/>
          </a:xfrm>
          <a:prstGeom prst="line">
            <a:avLst/>
          </a:prstGeom>
          <a:noFill/>
          <a:ln w="19050">
            <a:solidFill>
              <a:schemeClr val="accent6"/>
            </a:solidFill>
            <a:prstDash val="solid"/>
            <a:headEnd type="triangle"/>
            <a:tailEnd type="triangle"/>
          </a:ln>
        </p:spPr>
      </p:sp>
      <p:sp>
        <p:nvSpPr>
          <p:cNvPr id="8" name="Connector 115"/>
          <p:cNvSpPr/>
          <p:nvPr/>
        </p:nvSpPr>
        <p:spPr>
          <a:xfrm flipV="1">
            <a:off x="6583680" y="2487168"/>
            <a:ext cx="731520" cy="603504"/>
          </a:xfrm>
          <a:prstGeom prst="line">
            <a:avLst/>
          </a:prstGeom>
          <a:noFill/>
          <a:ln w="19050">
            <a:solidFill>
              <a:schemeClr val="accent6"/>
            </a:solidFill>
            <a:prstDash val="solid"/>
            <a:tailEnd type="triangle"/>
          </a:ln>
        </p:spPr>
      </p:sp>
      <p:sp>
        <p:nvSpPr>
          <p:cNvPr id="9" name="Connector 116"/>
          <p:cNvSpPr/>
          <p:nvPr/>
        </p:nvSpPr>
        <p:spPr>
          <a:xfrm>
            <a:off x="6583680" y="3200400"/>
            <a:ext cx="731520" cy="0"/>
          </a:xfrm>
          <a:prstGeom prst="line">
            <a:avLst/>
          </a:prstGeom>
          <a:noFill/>
          <a:ln w="19050">
            <a:solidFill>
              <a:schemeClr val="accent6"/>
            </a:solidFill>
            <a:prstDash val="solid"/>
            <a:tailEnd type="triangle"/>
          </a:ln>
        </p:spPr>
      </p:sp>
      <p:sp>
        <p:nvSpPr>
          <p:cNvPr id="10" name="Connector 117"/>
          <p:cNvSpPr/>
          <p:nvPr/>
        </p:nvSpPr>
        <p:spPr>
          <a:xfrm>
            <a:off x="6583680" y="3310128"/>
            <a:ext cx="731520" cy="603504"/>
          </a:xfrm>
          <a:prstGeom prst="line">
            <a:avLst/>
          </a:prstGeom>
          <a:noFill/>
          <a:ln w="19050">
            <a:solidFill>
              <a:schemeClr val="accent6"/>
            </a:solidFill>
            <a:prstDash val="solid"/>
            <a:tailEnd type="triangle"/>
          </a:ln>
        </p:spPr>
      </p:sp>
      <p:sp>
        <p:nvSpPr>
          <p:cNvPr id="11" name="Connector 118"/>
          <p:cNvSpPr/>
          <p:nvPr/>
        </p:nvSpPr>
        <p:spPr>
          <a:xfrm>
            <a:off x="6583680" y="2103120"/>
            <a:ext cx="731520" cy="228600"/>
          </a:xfrm>
          <a:prstGeom prst="line">
            <a:avLst/>
          </a:prstGeom>
          <a:noFill/>
          <a:ln w="19050">
            <a:solidFill>
              <a:schemeClr val="accent6"/>
            </a:solidFill>
            <a:prstDash val="solid"/>
            <a:tailEnd type="triangle"/>
          </a:ln>
        </p:spPr>
      </p:sp>
      <p:sp>
        <p:nvSpPr>
          <p:cNvPr id="12" name="Connector 119"/>
          <p:cNvSpPr/>
          <p:nvPr/>
        </p:nvSpPr>
        <p:spPr>
          <a:xfrm>
            <a:off x="9052560" y="2423160"/>
            <a:ext cx="777240" cy="301752"/>
          </a:xfrm>
          <a:prstGeom prst="line">
            <a:avLst/>
          </a:prstGeom>
          <a:noFill/>
          <a:ln w="19050">
            <a:solidFill>
              <a:schemeClr val="accent6"/>
            </a:solidFill>
            <a:prstDash val="solid"/>
            <a:tailEnd type="triangle"/>
          </a:ln>
        </p:spPr>
      </p:sp>
      <p:sp>
        <p:nvSpPr>
          <p:cNvPr id="13" name="Connector 120"/>
          <p:cNvSpPr/>
          <p:nvPr/>
        </p:nvSpPr>
        <p:spPr>
          <a:xfrm flipV="1">
            <a:off x="9052560" y="2926080"/>
            <a:ext cx="777240" cy="274320"/>
          </a:xfrm>
          <a:prstGeom prst="line">
            <a:avLst/>
          </a:prstGeom>
          <a:noFill/>
          <a:ln w="19050">
            <a:solidFill>
              <a:schemeClr val="accent6"/>
            </a:solidFill>
            <a:prstDash val="solid"/>
            <a:tailEnd type="triangle"/>
          </a:ln>
        </p:spPr>
      </p:sp>
      <p:sp>
        <p:nvSpPr>
          <p:cNvPr id="14" name="Connector 121"/>
          <p:cNvSpPr/>
          <p:nvPr/>
        </p:nvSpPr>
        <p:spPr>
          <a:xfrm>
            <a:off x="1417320" y="3474720"/>
            <a:ext cx="0" cy="548640"/>
          </a:xfrm>
          <a:prstGeom prst="line">
            <a:avLst/>
          </a:prstGeom>
          <a:noFill/>
          <a:ln w="19050">
            <a:solidFill>
              <a:schemeClr val="accent6"/>
            </a:solidFill>
            <a:prstDash val="dash"/>
            <a:tailEnd type="triangle"/>
          </a:ln>
        </p:spPr>
      </p:sp>
      <p:sp>
        <p:nvSpPr>
          <p:cNvPr id="15" name="State Intimated"/>
          <p:cNvSpPr/>
          <p:nvPr/>
        </p:nvSpPr>
        <p:spPr>
          <a:xfrm>
            <a:off x="548640" y="2926080"/>
            <a:ext cx="1737360" cy="548640"/>
          </a:xfrm>
          <a:prstGeom prst="roundRect">
            <a:avLst>
              <a:gd name="adj" fmla="val 13333"/>
            </a:avLst>
          </a:prstGeom>
          <a:solidFill>
            <a:schemeClr val="accent6"/>
          </a:solidFill>
          <a:ln/>
        </p:spPr>
      </p:sp>
      <p:sp>
        <p:nvSpPr>
          <p:cNvPr id="16" name="Text 14"/>
          <p:cNvSpPr txBox="1"/>
          <p:nvPr/>
        </p:nvSpPr>
        <p:spPr>
          <a:xfrm>
            <a:off x="548640" y="292608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Intimated</a:t>
            </a:r>
            <a:endParaRPr lang="en-US" sz="1300" dirty="0"/>
          </a:p>
        </p:txBody>
      </p:sp>
      <p:sp>
        <p:nvSpPr>
          <p:cNvPr id="17" name="State Documents Pending"/>
          <p:cNvSpPr/>
          <p:nvPr/>
        </p:nvSpPr>
        <p:spPr>
          <a:xfrm>
            <a:off x="2697480" y="2926080"/>
            <a:ext cx="1737360" cy="548640"/>
          </a:xfrm>
          <a:prstGeom prst="roundRect">
            <a:avLst>
              <a:gd name="adj" fmla="val 13333"/>
            </a:avLst>
          </a:prstGeom>
          <a:solidFill>
            <a:schemeClr val="accent2"/>
          </a:solidFill>
          <a:ln/>
        </p:spPr>
      </p:sp>
      <p:sp>
        <p:nvSpPr>
          <p:cNvPr id="18" name="Text 16"/>
          <p:cNvSpPr txBox="1"/>
          <p:nvPr/>
        </p:nvSpPr>
        <p:spPr>
          <a:xfrm>
            <a:off x="2697480" y="2926080"/>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Documents Pending</a:t>
            </a:r>
            <a:endParaRPr lang="en-US" sz="1300" dirty="0"/>
          </a:p>
        </p:txBody>
      </p:sp>
      <p:sp>
        <p:nvSpPr>
          <p:cNvPr id="19" name="State Under Review"/>
          <p:cNvSpPr/>
          <p:nvPr/>
        </p:nvSpPr>
        <p:spPr>
          <a:xfrm>
            <a:off x="4846320" y="2926080"/>
            <a:ext cx="1737360" cy="548640"/>
          </a:xfrm>
          <a:prstGeom prst="roundRect">
            <a:avLst>
              <a:gd name="adj" fmla="val 13333"/>
            </a:avLst>
          </a:prstGeom>
          <a:solidFill>
            <a:schemeClr val="accent4"/>
          </a:solidFill>
          <a:ln/>
        </p:spPr>
      </p:sp>
      <p:sp>
        <p:nvSpPr>
          <p:cNvPr id="20" name="Text 18"/>
          <p:cNvSpPr txBox="1"/>
          <p:nvPr/>
        </p:nvSpPr>
        <p:spPr>
          <a:xfrm>
            <a:off x="4846320" y="292608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Under Review</a:t>
            </a:r>
            <a:endParaRPr lang="en-US" sz="1300" dirty="0"/>
          </a:p>
        </p:txBody>
      </p:sp>
      <p:sp>
        <p:nvSpPr>
          <p:cNvPr id="21" name="State Escalated"/>
          <p:cNvSpPr/>
          <p:nvPr/>
        </p:nvSpPr>
        <p:spPr>
          <a:xfrm>
            <a:off x="4846320" y="1828800"/>
            <a:ext cx="1737360" cy="548640"/>
          </a:xfrm>
          <a:prstGeom prst="roundRect">
            <a:avLst>
              <a:gd name="adj" fmla="val 13333"/>
            </a:avLst>
          </a:prstGeom>
          <a:solidFill>
            <a:schemeClr val="tx2"/>
          </a:solidFill>
          <a:ln/>
        </p:spPr>
      </p:sp>
      <p:sp>
        <p:nvSpPr>
          <p:cNvPr id="22" name="Text 20"/>
          <p:cNvSpPr txBox="1"/>
          <p:nvPr/>
        </p:nvSpPr>
        <p:spPr>
          <a:xfrm>
            <a:off x="4846320" y="182880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Escalated</a:t>
            </a:r>
            <a:endParaRPr lang="en-US" sz="1300" dirty="0"/>
          </a:p>
        </p:txBody>
      </p:sp>
      <p:sp>
        <p:nvSpPr>
          <p:cNvPr id="23" name="State Query Raised"/>
          <p:cNvSpPr/>
          <p:nvPr/>
        </p:nvSpPr>
        <p:spPr>
          <a:xfrm>
            <a:off x="4846320" y="4023360"/>
            <a:ext cx="1737360" cy="548640"/>
          </a:xfrm>
          <a:prstGeom prst="roundRect">
            <a:avLst>
              <a:gd name="adj" fmla="val 13333"/>
            </a:avLst>
          </a:prstGeom>
          <a:solidFill>
            <a:schemeClr val="accent2"/>
          </a:solidFill>
          <a:ln/>
        </p:spPr>
      </p:sp>
      <p:sp>
        <p:nvSpPr>
          <p:cNvPr id="24" name="Text 22"/>
          <p:cNvSpPr txBox="1"/>
          <p:nvPr/>
        </p:nvSpPr>
        <p:spPr>
          <a:xfrm>
            <a:off x="4846320" y="4023360"/>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Query Raised</a:t>
            </a:r>
            <a:endParaRPr lang="en-US" sz="1300" dirty="0"/>
          </a:p>
        </p:txBody>
      </p:sp>
      <p:sp>
        <p:nvSpPr>
          <p:cNvPr id="25" name="State Approved"/>
          <p:cNvSpPr/>
          <p:nvPr/>
        </p:nvSpPr>
        <p:spPr>
          <a:xfrm>
            <a:off x="7315200" y="2148840"/>
            <a:ext cx="1737360" cy="548640"/>
          </a:xfrm>
          <a:prstGeom prst="roundRect">
            <a:avLst>
              <a:gd name="adj" fmla="val 13333"/>
            </a:avLst>
          </a:prstGeom>
          <a:solidFill>
            <a:schemeClr val="accent1"/>
          </a:solidFill>
          <a:ln/>
        </p:spPr>
      </p:sp>
      <p:sp>
        <p:nvSpPr>
          <p:cNvPr id="26" name="Text 24"/>
          <p:cNvSpPr txBox="1"/>
          <p:nvPr/>
        </p:nvSpPr>
        <p:spPr>
          <a:xfrm>
            <a:off x="7315200" y="214884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Approved</a:t>
            </a:r>
            <a:endParaRPr lang="en-US" sz="1300" dirty="0"/>
          </a:p>
        </p:txBody>
      </p:sp>
      <p:sp>
        <p:nvSpPr>
          <p:cNvPr id="27" name="State Partially Approved"/>
          <p:cNvSpPr/>
          <p:nvPr/>
        </p:nvSpPr>
        <p:spPr>
          <a:xfrm>
            <a:off x="7315200" y="2926080"/>
            <a:ext cx="1737360" cy="548640"/>
          </a:xfrm>
          <a:prstGeom prst="roundRect">
            <a:avLst>
              <a:gd name="adj" fmla="val 13333"/>
            </a:avLst>
          </a:prstGeom>
          <a:solidFill>
            <a:schemeClr val="accent1"/>
          </a:solidFill>
          <a:ln/>
        </p:spPr>
      </p:sp>
      <p:sp>
        <p:nvSpPr>
          <p:cNvPr id="28" name="Text 26"/>
          <p:cNvSpPr txBox="1"/>
          <p:nvPr/>
        </p:nvSpPr>
        <p:spPr>
          <a:xfrm>
            <a:off x="7315200" y="292608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Partially Approved</a:t>
            </a:r>
            <a:endParaRPr lang="en-US" sz="1300" dirty="0"/>
          </a:p>
        </p:txBody>
      </p:sp>
      <p:sp>
        <p:nvSpPr>
          <p:cNvPr id="29" name="State Rejected"/>
          <p:cNvSpPr/>
          <p:nvPr/>
        </p:nvSpPr>
        <p:spPr>
          <a:xfrm>
            <a:off x="7315200" y="3703320"/>
            <a:ext cx="1737360" cy="548640"/>
          </a:xfrm>
          <a:prstGeom prst="roundRect">
            <a:avLst>
              <a:gd name="adj" fmla="val 13333"/>
            </a:avLst>
          </a:prstGeom>
          <a:solidFill>
            <a:schemeClr val="accent3"/>
          </a:solidFill>
          <a:ln/>
        </p:spPr>
      </p:sp>
      <p:sp>
        <p:nvSpPr>
          <p:cNvPr id="30" name="Text 28"/>
          <p:cNvSpPr txBox="1"/>
          <p:nvPr/>
        </p:nvSpPr>
        <p:spPr>
          <a:xfrm>
            <a:off x="7315200" y="370332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Rejected</a:t>
            </a:r>
            <a:endParaRPr lang="en-US" sz="1300" dirty="0"/>
          </a:p>
        </p:txBody>
      </p:sp>
      <p:sp>
        <p:nvSpPr>
          <p:cNvPr id="31" name="State Settled"/>
          <p:cNvSpPr/>
          <p:nvPr/>
        </p:nvSpPr>
        <p:spPr>
          <a:xfrm>
            <a:off x="9829800" y="2542032"/>
            <a:ext cx="1737360" cy="548640"/>
          </a:xfrm>
          <a:prstGeom prst="roundRect">
            <a:avLst>
              <a:gd name="adj" fmla="val 13333"/>
            </a:avLst>
          </a:prstGeom>
          <a:solidFill>
            <a:schemeClr val="accent5"/>
          </a:solidFill>
          <a:ln/>
        </p:spPr>
      </p:sp>
      <p:sp>
        <p:nvSpPr>
          <p:cNvPr id="32" name="Text 30"/>
          <p:cNvSpPr txBox="1"/>
          <p:nvPr/>
        </p:nvSpPr>
        <p:spPr>
          <a:xfrm>
            <a:off x="9829800" y="2542032"/>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Settled</a:t>
            </a:r>
            <a:endParaRPr lang="en-US" sz="1300" dirty="0"/>
          </a:p>
        </p:txBody>
      </p:sp>
      <p:sp>
        <p:nvSpPr>
          <p:cNvPr id="33" name="State Withdrawn"/>
          <p:cNvSpPr/>
          <p:nvPr/>
        </p:nvSpPr>
        <p:spPr>
          <a:xfrm>
            <a:off x="548640" y="4023360"/>
            <a:ext cx="1737360" cy="548640"/>
          </a:xfrm>
          <a:prstGeom prst="roundRect">
            <a:avLst>
              <a:gd name="adj" fmla="val 13333"/>
            </a:avLst>
          </a:prstGeom>
          <a:solidFill>
            <a:schemeClr val="accent6"/>
          </a:solidFill>
          <a:ln/>
        </p:spPr>
      </p:sp>
      <p:sp>
        <p:nvSpPr>
          <p:cNvPr id="34" name="Text 32"/>
          <p:cNvSpPr txBox="1"/>
          <p:nvPr/>
        </p:nvSpPr>
        <p:spPr>
          <a:xfrm>
            <a:off x="548640" y="402336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rPr>
              <a:t>Withdrawn</a:t>
            </a:r>
            <a:endParaRPr lang="en-US" sz="1300" dirty="0"/>
          </a:p>
        </p:txBody>
      </p:sp>
      <p:sp>
        <p:nvSpPr>
          <p:cNvPr id="35" name="Text 33"/>
          <p:cNvSpPr txBox="1"/>
          <p:nvPr/>
        </p:nvSpPr>
        <p:spPr>
          <a:xfrm>
            <a:off x="2377440" y="1828800"/>
            <a:ext cx="2331720" cy="548640"/>
          </a:xfrm>
          <a:prstGeom prst="rect">
            <a:avLst/>
          </a:prstGeom>
          <a:noFill/>
          <a:ln/>
        </p:spPr>
        <p:txBody>
          <a:bodyPr wrap="square" lIns="0" tIns="0" rIns="0" bIns="0" rtlCol="0" anchor="ctr"/>
          <a:lstStyle/>
          <a:p>
            <a:pPr algn="r" indent="0" marL="0">
              <a:buNone/>
            </a:pPr>
            <a:r>
              <a:rPr lang="en-US" sz="1100" dirty="0">
                <a:solidFill>
                  <a:schemeClr val="accent6"/>
                </a:solidFill>
              </a:rPr>
              <a:t>payable is above the reviewer's approval limit</a:t>
            </a:r>
            <a:endParaRPr lang="en-US" sz="1100" dirty="0"/>
          </a:p>
        </p:txBody>
      </p:sp>
      <p:sp>
        <p:nvSpPr>
          <p:cNvPr id="36" name="Text 34"/>
          <p:cNvSpPr txBox="1"/>
          <p:nvPr/>
        </p:nvSpPr>
        <p:spPr>
          <a:xfrm>
            <a:off x="2377440" y="4023360"/>
            <a:ext cx="2331720" cy="548640"/>
          </a:xfrm>
          <a:prstGeom prst="rect">
            <a:avLst/>
          </a:prstGeom>
          <a:noFill/>
          <a:ln/>
        </p:spPr>
        <p:txBody>
          <a:bodyPr wrap="square" lIns="0" tIns="0" rIns="0" bIns="0" rtlCol="0" anchor="ctr"/>
          <a:lstStyle/>
          <a:p>
            <a:pPr algn="r" indent="0" marL="0">
              <a:buNone/>
            </a:pPr>
            <a:r>
              <a:rPr lang="en-US" sz="1100" dirty="0">
                <a:solidFill>
                  <a:schemeClr val="accent6"/>
                </a:solidFill>
              </a:rPr>
              <a:t>question sent to the insured or hospital</a:t>
            </a:r>
            <a:endParaRPr lang="en-US" sz="1100" dirty="0"/>
          </a:p>
        </p:txBody>
      </p:sp>
      <p:sp>
        <p:nvSpPr>
          <p:cNvPr id="37" name="Text 35"/>
          <p:cNvSpPr txBox="1"/>
          <p:nvPr/>
        </p:nvSpPr>
        <p:spPr>
          <a:xfrm>
            <a:off x="9829800" y="3145536"/>
            <a:ext cx="1810512" cy="411480"/>
          </a:xfrm>
          <a:prstGeom prst="rect">
            <a:avLst/>
          </a:prstGeom>
          <a:noFill/>
          <a:ln/>
        </p:spPr>
        <p:txBody>
          <a:bodyPr wrap="square" lIns="0" tIns="0" rIns="0" bIns="0" rtlCol="0" anchor="t"/>
          <a:lstStyle/>
          <a:p>
            <a:pPr algn="l" indent="0" marL="0">
              <a:buNone/>
            </a:pPr>
            <a:r>
              <a:rPr lang="en-US" sz="1100" dirty="0">
                <a:solidFill>
                  <a:schemeClr val="accent6"/>
                </a:solidFill>
              </a:rPr>
              <a:t>paid through an ACID transaction</a:t>
            </a:r>
            <a:endParaRPr lang="en-US" sz="1100" dirty="0"/>
          </a:p>
        </p:txBody>
      </p:sp>
      <p:sp>
        <p:nvSpPr>
          <p:cNvPr id="38" name="Text 36"/>
          <p:cNvSpPr txBox="1"/>
          <p:nvPr/>
        </p:nvSpPr>
        <p:spPr>
          <a:xfrm>
            <a:off x="9144000" y="3703320"/>
            <a:ext cx="2468880" cy="548640"/>
          </a:xfrm>
          <a:prstGeom prst="rect">
            <a:avLst/>
          </a:prstGeom>
          <a:noFill/>
          <a:ln/>
        </p:spPr>
        <p:txBody>
          <a:bodyPr wrap="square" lIns="0" tIns="0" rIns="0" bIns="0" rtlCol="0" anchor="ctr"/>
          <a:lstStyle/>
          <a:p>
            <a:pPr algn="l" indent="0" marL="0">
              <a:buNone/>
            </a:pPr>
            <a:r>
              <a:rPr lang="en-US" sz="1100" dirty="0">
                <a:solidFill>
                  <a:schemeClr val="accent6"/>
                </a:solidFill>
              </a:rPr>
              <a:t>a manager can re-open it</a:t>
            </a:r>
            <a:endParaRPr lang="en-US" sz="1100" dirty="0"/>
          </a:p>
        </p:txBody>
      </p:sp>
      <p:sp>
        <p:nvSpPr>
          <p:cNvPr id="39" name="Text 37"/>
          <p:cNvSpPr txBox="1"/>
          <p:nvPr/>
        </p:nvSpPr>
        <p:spPr>
          <a:xfrm>
            <a:off x="548640" y="4773168"/>
            <a:ext cx="5486400" cy="329184"/>
          </a:xfrm>
          <a:prstGeom prst="rect">
            <a:avLst/>
          </a:prstGeom>
          <a:noFill/>
          <a:ln/>
        </p:spPr>
        <p:txBody>
          <a:bodyPr wrap="square" lIns="0" tIns="0" rIns="0" bIns="0" rtlCol="0" anchor="ctr"/>
          <a:lstStyle/>
          <a:p>
            <a:pPr algn="l" indent="0" marL="0">
              <a:buNone/>
            </a:pPr>
            <a:r>
              <a:rPr lang="en-US" sz="1600" b="1" dirty="0">
                <a:solidFill>
                  <a:schemeClr val="tx2"/>
                </a:solidFill>
              </a:rPr>
              <a:t>Approval limits by role</a:t>
            </a:r>
            <a:endParaRPr lang="en-US" sz="1600" dirty="0"/>
          </a:p>
        </p:txBody>
      </p:sp>
      <p:sp>
        <p:nvSpPr>
          <p:cNvPr id="40" name="Card 122"/>
          <p:cNvSpPr/>
          <p:nvPr/>
        </p:nvSpPr>
        <p:spPr>
          <a:xfrm>
            <a:off x="548640" y="5175504"/>
            <a:ext cx="2606040" cy="987552"/>
          </a:xfrm>
          <a:prstGeom prst="roundRect">
            <a:avLst>
              <a:gd name="adj" fmla="val 9259"/>
            </a:avLst>
          </a:prstGeom>
          <a:solidFill>
            <a:schemeClr val="bg2"/>
          </a:solidFill>
          <a:ln/>
        </p:spPr>
      </p:sp>
      <p:sp>
        <p:nvSpPr>
          <p:cNvPr id="41" name="Text 39"/>
          <p:cNvSpPr txBox="1"/>
          <p:nvPr/>
        </p:nvSpPr>
        <p:spPr>
          <a:xfrm>
            <a:off x="777240" y="5230368"/>
            <a:ext cx="2194560" cy="502920"/>
          </a:xfrm>
          <a:prstGeom prst="rect">
            <a:avLst/>
          </a:prstGeom>
          <a:noFill/>
          <a:ln/>
        </p:spPr>
        <p:txBody>
          <a:bodyPr wrap="square" lIns="0" tIns="0" rIns="0" bIns="0" rtlCol="0" anchor="ctr"/>
          <a:lstStyle/>
          <a:p>
            <a:pPr algn="l" indent="0" marL="0">
              <a:buNone/>
            </a:pPr>
            <a:r>
              <a:rPr lang="en-US" sz="2400" b="1" dirty="0">
                <a:solidFill>
                  <a:schemeClr val="accent1"/>
                </a:solidFill>
              </a:rPr>
              <a:t>₹75,000</a:t>
            </a:r>
            <a:endParaRPr lang="en-US" sz="2400" dirty="0"/>
          </a:p>
        </p:txBody>
      </p:sp>
      <p:sp>
        <p:nvSpPr>
          <p:cNvPr id="42" name="Text 40"/>
          <p:cNvSpPr txBox="1"/>
          <p:nvPr/>
        </p:nvSpPr>
        <p:spPr>
          <a:xfrm>
            <a:off x="777240" y="5733288"/>
            <a:ext cx="2194560" cy="329184"/>
          </a:xfrm>
          <a:prstGeom prst="rect">
            <a:avLst/>
          </a:prstGeom>
          <a:noFill/>
          <a:ln/>
        </p:spPr>
        <p:txBody>
          <a:bodyPr wrap="square" lIns="0" tIns="0" rIns="0" bIns="0" rtlCol="0" anchor="ctr"/>
          <a:lstStyle/>
          <a:p>
            <a:pPr algn="l" indent="0" marL="0">
              <a:buNone/>
            </a:pPr>
            <a:r>
              <a:rPr lang="en-US" sz="1300" dirty="0">
                <a:solidFill>
                  <a:schemeClr val="tx1"/>
                </a:solidFill>
              </a:rPr>
              <a:t>Claims Executive</a:t>
            </a:r>
            <a:endParaRPr lang="en-US" sz="1300" dirty="0"/>
          </a:p>
        </p:txBody>
      </p:sp>
      <p:sp>
        <p:nvSpPr>
          <p:cNvPr id="43" name="Card 123"/>
          <p:cNvSpPr/>
          <p:nvPr/>
        </p:nvSpPr>
        <p:spPr>
          <a:xfrm>
            <a:off x="3374136" y="5175504"/>
            <a:ext cx="2606040" cy="987552"/>
          </a:xfrm>
          <a:prstGeom prst="roundRect">
            <a:avLst>
              <a:gd name="adj" fmla="val 9259"/>
            </a:avLst>
          </a:prstGeom>
          <a:solidFill>
            <a:schemeClr val="bg2"/>
          </a:solidFill>
          <a:ln/>
        </p:spPr>
      </p:sp>
      <p:sp>
        <p:nvSpPr>
          <p:cNvPr id="44" name="Text 42"/>
          <p:cNvSpPr txBox="1"/>
          <p:nvPr/>
        </p:nvSpPr>
        <p:spPr>
          <a:xfrm>
            <a:off x="3602736" y="5230368"/>
            <a:ext cx="2194560" cy="502920"/>
          </a:xfrm>
          <a:prstGeom prst="rect">
            <a:avLst/>
          </a:prstGeom>
          <a:noFill/>
          <a:ln/>
        </p:spPr>
        <p:txBody>
          <a:bodyPr wrap="square" lIns="0" tIns="0" rIns="0" bIns="0" rtlCol="0" anchor="ctr"/>
          <a:lstStyle/>
          <a:p>
            <a:pPr algn="l" indent="0" marL="0">
              <a:buNone/>
            </a:pPr>
            <a:r>
              <a:rPr lang="en-US" sz="2400" b="1" dirty="0">
                <a:solidFill>
                  <a:schemeClr val="accent1"/>
                </a:solidFill>
              </a:rPr>
              <a:t>₹2,00,000</a:t>
            </a:r>
            <a:endParaRPr lang="en-US" sz="2400" dirty="0"/>
          </a:p>
        </p:txBody>
      </p:sp>
      <p:sp>
        <p:nvSpPr>
          <p:cNvPr id="45" name="Text 43"/>
          <p:cNvSpPr txBox="1"/>
          <p:nvPr/>
        </p:nvSpPr>
        <p:spPr>
          <a:xfrm>
            <a:off x="3602736" y="5733288"/>
            <a:ext cx="2194560" cy="329184"/>
          </a:xfrm>
          <a:prstGeom prst="rect">
            <a:avLst/>
          </a:prstGeom>
          <a:noFill/>
          <a:ln/>
        </p:spPr>
        <p:txBody>
          <a:bodyPr wrap="square" lIns="0" tIns="0" rIns="0" bIns="0" rtlCol="0" anchor="ctr"/>
          <a:lstStyle/>
          <a:p>
            <a:pPr algn="l" indent="0" marL="0">
              <a:buNone/>
            </a:pPr>
            <a:r>
              <a:rPr lang="en-US" sz="1300" dirty="0">
                <a:solidFill>
                  <a:schemeClr val="tx1"/>
                </a:solidFill>
              </a:rPr>
              <a:t>Medical Officer</a:t>
            </a:r>
            <a:endParaRPr lang="en-US" sz="1300" dirty="0"/>
          </a:p>
        </p:txBody>
      </p:sp>
      <p:sp>
        <p:nvSpPr>
          <p:cNvPr id="46" name="Card 124"/>
          <p:cNvSpPr/>
          <p:nvPr/>
        </p:nvSpPr>
        <p:spPr>
          <a:xfrm>
            <a:off x="6199632" y="5175504"/>
            <a:ext cx="2606040" cy="987552"/>
          </a:xfrm>
          <a:prstGeom prst="roundRect">
            <a:avLst>
              <a:gd name="adj" fmla="val 9259"/>
            </a:avLst>
          </a:prstGeom>
          <a:solidFill>
            <a:schemeClr val="bg2"/>
          </a:solidFill>
          <a:ln/>
        </p:spPr>
      </p:sp>
      <p:sp>
        <p:nvSpPr>
          <p:cNvPr id="47" name="Text 45"/>
          <p:cNvSpPr txBox="1"/>
          <p:nvPr/>
        </p:nvSpPr>
        <p:spPr>
          <a:xfrm>
            <a:off x="6428232" y="5230368"/>
            <a:ext cx="2194560" cy="502920"/>
          </a:xfrm>
          <a:prstGeom prst="rect">
            <a:avLst/>
          </a:prstGeom>
          <a:noFill/>
          <a:ln/>
        </p:spPr>
        <p:txBody>
          <a:bodyPr wrap="square" lIns="0" tIns="0" rIns="0" bIns="0" rtlCol="0" anchor="ctr"/>
          <a:lstStyle/>
          <a:p>
            <a:pPr algn="l" indent="0" marL="0">
              <a:buNone/>
            </a:pPr>
            <a:r>
              <a:rPr lang="en-US" sz="2400" b="1" dirty="0">
                <a:solidFill>
                  <a:schemeClr val="accent1"/>
                </a:solidFill>
              </a:rPr>
              <a:t>₹3,00,000</a:t>
            </a:r>
            <a:endParaRPr lang="en-US" sz="2400" dirty="0"/>
          </a:p>
        </p:txBody>
      </p:sp>
      <p:sp>
        <p:nvSpPr>
          <p:cNvPr id="48" name="Text 46"/>
          <p:cNvSpPr txBox="1"/>
          <p:nvPr/>
        </p:nvSpPr>
        <p:spPr>
          <a:xfrm>
            <a:off x="6428232" y="5733288"/>
            <a:ext cx="2194560" cy="329184"/>
          </a:xfrm>
          <a:prstGeom prst="rect">
            <a:avLst/>
          </a:prstGeom>
          <a:noFill/>
          <a:ln/>
        </p:spPr>
        <p:txBody>
          <a:bodyPr wrap="square" lIns="0" tIns="0" rIns="0" bIns="0" rtlCol="0" anchor="ctr"/>
          <a:lstStyle/>
          <a:p>
            <a:pPr algn="l" indent="0" marL="0">
              <a:buNone/>
            </a:pPr>
            <a:r>
              <a:rPr lang="en-US" sz="1300" dirty="0">
                <a:solidFill>
                  <a:schemeClr val="tx1"/>
                </a:solidFill>
              </a:rPr>
              <a:t>Senior Adjuster</a:t>
            </a:r>
            <a:endParaRPr lang="en-US" sz="1300" dirty="0"/>
          </a:p>
        </p:txBody>
      </p:sp>
      <p:sp>
        <p:nvSpPr>
          <p:cNvPr id="49" name="Card 125"/>
          <p:cNvSpPr/>
          <p:nvPr/>
        </p:nvSpPr>
        <p:spPr>
          <a:xfrm>
            <a:off x="9025128" y="5175504"/>
            <a:ext cx="2606040" cy="987552"/>
          </a:xfrm>
          <a:prstGeom prst="roundRect">
            <a:avLst>
              <a:gd name="adj" fmla="val 9259"/>
            </a:avLst>
          </a:prstGeom>
          <a:solidFill>
            <a:schemeClr val="bg2"/>
          </a:solidFill>
          <a:ln/>
        </p:spPr>
      </p:sp>
      <p:sp>
        <p:nvSpPr>
          <p:cNvPr id="50" name="Text 48"/>
          <p:cNvSpPr txBox="1"/>
          <p:nvPr/>
        </p:nvSpPr>
        <p:spPr>
          <a:xfrm>
            <a:off x="9253728" y="5230368"/>
            <a:ext cx="2194560" cy="502920"/>
          </a:xfrm>
          <a:prstGeom prst="rect">
            <a:avLst/>
          </a:prstGeom>
          <a:noFill/>
          <a:ln/>
        </p:spPr>
        <p:txBody>
          <a:bodyPr wrap="square" lIns="0" tIns="0" rIns="0" bIns="0" rtlCol="0" anchor="ctr"/>
          <a:lstStyle/>
          <a:p>
            <a:pPr algn="l" indent="0" marL="0">
              <a:buNone/>
            </a:pPr>
            <a:r>
              <a:rPr lang="en-US" sz="2400" b="1" dirty="0">
                <a:solidFill>
                  <a:schemeClr val="accent1"/>
                </a:solidFill>
              </a:rPr>
              <a:t>₹10,00,000</a:t>
            </a:r>
            <a:endParaRPr lang="en-US" sz="2400" dirty="0"/>
          </a:p>
        </p:txBody>
      </p:sp>
      <p:sp>
        <p:nvSpPr>
          <p:cNvPr id="51" name="Text 49"/>
          <p:cNvSpPr txBox="1"/>
          <p:nvPr/>
        </p:nvSpPr>
        <p:spPr>
          <a:xfrm>
            <a:off x="9253728" y="5733288"/>
            <a:ext cx="2194560" cy="329184"/>
          </a:xfrm>
          <a:prstGeom prst="rect">
            <a:avLst/>
          </a:prstGeom>
          <a:noFill/>
          <a:ln/>
        </p:spPr>
        <p:txBody>
          <a:bodyPr wrap="square" lIns="0" tIns="0" rIns="0" bIns="0" rtlCol="0" anchor="ctr"/>
          <a:lstStyle/>
          <a:p>
            <a:pPr algn="l" indent="0" marL="0">
              <a:buNone/>
            </a:pPr>
            <a:r>
              <a:rPr lang="en-US" sz="1300" dirty="0">
                <a:solidFill>
                  <a:schemeClr val="tx1"/>
                </a:solidFill>
              </a:rPr>
              <a:t>Claims Manager</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The adjudication engine</a:t>
            </a:r>
            <a:endParaRPr lang="en-US" sz="3600" dirty="0"/>
          </a:p>
        </p:txBody>
      </p:sp>
      <p:sp>
        <p:nvSpPr>
          <p:cNvPr id="4" name="Card 126"/>
          <p:cNvSpPr/>
          <p:nvPr/>
        </p:nvSpPr>
        <p:spPr>
          <a:xfrm>
            <a:off x="548640" y="1783080"/>
            <a:ext cx="5394960" cy="3794760"/>
          </a:xfrm>
          <a:prstGeom prst="roundRect">
            <a:avLst>
              <a:gd name="adj" fmla="val 2410"/>
            </a:avLst>
          </a:prstGeom>
          <a:solidFill>
            <a:schemeClr val="bg2"/>
          </a:solidFill>
          <a:ln/>
        </p:spPr>
      </p:sp>
      <p:sp>
        <p:nvSpPr>
          <p:cNvPr id="5" name="Dot 127"/>
          <p:cNvSpPr/>
          <p:nvPr/>
        </p:nvSpPr>
        <p:spPr>
          <a:xfrm>
            <a:off x="822960" y="1947672"/>
            <a:ext cx="530352" cy="530352"/>
          </a:xfrm>
          <a:prstGeom prst="ellipse">
            <a:avLst/>
          </a:prstGeom>
          <a:solidFill>
            <a:schemeClr val="accent1"/>
          </a:solidFill>
          <a:ln/>
        </p:spPr>
      </p:sp>
      <p:sp>
        <p:nvSpPr>
          <p:cNvPr id="6" name="Text 4"/>
          <p:cNvSpPr txBox="1"/>
          <p:nvPr/>
        </p:nvSpPr>
        <p:spPr>
          <a:xfrm>
            <a:off x="822960" y="1947672"/>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508760" y="1947672"/>
            <a:ext cx="4114800" cy="530352"/>
          </a:xfrm>
          <a:prstGeom prst="rect">
            <a:avLst/>
          </a:prstGeom>
          <a:noFill/>
          <a:ln/>
        </p:spPr>
        <p:txBody>
          <a:bodyPr wrap="square" lIns="0" tIns="0" rIns="0" bIns="0" rtlCol="0" anchor="ctr"/>
          <a:lstStyle/>
          <a:p>
            <a:pPr algn="l" indent="0" marL="0">
              <a:buNone/>
            </a:pPr>
            <a:r>
              <a:rPr lang="en-US" sz="2000" b="1" dirty="0">
                <a:solidFill>
                  <a:schemeClr val="tx2"/>
                </a:solidFill>
              </a:rPr>
              <a:t>Eligibility</a:t>
            </a:r>
            <a:endParaRPr lang="en-US" sz="2000" dirty="0"/>
          </a:p>
        </p:txBody>
      </p:sp>
      <p:sp>
        <p:nvSpPr>
          <p:cNvPr id="8" name="Text 6"/>
          <p:cNvSpPr txBox="1"/>
          <p:nvPr/>
        </p:nvSpPr>
        <p:spPr>
          <a:xfrm>
            <a:off x="868680" y="2651760"/>
            <a:ext cx="4846320" cy="2286000"/>
          </a:xfrm>
          <a:prstGeom prst="rect">
            <a:avLst/>
          </a:prstGeom>
          <a:noFill/>
          <a:ln/>
        </p:spPr>
        <p:txBody>
          <a:bodyPr wrap="square" lIns="0" tIns="0" rIns="0" bIns="0" rtlCol="0" anchor="t"/>
          <a:lstStyle/>
          <a:p>
            <a:pPr algn="l" marL="342900" indent="-342900">
              <a:spcAft>
                <a:spcPts val="500"/>
              </a:spcAft>
              <a:buSzPct val="100000"/>
              <a:buChar char="•"/>
            </a:pPr>
            <a:r>
              <a:rPr lang="en-US" sz="1500" dirty="0">
                <a:solidFill>
                  <a:schemeClr val="tx1"/>
                </a:solidFill>
              </a:rPr>
              <a:t>Policy in force on the admission date</a:t>
            </a:r>
            <a:endParaRPr lang="en-US" sz="1500" dirty="0"/>
          </a:p>
          <a:p>
            <a:pPr algn="l" marL="342900" indent="-342900">
              <a:spcAft>
                <a:spcPts val="500"/>
              </a:spcAft>
              <a:buSzPct val="100000"/>
              <a:buChar char="•"/>
            </a:pPr>
            <a:r>
              <a:rPr lang="en-US" sz="1500" dirty="0">
                <a:solidFill>
                  <a:schemeClr val="tx1"/>
                </a:solidFill>
              </a:rPr>
              <a:t>Patient is an insured member</a:t>
            </a:r>
            <a:endParaRPr lang="en-US" sz="1500" dirty="0"/>
          </a:p>
          <a:p>
            <a:pPr algn="l" marL="342900" indent="-342900">
              <a:spcAft>
                <a:spcPts val="500"/>
              </a:spcAft>
              <a:buSzPct val="100000"/>
              <a:buChar char="•"/>
            </a:pPr>
            <a:r>
              <a:rPr lang="en-US" sz="1500" dirty="0">
                <a:solidFill>
                  <a:schemeClr val="tx1"/>
                </a:solidFill>
              </a:rPr>
              <a:t>Initial 30-day wait (accidents exempt)</a:t>
            </a:r>
            <a:endParaRPr lang="en-US" sz="1500" dirty="0"/>
          </a:p>
          <a:p>
            <a:pPr algn="l" marL="342900" indent="-342900">
              <a:spcAft>
                <a:spcPts val="500"/>
              </a:spcAft>
              <a:buSzPct val="100000"/>
              <a:buChar char="•"/>
            </a:pPr>
            <a:r>
              <a:rPr lang="en-US" sz="1500" dirty="0">
                <a:solidFill>
                  <a:schemeClr val="tx1"/>
                </a:solidFill>
              </a:rPr>
              <a:t>Specific-illness wait of 24 months</a:t>
            </a:r>
            <a:endParaRPr lang="en-US" sz="1500" dirty="0"/>
          </a:p>
          <a:p>
            <a:pPr algn="l" marL="342900" indent="-342900">
              <a:spcAft>
                <a:spcPts val="500"/>
              </a:spcAft>
              <a:buSzPct val="100000"/>
              <a:buChar char="•"/>
            </a:pPr>
            <a:r>
              <a:rPr lang="en-US" sz="1500" dirty="0">
                <a:solidFill>
                  <a:schemeClr val="tx1"/>
                </a:solidFill>
              </a:rPr>
              <a:t>Pre-existing disease wait, up to 48 months</a:t>
            </a:r>
            <a:endParaRPr lang="en-US" sz="1500" dirty="0"/>
          </a:p>
          <a:p>
            <a:pPr algn="l" marL="342900" indent="-342900">
              <a:spcAft>
                <a:spcPts val="500"/>
              </a:spcAft>
              <a:buSzPct val="100000"/>
              <a:buChar char="•"/>
            </a:pPr>
            <a:r>
              <a:rPr lang="en-US" sz="1500" dirty="0">
                <a:solidFill>
                  <a:schemeClr val="tx1"/>
                </a:solidFill>
              </a:rPr>
              <a:t>Maternity cover and its waiting period</a:t>
            </a:r>
            <a:endParaRPr lang="en-US" sz="1500" dirty="0"/>
          </a:p>
          <a:p>
            <a:pPr algn="l" marL="342900" indent="-342900">
              <a:spcAft>
                <a:spcPts val="500"/>
              </a:spcAft>
              <a:buSzPct val="100000"/>
              <a:buChar char="•"/>
            </a:pPr>
            <a:r>
              <a:rPr lang="en-US" sz="1500" dirty="0">
                <a:solidFill>
                  <a:schemeClr val="tx1"/>
                </a:solidFill>
              </a:rPr>
              <a:t>Treatment is not excluded</a:t>
            </a:r>
            <a:endParaRPr lang="en-US" sz="1500" dirty="0"/>
          </a:p>
        </p:txBody>
      </p:sp>
      <p:sp>
        <p:nvSpPr>
          <p:cNvPr id="9" name="Text 7"/>
          <p:cNvSpPr txBox="1"/>
          <p:nvPr/>
        </p:nvSpPr>
        <p:spPr>
          <a:xfrm>
            <a:off x="868680" y="4956048"/>
            <a:ext cx="4846320" cy="502920"/>
          </a:xfrm>
          <a:prstGeom prst="rect">
            <a:avLst/>
          </a:prstGeom>
          <a:noFill/>
          <a:ln/>
        </p:spPr>
        <p:txBody>
          <a:bodyPr wrap="square" lIns="0" tIns="0" rIns="0" bIns="0" rtlCol="0" anchor="ctr"/>
          <a:lstStyle/>
          <a:p>
            <a:pPr algn="l" indent="0" marL="0">
              <a:buNone/>
            </a:pPr>
            <a:r>
              <a:rPr lang="en-US" sz="1400" b="1" dirty="0">
                <a:solidFill>
                  <a:schemeClr val="accent1"/>
                </a:solidFill>
              </a:rPr>
              <a:t>Any failure is a rejection with a coded reason (R01 to R11).</a:t>
            </a:r>
            <a:endParaRPr lang="en-US" sz="1400" dirty="0"/>
          </a:p>
        </p:txBody>
      </p:sp>
      <p:sp>
        <p:nvSpPr>
          <p:cNvPr id="10" name="Card 128"/>
          <p:cNvSpPr/>
          <p:nvPr/>
        </p:nvSpPr>
        <p:spPr>
          <a:xfrm>
            <a:off x="6245352" y="1783080"/>
            <a:ext cx="5394960" cy="3794760"/>
          </a:xfrm>
          <a:prstGeom prst="roundRect">
            <a:avLst>
              <a:gd name="adj" fmla="val 2410"/>
            </a:avLst>
          </a:prstGeom>
          <a:solidFill>
            <a:schemeClr val="bg2"/>
          </a:solidFill>
          <a:ln/>
        </p:spPr>
      </p:sp>
      <p:sp>
        <p:nvSpPr>
          <p:cNvPr id="11" name="Dot 129"/>
          <p:cNvSpPr/>
          <p:nvPr/>
        </p:nvSpPr>
        <p:spPr>
          <a:xfrm>
            <a:off x="6519672" y="1947672"/>
            <a:ext cx="530352" cy="530352"/>
          </a:xfrm>
          <a:prstGeom prst="ellipse">
            <a:avLst/>
          </a:prstGeom>
          <a:solidFill>
            <a:schemeClr val="accent1"/>
          </a:solidFill>
          <a:ln/>
        </p:spPr>
      </p:sp>
      <p:sp>
        <p:nvSpPr>
          <p:cNvPr id="12" name="Text 10"/>
          <p:cNvSpPr txBox="1"/>
          <p:nvPr/>
        </p:nvSpPr>
        <p:spPr>
          <a:xfrm>
            <a:off x="6519672" y="1947672"/>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7205472" y="1947672"/>
            <a:ext cx="4114800" cy="530352"/>
          </a:xfrm>
          <a:prstGeom prst="rect">
            <a:avLst/>
          </a:prstGeom>
          <a:noFill/>
          <a:ln/>
        </p:spPr>
        <p:txBody>
          <a:bodyPr wrap="square" lIns="0" tIns="0" rIns="0" bIns="0" rtlCol="0" anchor="ctr"/>
          <a:lstStyle/>
          <a:p>
            <a:pPr algn="l" indent="0" marL="0">
              <a:buNone/>
            </a:pPr>
            <a:r>
              <a:rPr lang="en-US" sz="2000" b="1" dirty="0">
                <a:solidFill>
                  <a:schemeClr val="tx2"/>
                </a:solidFill>
              </a:rPr>
              <a:t>Deductions</a:t>
            </a:r>
            <a:endParaRPr lang="en-US" sz="2000" dirty="0"/>
          </a:p>
        </p:txBody>
      </p:sp>
      <p:sp>
        <p:nvSpPr>
          <p:cNvPr id="14" name="Text 12"/>
          <p:cNvSpPr txBox="1"/>
          <p:nvPr/>
        </p:nvSpPr>
        <p:spPr>
          <a:xfrm>
            <a:off x="6565392" y="2651760"/>
            <a:ext cx="4846320" cy="2286000"/>
          </a:xfrm>
          <a:prstGeom prst="rect">
            <a:avLst/>
          </a:prstGeom>
          <a:noFill/>
          <a:ln/>
        </p:spPr>
        <p:txBody>
          <a:bodyPr wrap="square" lIns="0" tIns="0" rIns="0" bIns="0" rtlCol="0" anchor="t"/>
          <a:lstStyle/>
          <a:p>
            <a:pPr algn="l" marL="342900" indent="-342900">
              <a:spcAft>
                <a:spcPts val="500"/>
              </a:spcAft>
              <a:buSzPct val="100000"/>
              <a:buChar char="•"/>
            </a:pPr>
            <a:r>
              <a:rPr lang="en-US" sz="1500" dirty="0">
                <a:solidFill>
                  <a:schemeClr val="tx1"/>
                </a:solidFill>
              </a:rPr>
              <a:t>Non-payable consumables and admin charges</a:t>
            </a:r>
            <a:endParaRPr lang="en-US" sz="1500" dirty="0"/>
          </a:p>
          <a:p>
            <a:pPr algn="l" marL="342900" indent="-342900">
              <a:spcAft>
                <a:spcPts val="500"/>
              </a:spcAft>
              <a:buSzPct val="100000"/>
              <a:buChar char="•"/>
            </a:pPr>
            <a:r>
              <a:rPr lang="en-US" sz="1500" dirty="0">
                <a:solidFill>
                  <a:schemeClr val="tx1"/>
                </a:solidFill>
              </a:rPr>
              <a:t>Room rent above the eligible rate</a:t>
            </a:r>
            <a:endParaRPr lang="en-US" sz="1500" dirty="0"/>
          </a:p>
          <a:p>
            <a:pPr algn="l" marL="342900" indent="-342900">
              <a:spcAft>
                <a:spcPts val="500"/>
              </a:spcAft>
              <a:buSzPct val="100000"/>
              <a:buChar char="•"/>
            </a:pPr>
            <a:r>
              <a:rPr lang="en-US" sz="1500" dirty="0">
                <a:solidFill>
                  <a:schemeClr val="tx1"/>
                </a:solidFill>
              </a:rPr>
              <a:t>Proportionate cut on associated charges</a:t>
            </a:r>
            <a:endParaRPr lang="en-US" sz="1500" dirty="0"/>
          </a:p>
          <a:p>
            <a:pPr algn="l" marL="342900" indent="-342900">
              <a:spcAft>
                <a:spcPts val="500"/>
              </a:spcAft>
              <a:buSzPct val="100000"/>
              <a:buChar char="•"/>
            </a:pPr>
            <a:r>
              <a:rPr lang="en-US" sz="1500" dirty="0">
                <a:solidFill>
                  <a:schemeClr val="tx1"/>
                </a:solidFill>
              </a:rPr>
              <a:t>Ambulance limit</a:t>
            </a:r>
            <a:endParaRPr lang="en-US" sz="1500" dirty="0"/>
          </a:p>
          <a:p>
            <a:pPr algn="l" marL="342900" indent="-342900">
              <a:spcAft>
                <a:spcPts val="500"/>
              </a:spcAft>
              <a:buSzPct val="100000"/>
              <a:buChar char="•"/>
            </a:pPr>
            <a:r>
              <a:rPr lang="en-US" sz="1500" dirty="0">
                <a:solidFill>
                  <a:schemeClr val="tx1"/>
                </a:solidFill>
              </a:rPr>
              <a:t>Disease sub-limits and the maternity cap</a:t>
            </a:r>
            <a:endParaRPr lang="en-US" sz="1500" dirty="0"/>
          </a:p>
          <a:p>
            <a:pPr algn="l" marL="342900" indent="-342900">
              <a:spcAft>
                <a:spcPts val="500"/>
              </a:spcAft>
              <a:buSzPct val="100000"/>
              <a:buChar char="•"/>
            </a:pPr>
            <a:r>
              <a:rPr lang="en-US" sz="1500" dirty="0">
                <a:solidFill>
                  <a:schemeClr val="tx1"/>
                </a:solidFill>
              </a:rPr>
              <a:t>Co-payment (20% on senior plans)</a:t>
            </a:r>
            <a:endParaRPr lang="en-US" sz="1500" dirty="0"/>
          </a:p>
          <a:p>
            <a:pPr algn="l" marL="342900" indent="-342900">
              <a:spcAft>
                <a:spcPts val="500"/>
              </a:spcAft>
              <a:buSzPct val="100000"/>
              <a:buChar char="•"/>
            </a:pPr>
            <a:r>
              <a:rPr lang="en-US" sz="1500" dirty="0">
                <a:solidFill>
                  <a:schemeClr val="tx1"/>
                </a:solidFill>
              </a:rPr>
              <a:t>Available sum insured</a:t>
            </a:r>
            <a:endParaRPr lang="en-US" sz="1500" dirty="0"/>
          </a:p>
        </p:txBody>
      </p:sp>
      <p:sp>
        <p:nvSpPr>
          <p:cNvPr id="15" name="Text 13"/>
          <p:cNvSpPr txBox="1"/>
          <p:nvPr/>
        </p:nvSpPr>
        <p:spPr>
          <a:xfrm>
            <a:off x="6565392" y="4956048"/>
            <a:ext cx="4846320" cy="502920"/>
          </a:xfrm>
          <a:prstGeom prst="rect">
            <a:avLst/>
          </a:prstGeom>
          <a:noFill/>
          <a:ln/>
        </p:spPr>
        <p:txBody>
          <a:bodyPr wrap="square" lIns="0" tIns="0" rIns="0" bIns="0" rtlCol="0" anchor="ctr"/>
          <a:lstStyle/>
          <a:p>
            <a:pPr algn="l" indent="0" marL="0">
              <a:buNone/>
            </a:pPr>
            <a:r>
              <a:rPr lang="en-US" sz="1400" b="1" dirty="0">
                <a:solidFill>
                  <a:schemeClr val="accent1"/>
                </a:solidFill>
              </a:rPr>
              <a:t>What is left is the amount payable by the insurer.</a:t>
            </a:r>
            <a:endParaRPr lang="en-US" sz="1400" dirty="0"/>
          </a:p>
        </p:txBody>
      </p:sp>
      <p:sp>
        <p:nvSpPr>
          <p:cNvPr id="16" name="Text 14"/>
          <p:cNvSpPr txBox="1"/>
          <p:nvPr/>
        </p:nvSpPr>
        <p:spPr>
          <a:xfrm>
            <a:off x="548640" y="5742432"/>
            <a:ext cx="11094415" cy="411480"/>
          </a:xfrm>
          <a:prstGeom prst="rect">
            <a:avLst/>
          </a:prstGeom>
          <a:noFill/>
          <a:ln/>
        </p:spPr>
        <p:txBody>
          <a:bodyPr wrap="square" lIns="0" tIns="0" rIns="0" bIns="0" rtlCol="0" anchor="ctr"/>
          <a:lstStyle/>
          <a:p>
            <a:pPr algn="l" indent="0" marL="0">
              <a:buNone/>
            </a:pPr>
            <a:r>
              <a:rPr lang="en-US" sz="1400" dirty="0">
                <a:solidFill>
                  <a:schemeClr val="accent6"/>
                </a:solidFill>
              </a:rPr>
              <a:t>The same engine prices all 2,591 seeded claims and every new one, so stored amounts always agree with the rules.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How ₹86,080 becomes ₹40,476</a:t>
            </a:r>
            <a:endParaRPr lang="en-US" sz="3600" dirty="0"/>
          </a:p>
        </p:txBody>
      </p:sp>
      <p:graphicFrame>
        <p:nvGraphicFramePr>
          <p:cNvPr id="4" name="Adjudication waterfall chart" descr=""/>
          <p:cNvGraphicFramePr/>
          <p:nvPr/>
        </p:nvGraphicFramePr>
        <p:xfrm>
          <a:off x="548640" y="1737360"/>
          <a:ext cx="7269480" cy="4343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3" type="body" hasCustomPrompt="1"/>
          </p:nvPr>
        </p:nvSpPr>
        <p:spPr>
          <a:xfrm>
            <a:off x="8092440" y="1783080"/>
            <a:ext cx="3547872" cy="420624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Typhoid fever, 5-day stay, Raksha Senior Citizen Care with ₹5,00,000 sum insured</a:t>
            </a:r>
            <a:endParaRPr lang="en-US" sz="1500" dirty="0"/>
          </a:p>
          <a:p>
            <a:pPr algn="l" marL="342900" indent="-342900">
              <a:spcAft>
                <a:spcPts val="900"/>
              </a:spcAft>
              <a:buSzPct val="100000"/>
              <a:buChar char="•"/>
            </a:pPr>
            <a:r>
              <a:rPr lang="en-US" sz="1500" dirty="0">
                <a:solidFill>
                  <a:schemeClr val="tx1"/>
                </a:solidFill>
              </a:rPr>
              <a:t>Eligible room rent is 1% of sum insured, ₹5,000 a day; the room cost ₹9,600</a:t>
            </a:r>
            <a:endParaRPr lang="en-US" sz="1500" dirty="0"/>
          </a:p>
          <a:p>
            <a:pPr algn="l" marL="342900" indent="-342900">
              <a:spcAft>
                <a:spcPts val="900"/>
              </a:spcAft>
              <a:buSzPct val="100000"/>
              <a:buChar char="•"/>
            </a:pPr>
            <a:r>
              <a:rPr lang="en-US" sz="1500" dirty="0">
                <a:solidFill>
                  <a:schemeClr val="tx1"/>
                </a:solidFill>
              </a:rPr>
              <a:t>So nursing, doctor and investigation charges are paid at 52%</a:t>
            </a:r>
            <a:endParaRPr lang="en-US" sz="1500" dirty="0"/>
          </a:p>
          <a:p>
            <a:pPr algn="l" marL="342900" indent="-342900">
              <a:spcAft>
                <a:spcPts val="900"/>
              </a:spcAft>
              <a:buSzPct val="100000"/>
              <a:buChar char="•"/>
            </a:pPr>
            <a:r>
              <a:rPr lang="en-US" sz="1500" dirty="0">
                <a:solidFill>
                  <a:schemeClr val="tx1"/>
                </a:solidFill>
              </a:rPr>
              <a:t>Senior plans carry a 20% co-payment</a:t>
            </a:r>
            <a:endParaRPr lang="en-US" sz="1500" dirty="0"/>
          </a:p>
          <a:p>
            <a:pPr algn="l" marL="342900" indent="-342900">
              <a:spcAft>
                <a:spcPts val="900"/>
              </a:spcAft>
              <a:buSzPct val="100000"/>
              <a:buChar char="•"/>
            </a:pPr>
            <a:r>
              <a:rPr lang="en-US" sz="1500" dirty="0">
                <a:solidFill>
                  <a:schemeClr val="tx1"/>
                </a:solidFill>
              </a:rPr>
              <a:t>Each deduction is stored in the claim with its reason</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Settlement as an ACID transaction</a:t>
            </a:r>
            <a:endParaRPr lang="en-US" sz="3600" dirty="0"/>
          </a:p>
        </p:txBody>
      </p:sp>
      <p:sp>
        <p:nvSpPr>
          <p:cNvPr id="4" name="Transaction frame"/>
          <p:cNvSpPr/>
          <p:nvPr/>
        </p:nvSpPr>
        <p:spPr>
          <a:xfrm>
            <a:off x="548640" y="1783080"/>
            <a:ext cx="6675120" cy="3291840"/>
          </a:xfrm>
          <a:prstGeom prst="roundRect">
            <a:avLst>
              <a:gd name="adj" fmla="val 2778"/>
            </a:avLst>
          </a:prstGeom>
          <a:solidFill>
            <a:schemeClr val="bg1"/>
          </a:solidFill>
          <a:ln w="19050">
            <a:solidFill>
              <a:srgbClr val="0E7C7B"/>
            </a:solidFill>
            <a:prstDash val="dash"/>
          </a:ln>
        </p:spPr>
      </p:sp>
      <p:sp>
        <p:nvSpPr>
          <p:cNvPr id="5" name="Text 3"/>
          <p:cNvSpPr txBox="1"/>
          <p:nvPr/>
        </p:nvSpPr>
        <p:spPr>
          <a:xfrm>
            <a:off x="777240" y="1874520"/>
            <a:ext cx="6217920" cy="365760"/>
          </a:xfrm>
          <a:prstGeom prst="rect">
            <a:avLst/>
          </a:prstGeom>
          <a:noFill/>
          <a:ln/>
        </p:spPr>
        <p:txBody>
          <a:bodyPr wrap="square" lIns="0" tIns="0" rIns="0" bIns="0" rtlCol="0" anchor="ctr"/>
          <a:lstStyle/>
          <a:p>
            <a:pPr algn="l" indent="0" marL="0">
              <a:buNone/>
            </a:pPr>
            <a:r>
              <a:rPr lang="en-US" sz="1400" b="1" dirty="0">
                <a:solidFill>
                  <a:schemeClr val="accent1"/>
                </a:solidFill>
              </a:rPr>
              <a:t>One transaction: snapshot read, majority write</a:t>
            </a:r>
            <a:endParaRPr lang="en-US" sz="1400" dirty="0"/>
          </a:p>
        </p:txBody>
      </p:sp>
      <p:sp>
        <p:nvSpPr>
          <p:cNvPr id="6" name="Write box 130"/>
          <p:cNvSpPr/>
          <p:nvPr/>
        </p:nvSpPr>
        <p:spPr>
          <a:xfrm>
            <a:off x="777240" y="2331720"/>
            <a:ext cx="3017520" cy="1170432"/>
          </a:xfrm>
          <a:prstGeom prst="roundRect">
            <a:avLst>
              <a:gd name="adj" fmla="val 7813"/>
            </a:avLst>
          </a:prstGeom>
          <a:solidFill>
            <a:schemeClr val="bg2"/>
          </a:solidFill>
          <a:ln/>
        </p:spPr>
      </p:sp>
      <p:sp>
        <p:nvSpPr>
          <p:cNvPr id="7" name="Dot 131"/>
          <p:cNvSpPr/>
          <p:nvPr/>
        </p:nvSpPr>
        <p:spPr>
          <a:xfrm>
            <a:off x="941832" y="2478024"/>
            <a:ext cx="384048" cy="384048"/>
          </a:xfrm>
          <a:prstGeom prst="ellipse">
            <a:avLst/>
          </a:prstGeom>
          <a:solidFill>
            <a:schemeClr val="accent1"/>
          </a:solidFill>
          <a:ln/>
        </p:spPr>
      </p:sp>
      <p:sp>
        <p:nvSpPr>
          <p:cNvPr id="8" name="Text 6"/>
          <p:cNvSpPr txBox="1"/>
          <p:nvPr/>
        </p:nvSpPr>
        <p:spPr>
          <a:xfrm>
            <a:off x="941832" y="247802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35608" y="2478024"/>
            <a:ext cx="2194560" cy="384048"/>
          </a:xfrm>
          <a:prstGeom prst="rect">
            <a:avLst/>
          </a:prstGeom>
          <a:noFill/>
          <a:ln/>
        </p:spPr>
        <p:txBody>
          <a:bodyPr wrap="square" lIns="0" tIns="0" rIns="0" bIns="0" rtlCol="0" anchor="ctr"/>
          <a:lstStyle/>
          <a:p>
            <a:pPr algn="l" indent="0" marL="0">
              <a:buNone/>
            </a:pPr>
            <a:r>
              <a:rPr lang="en-US" sz="1500" b="1" dirty="0">
                <a:solidFill>
                  <a:schemeClr val="tx2"/>
                </a:solidFill>
                <a:latin typeface="Courier New" pitchFamily="34" charset="0"/>
                <a:ea typeface="Courier New" pitchFamily="34" charset="-122"/>
                <a:cs typeface="Courier New" pitchFamily="34" charset="-120"/>
              </a:rPr>
              <a:t>claims</a:t>
            </a:r>
            <a:endParaRPr lang="en-US" sz="1500" dirty="0"/>
          </a:p>
        </p:txBody>
      </p:sp>
      <p:sp>
        <p:nvSpPr>
          <p:cNvPr id="10" name="Text 8"/>
          <p:cNvSpPr txBox="1"/>
          <p:nvPr/>
        </p:nvSpPr>
        <p:spPr>
          <a:xfrm>
            <a:off x="960120" y="2935224"/>
            <a:ext cx="2697480" cy="512064"/>
          </a:xfrm>
          <a:prstGeom prst="rect">
            <a:avLst/>
          </a:prstGeom>
          <a:noFill/>
          <a:ln/>
        </p:spPr>
        <p:txBody>
          <a:bodyPr wrap="square" lIns="0" tIns="0" rIns="0" bIns="0" rtlCol="0" anchor="t"/>
          <a:lstStyle/>
          <a:p>
            <a:pPr algn="l" indent="0" marL="0">
              <a:buNone/>
            </a:pPr>
            <a:r>
              <a:rPr lang="en-US" sz="1200" dirty="0">
                <a:solidFill>
                  <a:schemeClr val="tx1"/>
                </a:solidFill>
              </a:rPr>
              <a:t>Status set to Settled; payment details and a history entry added</a:t>
            </a:r>
            <a:endParaRPr lang="en-US" sz="1200" dirty="0"/>
          </a:p>
        </p:txBody>
      </p:sp>
      <p:sp>
        <p:nvSpPr>
          <p:cNvPr id="11" name="Write box 132"/>
          <p:cNvSpPr/>
          <p:nvPr/>
        </p:nvSpPr>
        <p:spPr>
          <a:xfrm>
            <a:off x="3977640" y="2331720"/>
            <a:ext cx="3017520" cy="1170432"/>
          </a:xfrm>
          <a:prstGeom prst="roundRect">
            <a:avLst>
              <a:gd name="adj" fmla="val 7813"/>
            </a:avLst>
          </a:prstGeom>
          <a:solidFill>
            <a:schemeClr val="bg2"/>
          </a:solidFill>
          <a:ln/>
        </p:spPr>
      </p:sp>
      <p:sp>
        <p:nvSpPr>
          <p:cNvPr id="12" name="Dot 133"/>
          <p:cNvSpPr/>
          <p:nvPr/>
        </p:nvSpPr>
        <p:spPr>
          <a:xfrm>
            <a:off x="4142232" y="2478024"/>
            <a:ext cx="384048" cy="384048"/>
          </a:xfrm>
          <a:prstGeom prst="ellipse">
            <a:avLst/>
          </a:prstGeom>
          <a:solidFill>
            <a:schemeClr val="accent1"/>
          </a:solidFill>
          <a:ln/>
        </p:spPr>
      </p:sp>
      <p:sp>
        <p:nvSpPr>
          <p:cNvPr id="13" name="Text 11"/>
          <p:cNvSpPr txBox="1"/>
          <p:nvPr/>
        </p:nvSpPr>
        <p:spPr>
          <a:xfrm>
            <a:off x="4142232" y="247802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2"/>
          <p:cNvSpPr txBox="1"/>
          <p:nvPr/>
        </p:nvSpPr>
        <p:spPr>
          <a:xfrm>
            <a:off x="4636008" y="2478024"/>
            <a:ext cx="2194560" cy="384048"/>
          </a:xfrm>
          <a:prstGeom prst="rect">
            <a:avLst/>
          </a:prstGeom>
          <a:noFill/>
          <a:ln/>
        </p:spPr>
        <p:txBody>
          <a:bodyPr wrap="square" lIns="0" tIns="0" rIns="0" bIns="0" rtlCol="0" anchor="ctr"/>
          <a:lstStyle/>
          <a:p>
            <a:pPr algn="l" indent="0" marL="0">
              <a:buNone/>
            </a:pPr>
            <a:r>
              <a:rPr lang="en-US" sz="1500" b="1" dirty="0">
                <a:solidFill>
                  <a:schemeClr val="tx2"/>
                </a:solidFill>
                <a:latin typeface="Courier New" pitchFamily="34" charset="0"/>
                <a:ea typeface="Courier New" pitchFamily="34" charset="-122"/>
                <a:cs typeface="Courier New" pitchFamily="34" charset="-120"/>
              </a:rPr>
              <a:t>policies</a:t>
            </a:r>
            <a:endParaRPr lang="en-US" sz="1500" dirty="0"/>
          </a:p>
        </p:txBody>
      </p:sp>
      <p:sp>
        <p:nvSpPr>
          <p:cNvPr id="15" name="Text 13"/>
          <p:cNvSpPr txBox="1"/>
          <p:nvPr/>
        </p:nvSpPr>
        <p:spPr>
          <a:xfrm>
            <a:off x="4160520" y="2935224"/>
            <a:ext cx="2697480" cy="512064"/>
          </a:xfrm>
          <a:prstGeom prst="rect">
            <a:avLst/>
          </a:prstGeom>
          <a:noFill/>
          <a:ln/>
        </p:spPr>
        <p:txBody>
          <a:bodyPr wrap="square" lIns="0" tIns="0" rIns="0" bIns="0" rtlCol="0" anchor="t"/>
          <a:lstStyle/>
          <a:p>
            <a:pPr algn="l" indent="0" marL="0">
              <a:buNone/>
            </a:pPr>
            <a:r>
              <a:rPr lang="en-US" sz="1200" dirty="0">
                <a:solidFill>
                  <a:schemeClr val="tx1"/>
                </a:solidFill>
              </a:rPr>
              <a:t>Available cover reduced by the approved amount, only if cover is enough</a:t>
            </a:r>
            <a:endParaRPr lang="en-US" sz="1200" dirty="0"/>
          </a:p>
        </p:txBody>
      </p:sp>
      <p:sp>
        <p:nvSpPr>
          <p:cNvPr id="16" name="Write box 134"/>
          <p:cNvSpPr/>
          <p:nvPr/>
        </p:nvSpPr>
        <p:spPr>
          <a:xfrm>
            <a:off x="777240" y="3657600"/>
            <a:ext cx="3017520" cy="1170432"/>
          </a:xfrm>
          <a:prstGeom prst="roundRect">
            <a:avLst>
              <a:gd name="adj" fmla="val 7813"/>
            </a:avLst>
          </a:prstGeom>
          <a:solidFill>
            <a:schemeClr val="bg2"/>
          </a:solidFill>
          <a:ln/>
        </p:spPr>
      </p:sp>
      <p:sp>
        <p:nvSpPr>
          <p:cNvPr id="17" name="Dot 135"/>
          <p:cNvSpPr/>
          <p:nvPr/>
        </p:nvSpPr>
        <p:spPr>
          <a:xfrm>
            <a:off x="941832" y="3803904"/>
            <a:ext cx="384048" cy="384048"/>
          </a:xfrm>
          <a:prstGeom prst="ellipse">
            <a:avLst/>
          </a:prstGeom>
          <a:solidFill>
            <a:schemeClr val="accent1"/>
          </a:solidFill>
          <a:ln/>
        </p:spPr>
      </p:sp>
      <p:sp>
        <p:nvSpPr>
          <p:cNvPr id="18" name="Text 16"/>
          <p:cNvSpPr txBox="1"/>
          <p:nvPr/>
        </p:nvSpPr>
        <p:spPr>
          <a:xfrm>
            <a:off x="941832" y="38039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7"/>
          <p:cNvSpPr txBox="1"/>
          <p:nvPr/>
        </p:nvSpPr>
        <p:spPr>
          <a:xfrm>
            <a:off x="1435608" y="3803904"/>
            <a:ext cx="2194560" cy="384048"/>
          </a:xfrm>
          <a:prstGeom prst="rect">
            <a:avLst/>
          </a:prstGeom>
          <a:noFill/>
          <a:ln/>
        </p:spPr>
        <p:txBody>
          <a:bodyPr wrap="square" lIns="0" tIns="0" rIns="0" bIns="0" rtlCol="0" anchor="ctr"/>
          <a:lstStyle/>
          <a:p>
            <a:pPr algn="l" indent="0" marL="0">
              <a:buNone/>
            </a:pPr>
            <a:r>
              <a:rPr lang="en-US" sz="1500" b="1" dirty="0">
                <a:solidFill>
                  <a:schemeClr val="tx2"/>
                </a:solidFill>
                <a:latin typeface="Courier New" pitchFamily="34" charset="0"/>
                <a:ea typeface="Courier New" pitchFamily="34" charset="-122"/>
                <a:cs typeface="Courier New" pitchFamily="34" charset="-120"/>
              </a:rPr>
              <a:t>payments</a:t>
            </a:r>
            <a:endParaRPr lang="en-US" sz="1500" dirty="0"/>
          </a:p>
        </p:txBody>
      </p:sp>
      <p:sp>
        <p:nvSpPr>
          <p:cNvPr id="20" name="Text 18"/>
          <p:cNvSpPr txBox="1"/>
          <p:nvPr/>
        </p:nvSpPr>
        <p:spPr>
          <a:xfrm>
            <a:off x="960120" y="4261104"/>
            <a:ext cx="2697480" cy="512064"/>
          </a:xfrm>
          <a:prstGeom prst="rect">
            <a:avLst/>
          </a:prstGeom>
          <a:noFill/>
          <a:ln/>
        </p:spPr>
        <p:txBody>
          <a:bodyPr wrap="square" lIns="0" tIns="0" rIns="0" bIns="0" rtlCol="0" anchor="t"/>
          <a:lstStyle/>
          <a:p>
            <a:pPr algn="l" indent="0" marL="0">
              <a:buNone/>
            </a:pPr>
            <a:r>
              <a:rPr lang="en-US" sz="1200" dirty="0">
                <a:solidFill>
                  <a:schemeClr val="tx1"/>
                </a:solidFill>
              </a:rPr>
              <a:t>New payment row with its bank reference</a:t>
            </a:r>
            <a:endParaRPr lang="en-US" sz="1200" dirty="0"/>
          </a:p>
        </p:txBody>
      </p:sp>
      <p:sp>
        <p:nvSpPr>
          <p:cNvPr id="21" name="Write box 136"/>
          <p:cNvSpPr/>
          <p:nvPr/>
        </p:nvSpPr>
        <p:spPr>
          <a:xfrm>
            <a:off x="3977640" y="3657600"/>
            <a:ext cx="3017520" cy="1170432"/>
          </a:xfrm>
          <a:prstGeom prst="roundRect">
            <a:avLst>
              <a:gd name="adj" fmla="val 7813"/>
            </a:avLst>
          </a:prstGeom>
          <a:solidFill>
            <a:schemeClr val="bg2"/>
          </a:solidFill>
          <a:ln/>
        </p:spPr>
      </p:sp>
      <p:sp>
        <p:nvSpPr>
          <p:cNvPr id="22" name="Dot 137"/>
          <p:cNvSpPr/>
          <p:nvPr/>
        </p:nvSpPr>
        <p:spPr>
          <a:xfrm>
            <a:off x="4142232" y="3803904"/>
            <a:ext cx="384048" cy="384048"/>
          </a:xfrm>
          <a:prstGeom prst="ellipse">
            <a:avLst/>
          </a:prstGeom>
          <a:solidFill>
            <a:schemeClr val="accent1"/>
          </a:solidFill>
          <a:ln/>
        </p:spPr>
      </p:sp>
      <p:sp>
        <p:nvSpPr>
          <p:cNvPr id="23" name="Text 21"/>
          <p:cNvSpPr txBox="1"/>
          <p:nvPr/>
        </p:nvSpPr>
        <p:spPr>
          <a:xfrm>
            <a:off x="4142232" y="38039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4636008" y="3803904"/>
            <a:ext cx="2194560" cy="384048"/>
          </a:xfrm>
          <a:prstGeom prst="rect">
            <a:avLst/>
          </a:prstGeom>
          <a:noFill/>
          <a:ln/>
        </p:spPr>
        <p:txBody>
          <a:bodyPr wrap="square" lIns="0" tIns="0" rIns="0" bIns="0" rtlCol="0" anchor="ctr"/>
          <a:lstStyle/>
          <a:p>
            <a:pPr algn="l" indent="0" marL="0">
              <a:buNone/>
            </a:pPr>
            <a:r>
              <a:rPr lang="en-US" sz="1500" b="1" dirty="0">
                <a:solidFill>
                  <a:schemeClr val="tx2"/>
                </a:solidFill>
                <a:latin typeface="Courier New" pitchFamily="34" charset="0"/>
                <a:ea typeface="Courier New" pitchFamily="34" charset="-122"/>
                <a:cs typeface="Courier New" pitchFamily="34" charset="-120"/>
              </a:rPr>
              <a:t>audit_logs</a:t>
            </a:r>
            <a:endParaRPr lang="en-US" sz="1500" dirty="0"/>
          </a:p>
        </p:txBody>
      </p:sp>
      <p:sp>
        <p:nvSpPr>
          <p:cNvPr id="25" name="Text 23"/>
          <p:cNvSpPr txBox="1"/>
          <p:nvPr/>
        </p:nvSpPr>
        <p:spPr>
          <a:xfrm>
            <a:off x="4160520" y="4261104"/>
            <a:ext cx="2697480" cy="512064"/>
          </a:xfrm>
          <a:prstGeom prst="rect">
            <a:avLst/>
          </a:prstGeom>
          <a:noFill/>
          <a:ln/>
        </p:spPr>
        <p:txBody>
          <a:bodyPr wrap="square" lIns="0" tIns="0" rIns="0" bIns="0" rtlCol="0" anchor="t"/>
          <a:lstStyle/>
          <a:p>
            <a:pPr algn="l" indent="0" marL="0">
              <a:buNone/>
            </a:pPr>
            <a:r>
              <a:rPr lang="en-US" sz="1200" dirty="0">
                <a:solidFill>
                  <a:schemeClr val="tx1"/>
                </a:solidFill>
              </a:rPr>
              <a:t>CLAIM_SETTLED entry written</a:t>
            </a:r>
            <a:endParaRPr lang="en-US" sz="1200" dirty="0"/>
          </a:p>
        </p:txBody>
      </p:sp>
      <p:sp>
        <p:nvSpPr>
          <p:cNvPr id="26" name="Commit card"/>
          <p:cNvSpPr/>
          <p:nvPr/>
        </p:nvSpPr>
        <p:spPr>
          <a:xfrm>
            <a:off x="7498080" y="1783080"/>
            <a:ext cx="4142232" cy="1536192"/>
          </a:xfrm>
          <a:prstGeom prst="roundRect">
            <a:avLst>
              <a:gd name="adj" fmla="val 5952"/>
            </a:avLst>
          </a:prstGeom>
          <a:solidFill>
            <a:schemeClr val="accent5">
              <a:alpha val="14000"/>
            </a:schemeClr>
          </a:solidFill>
          <a:ln/>
        </p:spPr>
      </p:sp>
      <p:sp>
        <p:nvSpPr>
          <p:cNvPr id="27" name="Dot 138"/>
          <p:cNvSpPr/>
          <p:nvPr/>
        </p:nvSpPr>
        <p:spPr>
          <a:xfrm>
            <a:off x="7699248" y="1965960"/>
            <a:ext cx="512064" cy="512064"/>
          </a:xfrm>
          <a:prstGeom prst="ellipse">
            <a:avLst/>
          </a:prstGeom>
          <a:solidFill>
            <a:schemeClr val="accent5"/>
          </a:solidFill>
          <a:ln/>
        </p:spPr>
      </p:sp>
      <p:pic>
        <p:nvPicPr>
          <p:cNvPr id="28" name="Image 0" descr="icon">    </p:cNvPr>
          <p:cNvPicPr>
            <a:picLocks noChangeAspect="1"/>
          </p:cNvPicPr>
          <p:nvPr/>
        </p:nvPicPr>
        <p:blipFill>
          <a:blip r:embed="rId1"/>
          <a:stretch>
            <a:fillRect/>
          </a:stretch>
        </p:blipFill>
        <p:spPr>
          <a:xfrm>
            <a:off x="7827264" y="2093976"/>
            <a:ext cx="256032" cy="256032"/>
          </a:xfrm>
          <a:prstGeom prst="rect">
            <a:avLst/>
          </a:prstGeom>
        </p:spPr>
      </p:pic>
      <p:sp>
        <p:nvSpPr>
          <p:cNvPr id="29" name="Text 26"/>
          <p:cNvSpPr txBox="1"/>
          <p:nvPr/>
        </p:nvSpPr>
        <p:spPr>
          <a:xfrm>
            <a:off x="8366760" y="1965960"/>
            <a:ext cx="3108960" cy="512064"/>
          </a:xfrm>
          <a:prstGeom prst="rect">
            <a:avLst/>
          </a:prstGeom>
          <a:noFill/>
          <a:ln/>
        </p:spPr>
        <p:txBody>
          <a:bodyPr wrap="square" lIns="0" tIns="0" rIns="0" bIns="0" rtlCol="0" anchor="ctr"/>
          <a:lstStyle/>
          <a:p>
            <a:pPr algn="l" indent="0" marL="0">
              <a:buNone/>
            </a:pPr>
            <a:r>
              <a:rPr lang="en-US" sz="1900" b="1" dirty="0">
                <a:solidFill>
                  <a:schemeClr val="tx2"/>
                </a:solidFill>
              </a:rPr>
              <a:t>Commit</a:t>
            </a:r>
            <a:endParaRPr lang="en-US" sz="1900" dirty="0"/>
          </a:p>
        </p:txBody>
      </p:sp>
      <p:sp>
        <p:nvSpPr>
          <p:cNvPr id="30" name="Text 27"/>
          <p:cNvSpPr txBox="1"/>
          <p:nvPr/>
        </p:nvSpPr>
        <p:spPr>
          <a:xfrm>
            <a:off x="7699248" y="2606040"/>
            <a:ext cx="3749040" cy="594360"/>
          </a:xfrm>
          <a:prstGeom prst="rect">
            <a:avLst/>
          </a:prstGeom>
          <a:noFill/>
          <a:ln/>
        </p:spPr>
        <p:txBody>
          <a:bodyPr wrap="square" lIns="0" tIns="0" rIns="0" bIns="0" rtlCol="0" anchor="t"/>
          <a:lstStyle/>
          <a:p>
            <a:pPr algn="l" indent="0" marL="0">
              <a:buNone/>
            </a:pPr>
            <a:r>
              <a:rPr lang="en-US" sz="1400" dirty="0">
                <a:solidFill>
                  <a:schemeClr val="tx1"/>
                </a:solidFill>
              </a:rPr>
              <a:t>All four writes are applied together.</a:t>
            </a:r>
            <a:endParaRPr lang="en-US" sz="1400" dirty="0"/>
          </a:p>
        </p:txBody>
      </p:sp>
      <p:sp>
        <p:nvSpPr>
          <p:cNvPr id="31" name="Rollback card"/>
          <p:cNvSpPr/>
          <p:nvPr/>
        </p:nvSpPr>
        <p:spPr>
          <a:xfrm>
            <a:off x="7498080" y="3538728"/>
            <a:ext cx="4142232" cy="1536192"/>
          </a:xfrm>
          <a:prstGeom prst="roundRect">
            <a:avLst>
              <a:gd name="adj" fmla="val 5952"/>
            </a:avLst>
          </a:prstGeom>
          <a:solidFill>
            <a:schemeClr val="accent3">
              <a:alpha val="12000"/>
            </a:schemeClr>
          </a:solidFill>
          <a:ln/>
        </p:spPr>
      </p:sp>
      <p:sp>
        <p:nvSpPr>
          <p:cNvPr id="32" name="Dot 139"/>
          <p:cNvSpPr/>
          <p:nvPr/>
        </p:nvSpPr>
        <p:spPr>
          <a:xfrm>
            <a:off x="7699248" y="3721608"/>
            <a:ext cx="512064" cy="512064"/>
          </a:xfrm>
          <a:prstGeom prst="ellipse">
            <a:avLst/>
          </a:prstGeom>
          <a:solidFill>
            <a:schemeClr val="accent3"/>
          </a:solidFill>
          <a:ln/>
        </p:spPr>
      </p:sp>
      <p:pic>
        <p:nvPicPr>
          <p:cNvPr id="33" name="Image 1" descr="icon">    </p:cNvPr>
          <p:cNvPicPr>
            <a:picLocks noChangeAspect="1"/>
          </p:cNvPicPr>
          <p:nvPr/>
        </p:nvPicPr>
        <p:blipFill>
          <a:blip r:embed="rId2"/>
          <a:stretch>
            <a:fillRect/>
          </a:stretch>
        </p:blipFill>
        <p:spPr>
          <a:xfrm>
            <a:off x="7827264" y="3849624"/>
            <a:ext cx="256032" cy="256032"/>
          </a:xfrm>
          <a:prstGeom prst="rect">
            <a:avLst/>
          </a:prstGeom>
        </p:spPr>
      </p:pic>
      <p:sp>
        <p:nvSpPr>
          <p:cNvPr id="34" name="Text 30"/>
          <p:cNvSpPr txBox="1"/>
          <p:nvPr/>
        </p:nvSpPr>
        <p:spPr>
          <a:xfrm>
            <a:off x="8366760" y="3721608"/>
            <a:ext cx="3108960" cy="512064"/>
          </a:xfrm>
          <a:prstGeom prst="rect">
            <a:avLst/>
          </a:prstGeom>
          <a:noFill/>
          <a:ln/>
        </p:spPr>
        <p:txBody>
          <a:bodyPr wrap="square" lIns="0" tIns="0" rIns="0" bIns="0" rtlCol="0" anchor="ctr"/>
          <a:lstStyle/>
          <a:p>
            <a:pPr algn="l" indent="0" marL="0">
              <a:buNone/>
            </a:pPr>
            <a:r>
              <a:rPr lang="en-US" sz="1900" b="1" dirty="0">
                <a:solidFill>
                  <a:schemeClr val="tx2"/>
                </a:solidFill>
              </a:rPr>
              <a:t>Failure midway: rollback</a:t>
            </a:r>
            <a:endParaRPr lang="en-US" sz="1900" dirty="0"/>
          </a:p>
        </p:txBody>
      </p:sp>
      <p:sp>
        <p:nvSpPr>
          <p:cNvPr id="35" name="Text 31"/>
          <p:cNvSpPr txBox="1"/>
          <p:nvPr/>
        </p:nvSpPr>
        <p:spPr>
          <a:xfrm>
            <a:off x="7699248" y="4361688"/>
            <a:ext cx="3749040" cy="640080"/>
          </a:xfrm>
          <a:prstGeom prst="rect">
            <a:avLst/>
          </a:prstGeom>
          <a:noFill/>
          <a:ln/>
        </p:spPr>
        <p:txBody>
          <a:bodyPr wrap="square" lIns="0" tIns="0" rIns="0" bIns="0" rtlCol="0" anchor="t"/>
          <a:lstStyle/>
          <a:p>
            <a:pPr algn="l" indent="0" marL="0">
              <a:buNone/>
            </a:pPr>
            <a:r>
              <a:rPr lang="en-US" sz="1400" dirty="0">
                <a:solidFill>
                  <a:schemeClr val="tx1"/>
                </a:solidFill>
              </a:rPr>
              <a:t>The claim stays Approved, cover is unchanged and no payment row exists.</a:t>
            </a:r>
            <a:endParaRPr lang="en-US" sz="1400" dirty="0"/>
          </a:p>
        </p:txBody>
      </p:sp>
      <p:sp>
        <p:nvSpPr>
          <p:cNvPr id="36" name="Card 140"/>
          <p:cNvSpPr/>
          <p:nvPr/>
        </p:nvSpPr>
        <p:spPr>
          <a:xfrm>
            <a:off x="548640" y="5285232"/>
            <a:ext cx="3538728" cy="896112"/>
          </a:xfrm>
          <a:prstGeom prst="roundRect">
            <a:avLst>
              <a:gd name="adj" fmla="val 10204"/>
            </a:avLst>
          </a:prstGeom>
          <a:solidFill>
            <a:schemeClr val="bg2"/>
          </a:solidFill>
          <a:ln/>
        </p:spPr>
      </p:sp>
      <p:sp>
        <p:nvSpPr>
          <p:cNvPr id="37" name="Text 33"/>
          <p:cNvSpPr txBox="1"/>
          <p:nvPr/>
        </p:nvSpPr>
        <p:spPr>
          <a:xfrm>
            <a:off x="749808" y="5340096"/>
            <a:ext cx="3154680" cy="292608"/>
          </a:xfrm>
          <a:prstGeom prst="rect">
            <a:avLst/>
          </a:prstGeom>
          <a:noFill/>
          <a:ln/>
        </p:spPr>
        <p:txBody>
          <a:bodyPr wrap="square" lIns="0" tIns="0" rIns="0" bIns="0" rtlCol="0" anchor="ctr"/>
          <a:lstStyle/>
          <a:p>
            <a:pPr algn="l" indent="0" marL="0">
              <a:buNone/>
            </a:pPr>
            <a:r>
              <a:rPr lang="en-US" sz="1400" b="1" dirty="0">
                <a:solidFill>
                  <a:schemeClr val="accent1"/>
                </a:solidFill>
              </a:rPr>
              <a:t>Guarded update</a:t>
            </a:r>
            <a:endParaRPr lang="en-US" sz="1400" dirty="0"/>
          </a:p>
        </p:txBody>
      </p:sp>
      <p:sp>
        <p:nvSpPr>
          <p:cNvPr id="38" name="Text 34"/>
          <p:cNvSpPr txBox="1"/>
          <p:nvPr/>
        </p:nvSpPr>
        <p:spPr>
          <a:xfrm>
            <a:off x="749808" y="5641848"/>
            <a:ext cx="3154680" cy="475488"/>
          </a:xfrm>
          <a:prstGeom prst="rect">
            <a:avLst/>
          </a:prstGeom>
          <a:noFill/>
          <a:ln/>
        </p:spPr>
        <p:txBody>
          <a:bodyPr wrap="square" lIns="0" tIns="0" rIns="0" bIns="0" rtlCol="0" anchor="t"/>
          <a:lstStyle/>
          <a:p>
            <a:pPr algn="l" indent="0" marL="0">
              <a:buNone/>
            </a:pPr>
            <a:r>
              <a:rPr lang="en-US" sz="1200" dirty="0">
                <a:solidFill>
                  <a:schemeClr val="tx1"/>
                </a:solidFill>
              </a:rPr>
              <a:t>available_cover: { $gte: amount } stops overspending</a:t>
            </a:r>
            <a:endParaRPr lang="en-US" sz="1200" dirty="0"/>
          </a:p>
        </p:txBody>
      </p:sp>
      <p:sp>
        <p:nvSpPr>
          <p:cNvPr id="39" name="Card 141"/>
          <p:cNvSpPr/>
          <p:nvPr/>
        </p:nvSpPr>
        <p:spPr>
          <a:xfrm>
            <a:off x="4325112" y="5285232"/>
            <a:ext cx="3538728" cy="896112"/>
          </a:xfrm>
          <a:prstGeom prst="roundRect">
            <a:avLst>
              <a:gd name="adj" fmla="val 10204"/>
            </a:avLst>
          </a:prstGeom>
          <a:solidFill>
            <a:schemeClr val="bg2"/>
          </a:solidFill>
          <a:ln/>
        </p:spPr>
      </p:sp>
      <p:sp>
        <p:nvSpPr>
          <p:cNvPr id="40" name="Text 36"/>
          <p:cNvSpPr txBox="1"/>
          <p:nvPr/>
        </p:nvSpPr>
        <p:spPr>
          <a:xfrm>
            <a:off x="4526280" y="5340096"/>
            <a:ext cx="3154680" cy="292608"/>
          </a:xfrm>
          <a:prstGeom prst="rect">
            <a:avLst/>
          </a:prstGeom>
          <a:noFill/>
          <a:ln/>
        </p:spPr>
        <p:txBody>
          <a:bodyPr wrap="square" lIns="0" tIns="0" rIns="0" bIns="0" rtlCol="0" anchor="ctr"/>
          <a:lstStyle/>
          <a:p>
            <a:pPr algn="l" indent="0" marL="0">
              <a:buNone/>
            </a:pPr>
            <a:r>
              <a:rPr lang="en-US" sz="1400" b="1" dirty="0">
                <a:solidFill>
                  <a:schemeClr val="accent1"/>
                </a:solidFill>
              </a:rPr>
              <a:t>Unique index</a:t>
            </a:r>
            <a:endParaRPr lang="en-US" sz="1400" dirty="0"/>
          </a:p>
        </p:txBody>
      </p:sp>
      <p:sp>
        <p:nvSpPr>
          <p:cNvPr id="41" name="Text 37"/>
          <p:cNvSpPr txBox="1"/>
          <p:nvPr/>
        </p:nvSpPr>
        <p:spPr>
          <a:xfrm>
            <a:off x="4526280" y="5641848"/>
            <a:ext cx="3154680" cy="475488"/>
          </a:xfrm>
          <a:prstGeom prst="rect">
            <a:avLst/>
          </a:prstGeom>
          <a:noFill/>
          <a:ln/>
        </p:spPr>
        <p:txBody>
          <a:bodyPr wrap="square" lIns="0" tIns="0" rIns="0" bIns="0" rtlCol="0" anchor="t"/>
          <a:lstStyle/>
          <a:p>
            <a:pPr algn="l" indent="0" marL="0">
              <a:buNone/>
            </a:pPr>
            <a:r>
              <a:rPr lang="en-US" sz="1200" dirty="0">
                <a:solidFill>
                  <a:schemeClr val="tx1"/>
                </a:solidFill>
              </a:rPr>
              <a:t>payments.claim_number blocks a second payment</a:t>
            </a:r>
            <a:endParaRPr lang="en-US" sz="1200" dirty="0"/>
          </a:p>
        </p:txBody>
      </p:sp>
      <p:sp>
        <p:nvSpPr>
          <p:cNvPr id="42" name="Card 142"/>
          <p:cNvSpPr/>
          <p:nvPr/>
        </p:nvSpPr>
        <p:spPr>
          <a:xfrm>
            <a:off x="8101584" y="5285232"/>
            <a:ext cx="3538728" cy="896112"/>
          </a:xfrm>
          <a:prstGeom prst="roundRect">
            <a:avLst>
              <a:gd name="adj" fmla="val 10204"/>
            </a:avLst>
          </a:prstGeom>
          <a:solidFill>
            <a:schemeClr val="bg2"/>
          </a:solidFill>
          <a:ln/>
        </p:spPr>
      </p:sp>
      <p:sp>
        <p:nvSpPr>
          <p:cNvPr id="43" name="Text 39"/>
          <p:cNvSpPr txBox="1"/>
          <p:nvPr/>
        </p:nvSpPr>
        <p:spPr>
          <a:xfrm>
            <a:off x="8302752" y="5340096"/>
            <a:ext cx="3154680" cy="292608"/>
          </a:xfrm>
          <a:prstGeom prst="rect">
            <a:avLst/>
          </a:prstGeom>
          <a:noFill/>
          <a:ln/>
        </p:spPr>
        <p:txBody>
          <a:bodyPr wrap="square" lIns="0" tIns="0" rIns="0" bIns="0" rtlCol="0" anchor="ctr"/>
          <a:lstStyle/>
          <a:p>
            <a:pPr algn="l" indent="0" marL="0">
              <a:buNone/>
            </a:pPr>
            <a:r>
              <a:rPr lang="en-US" sz="1400" b="1" dirty="0">
                <a:solidFill>
                  <a:schemeClr val="accent1"/>
                </a:solidFill>
              </a:rPr>
              <a:t>Automatic retry</a:t>
            </a:r>
            <a:endParaRPr lang="en-US" sz="1400" dirty="0"/>
          </a:p>
        </p:txBody>
      </p:sp>
      <p:sp>
        <p:nvSpPr>
          <p:cNvPr id="44" name="Text 40"/>
          <p:cNvSpPr txBox="1"/>
          <p:nvPr/>
        </p:nvSpPr>
        <p:spPr>
          <a:xfrm>
            <a:off x="8302752" y="5641848"/>
            <a:ext cx="3154680" cy="475488"/>
          </a:xfrm>
          <a:prstGeom prst="rect">
            <a:avLst/>
          </a:prstGeom>
          <a:noFill/>
          <a:ln/>
        </p:spPr>
        <p:txBody>
          <a:bodyPr wrap="square" lIns="0" tIns="0" rIns="0" bIns="0" rtlCol="0" anchor="t"/>
          <a:lstStyle/>
          <a:p>
            <a:pPr algn="l" indent="0" marL="0">
              <a:buNone/>
            </a:pPr>
            <a:r>
              <a:rPr lang="en-US" sz="1200" dirty="0">
                <a:solidFill>
                  <a:schemeClr val="tx1"/>
                </a:solidFill>
              </a:rPr>
              <a:t>with_transaction() re-runs the payment if another transaction hit the same policy</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CONCURRENCY CONTROL</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Two payments, one policy, same instant</a:t>
            </a:r>
            <a:endParaRPr lang="en-US" sz="3600" dirty="0"/>
          </a:p>
        </p:txBody>
      </p:sp>
      <p:sp>
        <p:nvSpPr>
          <p:cNvPr id="4" name="Lab result 143"/>
          <p:cNvSpPr/>
          <p:nvPr/>
        </p:nvSpPr>
        <p:spPr>
          <a:xfrm>
            <a:off x="548640" y="1783080"/>
            <a:ext cx="2651760" cy="1371600"/>
          </a:xfrm>
          <a:prstGeom prst="roundRect">
            <a:avLst>
              <a:gd name="adj" fmla="val 6667"/>
            </a:avLst>
          </a:prstGeom>
          <a:solidFill>
            <a:schemeClr val="accent3">
              <a:alpha val="14000"/>
            </a:schemeClr>
          </a:solidFill>
          <a:ln/>
        </p:spPr>
      </p:sp>
      <p:sp>
        <p:nvSpPr>
          <p:cNvPr id="5" name="Text 3"/>
          <p:cNvSpPr txBox="1"/>
          <p:nvPr/>
        </p:nvSpPr>
        <p:spPr>
          <a:xfrm>
            <a:off x="731520" y="1874520"/>
            <a:ext cx="2286000" cy="310896"/>
          </a:xfrm>
          <a:prstGeom prst="rect">
            <a:avLst/>
          </a:prstGeom>
          <a:noFill/>
          <a:ln/>
        </p:spPr>
        <p:txBody>
          <a:bodyPr wrap="square" lIns="0" tIns="0" rIns="0" bIns="0" rtlCol="0" anchor="ctr"/>
          <a:lstStyle/>
          <a:p>
            <a:pPr algn="l" indent="0" marL="0">
              <a:buNone/>
            </a:pPr>
            <a:r>
              <a:rPr lang="en-US" sz="1400" b="1" dirty="0">
                <a:solidFill>
                  <a:schemeClr val="tx2"/>
                </a:solidFill>
              </a:rPr>
              <a:t>A. Read-modify-write ($set)</a:t>
            </a:r>
            <a:endParaRPr lang="en-US" sz="1400" dirty="0"/>
          </a:p>
        </p:txBody>
      </p:sp>
      <p:sp>
        <p:nvSpPr>
          <p:cNvPr id="6" name="Text 4"/>
          <p:cNvSpPr txBox="1"/>
          <p:nvPr/>
        </p:nvSpPr>
        <p:spPr>
          <a:xfrm>
            <a:off x="731520" y="2194560"/>
            <a:ext cx="2286000" cy="502920"/>
          </a:xfrm>
          <a:prstGeom prst="rect">
            <a:avLst/>
          </a:prstGeom>
          <a:noFill/>
          <a:ln/>
        </p:spPr>
        <p:txBody>
          <a:bodyPr wrap="square" lIns="0" tIns="0" rIns="0" bIns="0" rtlCol="0" anchor="ctr"/>
          <a:lstStyle/>
          <a:p>
            <a:pPr algn="l" indent="0" marL="0">
              <a:buNone/>
            </a:pPr>
            <a:r>
              <a:rPr lang="en-US" sz="2600" b="1" dirty="0">
                <a:solidFill>
                  <a:schemeClr val="accent3"/>
                </a:solidFill>
              </a:rPr>
              <a:t>₹4,00,000</a:t>
            </a:r>
            <a:endParaRPr lang="en-US" sz="2600" dirty="0"/>
          </a:p>
        </p:txBody>
      </p:sp>
      <p:sp>
        <p:nvSpPr>
          <p:cNvPr id="7" name="Text 5"/>
          <p:cNvSpPr txBox="1"/>
          <p:nvPr/>
        </p:nvSpPr>
        <p:spPr>
          <a:xfrm>
            <a:off x="731520" y="2715768"/>
            <a:ext cx="2286000" cy="310896"/>
          </a:xfrm>
          <a:prstGeom prst="rect">
            <a:avLst/>
          </a:prstGeom>
          <a:noFill/>
          <a:ln/>
        </p:spPr>
        <p:txBody>
          <a:bodyPr wrap="square" lIns="0" tIns="0" rIns="0" bIns="0" rtlCol="0" anchor="ctr"/>
          <a:lstStyle/>
          <a:p>
            <a:pPr algn="l" indent="0" marL="0">
              <a:buNone/>
            </a:pPr>
            <a:r>
              <a:rPr lang="en-US" sz="1300" dirty="0">
                <a:solidFill>
                  <a:schemeClr val="tx1"/>
                </a:solidFill>
              </a:rPr>
              <a:t>lost update: ₹1,00,000 vanished</a:t>
            </a:r>
            <a:endParaRPr lang="en-US" sz="1300" dirty="0"/>
          </a:p>
        </p:txBody>
      </p:sp>
      <p:sp>
        <p:nvSpPr>
          <p:cNvPr id="8" name="Lab result 144"/>
          <p:cNvSpPr/>
          <p:nvPr/>
        </p:nvSpPr>
        <p:spPr>
          <a:xfrm>
            <a:off x="3364992" y="1783080"/>
            <a:ext cx="2651760" cy="1371600"/>
          </a:xfrm>
          <a:prstGeom prst="roundRect">
            <a:avLst>
              <a:gd name="adj" fmla="val 6667"/>
            </a:avLst>
          </a:prstGeom>
          <a:solidFill>
            <a:schemeClr val="accent5">
              <a:alpha val="14000"/>
            </a:schemeClr>
          </a:solidFill>
          <a:ln/>
        </p:spPr>
      </p:sp>
      <p:sp>
        <p:nvSpPr>
          <p:cNvPr id="9" name="Text 7"/>
          <p:cNvSpPr txBox="1"/>
          <p:nvPr/>
        </p:nvSpPr>
        <p:spPr>
          <a:xfrm>
            <a:off x="3547872" y="1874520"/>
            <a:ext cx="2286000" cy="310896"/>
          </a:xfrm>
          <a:prstGeom prst="rect">
            <a:avLst/>
          </a:prstGeom>
          <a:noFill/>
          <a:ln/>
        </p:spPr>
        <p:txBody>
          <a:bodyPr wrap="square" lIns="0" tIns="0" rIns="0" bIns="0" rtlCol="0" anchor="ctr"/>
          <a:lstStyle/>
          <a:p>
            <a:pPr algn="l" indent="0" marL="0">
              <a:buNone/>
            </a:pPr>
            <a:r>
              <a:rPr lang="en-US" sz="1400" b="1" dirty="0">
                <a:solidFill>
                  <a:schemeClr val="tx2"/>
                </a:solidFill>
              </a:rPr>
              <a:t>B. Atomic $inc</a:t>
            </a:r>
            <a:endParaRPr lang="en-US" sz="1400" dirty="0"/>
          </a:p>
        </p:txBody>
      </p:sp>
      <p:sp>
        <p:nvSpPr>
          <p:cNvPr id="10" name="Text 8"/>
          <p:cNvSpPr txBox="1"/>
          <p:nvPr/>
        </p:nvSpPr>
        <p:spPr>
          <a:xfrm>
            <a:off x="3547872" y="2194560"/>
            <a:ext cx="2286000" cy="502920"/>
          </a:xfrm>
          <a:prstGeom prst="rect">
            <a:avLst/>
          </a:prstGeom>
          <a:noFill/>
          <a:ln/>
        </p:spPr>
        <p:txBody>
          <a:bodyPr wrap="square" lIns="0" tIns="0" rIns="0" bIns="0" rtlCol="0" anchor="ctr"/>
          <a:lstStyle/>
          <a:p>
            <a:pPr algn="l" indent="0" marL="0">
              <a:buNone/>
            </a:pPr>
            <a:r>
              <a:rPr lang="en-US" sz="2600" b="1" dirty="0">
                <a:solidFill>
                  <a:schemeClr val="accent5"/>
                </a:solidFill>
              </a:rPr>
              <a:t>₹3,00,000</a:t>
            </a:r>
            <a:endParaRPr lang="en-US" sz="2600" dirty="0"/>
          </a:p>
        </p:txBody>
      </p:sp>
      <p:sp>
        <p:nvSpPr>
          <p:cNvPr id="11" name="Text 9"/>
          <p:cNvSpPr txBox="1"/>
          <p:nvPr/>
        </p:nvSpPr>
        <p:spPr>
          <a:xfrm>
            <a:off x="3547872" y="2715768"/>
            <a:ext cx="2286000" cy="310896"/>
          </a:xfrm>
          <a:prstGeom prst="rect">
            <a:avLst/>
          </a:prstGeom>
          <a:noFill/>
          <a:ln/>
        </p:spPr>
        <p:txBody>
          <a:bodyPr wrap="square" lIns="0" tIns="0" rIns="0" bIns="0" rtlCol="0" anchor="ctr"/>
          <a:lstStyle/>
          <a:p>
            <a:pPr algn="l" indent="0" marL="0">
              <a:buNone/>
            </a:pPr>
            <a:r>
              <a:rPr lang="en-US" sz="1300" dirty="0">
                <a:solidFill>
                  <a:schemeClr val="tx1"/>
                </a:solidFill>
              </a:rPr>
              <a:t>correct</a:t>
            </a:r>
            <a:endParaRPr lang="en-US" sz="1300" dirty="0"/>
          </a:p>
        </p:txBody>
      </p:sp>
      <p:sp>
        <p:nvSpPr>
          <p:cNvPr id="12" name="Lab result 145"/>
          <p:cNvSpPr/>
          <p:nvPr/>
        </p:nvSpPr>
        <p:spPr>
          <a:xfrm>
            <a:off x="6181344" y="1783080"/>
            <a:ext cx="2651760" cy="1371600"/>
          </a:xfrm>
          <a:prstGeom prst="roundRect">
            <a:avLst>
              <a:gd name="adj" fmla="val 6667"/>
            </a:avLst>
          </a:prstGeom>
          <a:solidFill>
            <a:schemeClr val="accent5">
              <a:alpha val="14000"/>
            </a:schemeClr>
          </a:solidFill>
          <a:ln/>
        </p:spPr>
      </p:sp>
      <p:sp>
        <p:nvSpPr>
          <p:cNvPr id="13" name="Text 11"/>
          <p:cNvSpPr txBox="1"/>
          <p:nvPr/>
        </p:nvSpPr>
        <p:spPr>
          <a:xfrm>
            <a:off x="6364224" y="1874520"/>
            <a:ext cx="2286000" cy="310896"/>
          </a:xfrm>
          <a:prstGeom prst="rect">
            <a:avLst/>
          </a:prstGeom>
          <a:noFill/>
          <a:ln/>
        </p:spPr>
        <p:txBody>
          <a:bodyPr wrap="square" lIns="0" tIns="0" rIns="0" bIns="0" rtlCol="0" anchor="ctr"/>
          <a:lstStyle/>
          <a:p>
            <a:pPr algn="l" indent="0" marL="0">
              <a:buNone/>
            </a:pPr>
            <a:r>
              <a:rPr lang="en-US" sz="1400" b="1" dirty="0">
                <a:solidFill>
                  <a:schemeClr val="tx2"/>
                </a:solidFill>
              </a:rPr>
              <a:t>C. Optimistic locking</a:t>
            </a:r>
            <a:endParaRPr lang="en-US" sz="1400" dirty="0"/>
          </a:p>
        </p:txBody>
      </p:sp>
      <p:sp>
        <p:nvSpPr>
          <p:cNvPr id="14" name="Text 12"/>
          <p:cNvSpPr txBox="1"/>
          <p:nvPr/>
        </p:nvSpPr>
        <p:spPr>
          <a:xfrm>
            <a:off x="6364224" y="2194560"/>
            <a:ext cx="2286000" cy="502920"/>
          </a:xfrm>
          <a:prstGeom prst="rect">
            <a:avLst/>
          </a:prstGeom>
          <a:noFill/>
          <a:ln/>
        </p:spPr>
        <p:txBody>
          <a:bodyPr wrap="square" lIns="0" tIns="0" rIns="0" bIns="0" rtlCol="0" anchor="ctr"/>
          <a:lstStyle/>
          <a:p>
            <a:pPr algn="l" indent="0" marL="0">
              <a:buNone/>
            </a:pPr>
            <a:r>
              <a:rPr lang="en-US" sz="2600" b="1" dirty="0">
                <a:solidFill>
                  <a:schemeClr val="accent5"/>
                </a:solidFill>
              </a:rPr>
              <a:t>₹3,00,000</a:t>
            </a:r>
            <a:endParaRPr lang="en-US" sz="2600" dirty="0"/>
          </a:p>
        </p:txBody>
      </p:sp>
      <p:sp>
        <p:nvSpPr>
          <p:cNvPr id="15" name="Text 13"/>
          <p:cNvSpPr txBox="1"/>
          <p:nvPr/>
        </p:nvSpPr>
        <p:spPr>
          <a:xfrm>
            <a:off x="6364224" y="2715768"/>
            <a:ext cx="2286000" cy="310896"/>
          </a:xfrm>
          <a:prstGeom prst="rect">
            <a:avLst/>
          </a:prstGeom>
          <a:noFill/>
          <a:ln/>
        </p:spPr>
        <p:txBody>
          <a:bodyPr wrap="square" lIns="0" tIns="0" rIns="0" bIns="0" rtlCol="0" anchor="ctr"/>
          <a:lstStyle/>
          <a:p>
            <a:pPr algn="l" indent="0" marL="0">
              <a:buNone/>
            </a:pPr>
            <a:r>
              <a:rPr lang="en-US" sz="1300" dirty="0">
                <a:solidFill>
                  <a:schemeClr val="tx1"/>
                </a:solidFill>
              </a:rPr>
              <a:t>correct</a:t>
            </a:r>
            <a:endParaRPr lang="en-US" sz="1300" dirty="0"/>
          </a:p>
        </p:txBody>
      </p:sp>
      <p:sp>
        <p:nvSpPr>
          <p:cNvPr id="16" name="Lab result 146"/>
          <p:cNvSpPr/>
          <p:nvPr/>
        </p:nvSpPr>
        <p:spPr>
          <a:xfrm>
            <a:off x="8997696" y="1783080"/>
            <a:ext cx="2651760" cy="1371600"/>
          </a:xfrm>
          <a:prstGeom prst="roundRect">
            <a:avLst>
              <a:gd name="adj" fmla="val 6667"/>
            </a:avLst>
          </a:prstGeom>
          <a:solidFill>
            <a:schemeClr val="accent5">
              <a:alpha val="14000"/>
            </a:schemeClr>
          </a:solidFill>
          <a:ln/>
        </p:spPr>
      </p:sp>
      <p:sp>
        <p:nvSpPr>
          <p:cNvPr id="17" name="Text 15"/>
          <p:cNvSpPr txBox="1"/>
          <p:nvPr/>
        </p:nvSpPr>
        <p:spPr>
          <a:xfrm>
            <a:off x="9180576" y="1874520"/>
            <a:ext cx="2286000" cy="310896"/>
          </a:xfrm>
          <a:prstGeom prst="rect">
            <a:avLst/>
          </a:prstGeom>
          <a:noFill/>
          <a:ln/>
        </p:spPr>
        <p:txBody>
          <a:bodyPr wrap="square" lIns="0" tIns="0" rIns="0" bIns="0" rtlCol="0" anchor="ctr"/>
          <a:lstStyle/>
          <a:p>
            <a:pPr algn="l" indent="0" marL="0">
              <a:buNone/>
            </a:pPr>
            <a:r>
              <a:rPr lang="en-US" sz="1400" b="1" dirty="0">
                <a:solidFill>
                  <a:schemeClr val="tx2"/>
                </a:solidFill>
              </a:rPr>
              <a:t>D. Transaction</a:t>
            </a:r>
            <a:endParaRPr lang="en-US" sz="1400" dirty="0"/>
          </a:p>
        </p:txBody>
      </p:sp>
      <p:sp>
        <p:nvSpPr>
          <p:cNvPr id="18" name="Text 16"/>
          <p:cNvSpPr txBox="1"/>
          <p:nvPr/>
        </p:nvSpPr>
        <p:spPr>
          <a:xfrm>
            <a:off x="9180576" y="2194560"/>
            <a:ext cx="2286000" cy="502920"/>
          </a:xfrm>
          <a:prstGeom prst="rect">
            <a:avLst/>
          </a:prstGeom>
          <a:noFill/>
          <a:ln/>
        </p:spPr>
        <p:txBody>
          <a:bodyPr wrap="square" lIns="0" tIns="0" rIns="0" bIns="0" rtlCol="0" anchor="ctr"/>
          <a:lstStyle/>
          <a:p>
            <a:pPr algn="l" indent="0" marL="0">
              <a:buNone/>
            </a:pPr>
            <a:r>
              <a:rPr lang="en-US" sz="2600" b="1" dirty="0">
                <a:solidFill>
                  <a:schemeClr val="accent5"/>
                </a:solidFill>
              </a:rPr>
              <a:t>₹3,00,000</a:t>
            </a:r>
            <a:endParaRPr lang="en-US" sz="2600" dirty="0"/>
          </a:p>
        </p:txBody>
      </p:sp>
      <p:sp>
        <p:nvSpPr>
          <p:cNvPr id="19" name="Text 17"/>
          <p:cNvSpPr txBox="1"/>
          <p:nvPr/>
        </p:nvSpPr>
        <p:spPr>
          <a:xfrm>
            <a:off x="9180576" y="2715768"/>
            <a:ext cx="2286000" cy="310896"/>
          </a:xfrm>
          <a:prstGeom prst="rect">
            <a:avLst/>
          </a:prstGeom>
          <a:noFill/>
          <a:ln/>
        </p:spPr>
        <p:txBody>
          <a:bodyPr wrap="square" lIns="0" tIns="0" rIns="0" bIns="0" rtlCol="0" anchor="ctr"/>
          <a:lstStyle/>
          <a:p>
            <a:pPr algn="l" indent="0" marL="0">
              <a:buNone/>
            </a:pPr>
            <a:r>
              <a:rPr lang="en-US" sz="1300" dirty="0">
                <a:solidFill>
                  <a:schemeClr val="tx1"/>
                </a:solidFill>
              </a:rPr>
              <a:t>correct</a:t>
            </a:r>
            <a:endParaRPr lang="en-US" sz="1300" dirty="0"/>
          </a:p>
        </p:txBody>
      </p:sp>
      <p:sp>
        <p:nvSpPr>
          <p:cNvPr id="20" name="Text 18"/>
          <p:cNvSpPr txBox="1"/>
          <p:nvPr/>
        </p:nvSpPr>
        <p:spPr>
          <a:xfrm>
            <a:off x="548640" y="3246120"/>
            <a:ext cx="11094415" cy="292608"/>
          </a:xfrm>
          <a:prstGeom prst="rect">
            <a:avLst/>
          </a:prstGeom>
          <a:noFill/>
          <a:ln/>
        </p:spPr>
        <p:txBody>
          <a:bodyPr wrap="square" lIns="0" tIns="0" rIns="0" bIns="0" rtlCol="0" anchor="ctr"/>
          <a:lstStyle/>
          <a:p>
            <a:pPr algn="l" indent="0" marL="0">
              <a:buNone/>
            </a:pPr>
            <a:r>
              <a:rPr lang="en-US" sz="1300" dirty="0">
                <a:solidFill>
                  <a:schemeClr val="accent6"/>
                </a:solidFill>
              </a:rPr>
              <a:t>Start cover ₹5,00,000 and two simultaneous payments of ₹1,00,000: the correct result is ₹3,00,000. Real threads, lined up with a barrier.</a:t>
            </a:r>
            <a:endParaRPr lang="en-US" sz="1300" dirty="0"/>
          </a:p>
        </p:txBody>
      </p:sp>
      <p:sp>
        <p:nvSpPr>
          <p:cNvPr id="21" name="Text 19"/>
          <p:cNvSpPr txBox="1"/>
          <p:nvPr/>
        </p:nvSpPr>
        <p:spPr>
          <a:xfrm>
            <a:off x="548640" y="3639312"/>
            <a:ext cx="6949440" cy="292608"/>
          </a:xfrm>
          <a:prstGeom prst="rect">
            <a:avLst/>
          </a:prstGeom>
          <a:noFill/>
          <a:ln/>
        </p:spPr>
        <p:txBody>
          <a:bodyPr wrap="square" lIns="0" tIns="0" rIns="0" bIns="0" rtlCol="0" anchor="ctr"/>
          <a:lstStyle/>
          <a:p>
            <a:pPr algn="l" indent="0" marL="0">
              <a:buNone/>
            </a:pPr>
            <a:r>
              <a:rPr lang="en-US" sz="1400" b="1" dirty="0">
                <a:solidFill>
                  <a:schemeClr val="tx2"/>
                </a:solidFill>
              </a:rPr>
              <a:t>Scenario D on MongoDB 8.0: the losing transaction gets a WriteConflict and is retried</a:t>
            </a:r>
            <a:endParaRPr lang="en-US" sz="1400" dirty="0"/>
          </a:p>
        </p:txBody>
      </p:sp>
      <p:sp>
        <p:nvSpPr>
          <p:cNvPr id="22" name="Event log panel"/>
          <p:cNvSpPr/>
          <p:nvPr/>
        </p:nvSpPr>
        <p:spPr>
          <a:xfrm>
            <a:off x="548640" y="3977640"/>
            <a:ext cx="6949440" cy="2194560"/>
          </a:xfrm>
          <a:prstGeom prst="roundRect">
            <a:avLst>
              <a:gd name="adj" fmla="val 4167"/>
            </a:avLst>
          </a:prstGeom>
          <a:solidFill>
            <a:schemeClr val="tx2"/>
          </a:solidFill>
          <a:ln/>
        </p:spPr>
      </p:sp>
      <p:sp>
        <p:nvSpPr>
          <p:cNvPr id="23" name="Text 21"/>
          <p:cNvSpPr txBox="1"/>
          <p:nvPr/>
        </p:nvSpPr>
        <p:spPr>
          <a:xfrm>
            <a:off x="777240" y="4114800"/>
            <a:ext cx="6583680" cy="196596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   1.1 ms  A  attempt 1: reads cover = 500,000</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1.2 ms  B  attempt 1: reads cover = 500,000</a:t>
            </a:r>
            <a:endParaRPr lang="en-US" sz="1200" dirty="0"/>
          </a:p>
          <a:p>
            <a:pPr algn="l" indent="0" marL="0">
              <a:buNone/>
            </a:pPr>
            <a:r>
              <a:rPr lang="en-US" sz="1200" b="1" dirty="0">
                <a:solidFill>
                  <a:schemeClr val="accent2"/>
                </a:solidFill>
                <a:latin typeface="Courier New" pitchFamily="34" charset="0"/>
                <a:ea typeface="Courier New" pitchFamily="34" charset="-122"/>
                <a:cs typeface="Courier New" pitchFamily="34" charset="-120"/>
              </a:rPr>
              <a:t>  16.2 ms  A  WriteConflict -&gt; aborted, retry 2</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17.4 ms  A  attempt 2: reads cover = 500,000</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17.9 ms  B  attempt 1: writes cover = 400,000 + payment row</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31 ms  B  committed</a:t>
            </a:r>
            <a:endParaRPr lang="en-US" sz="1200" dirty="0"/>
          </a:p>
          <a:p>
            <a:pPr algn="l" indent="0" marL="0">
              <a:buNone/>
            </a:pPr>
            <a:r>
              <a:rPr lang="en-US" sz="1200" b="1" dirty="0">
                <a:solidFill>
                  <a:schemeClr val="accent2"/>
                </a:solidFill>
                <a:latin typeface="Courier New" pitchFamily="34" charset="0"/>
                <a:ea typeface="Courier New" pitchFamily="34" charset="-122"/>
                <a:cs typeface="Courier New" pitchFamily="34" charset="-120"/>
              </a:rPr>
              <a:t>  40.4 ms  A  WriteConflict -&gt; aborted, retry 3</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41.6 ms  A  attempt 3: reads cover = 400,000</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42.6 ms  A  attempt 3: writes cover = 300,000 + payment row</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46.1 ms  A  committed</a:t>
            </a:r>
            <a:endParaRPr lang="en-US" sz="1200" dirty="0"/>
          </a:p>
        </p:txBody>
      </p:sp>
      <p:sp>
        <p:nvSpPr>
          <p:cNvPr id="24" name="Where used card"/>
          <p:cNvSpPr/>
          <p:nvPr/>
        </p:nvSpPr>
        <p:spPr>
          <a:xfrm>
            <a:off x="7726680" y="3639312"/>
            <a:ext cx="3913632" cy="2532888"/>
          </a:xfrm>
          <a:prstGeom prst="roundRect">
            <a:avLst>
              <a:gd name="adj" fmla="val 3610"/>
            </a:avLst>
          </a:prstGeom>
          <a:solidFill>
            <a:schemeClr val="bg2"/>
          </a:solidFill>
          <a:ln/>
        </p:spPr>
      </p:sp>
      <p:sp>
        <p:nvSpPr>
          <p:cNvPr id="25" name="Text 23"/>
          <p:cNvSpPr txBox="1"/>
          <p:nvPr/>
        </p:nvSpPr>
        <p:spPr>
          <a:xfrm>
            <a:off x="7955280" y="3730752"/>
            <a:ext cx="3566160" cy="329184"/>
          </a:xfrm>
          <a:prstGeom prst="rect">
            <a:avLst/>
          </a:prstGeom>
          <a:noFill/>
          <a:ln/>
        </p:spPr>
        <p:txBody>
          <a:bodyPr wrap="square" lIns="0" tIns="0" rIns="0" bIns="0" rtlCol="0" anchor="ctr"/>
          <a:lstStyle/>
          <a:p>
            <a:pPr algn="l" indent="0" marL="0">
              <a:buNone/>
            </a:pPr>
            <a:r>
              <a:rPr lang="en-US" sz="1500" b="1" dirty="0">
                <a:solidFill>
                  <a:schemeClr val="accent1"/>
                </a:solidFill>
              </a:rPr>
              <a:t>Where ClaimSure uses each fix</a:t>
            </a:r>
            <a:endParaRPr lang="en-US" sz="1500" dirty="0"/>
          </a:p>
        </p:txBody>
      </p:sp>
      <p:sp>
        <p:nvSpPr>
          <p:cNvPr id="26" name="Text 24"/>
          <p:cNvSpPr txBox="1"/>
          <p:nvPr/>
        </p:nvSpPr>
        <p:spPr>
          <a:xfrm>
            <a:off x="7955280" y="4114800"/>
            <a:ext cx="3520440" cy="196596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Claim forms carry the version you saw; a stale action is refused</a:t>
            </a:r>
            <a:endParaRPr lang="en-US" sz="1300" dirty="0"/>
          </a:p>
          <a:p>
            <a:pPr algn="l" marL="342900" indent="-342900">
              <a:spcAft>
                <a:spcPts val="600"/>
              </a:spcAft>
              <a:buSzPct val="100000"/>
              <a:buChar char="•"/>
            </a:pPr>
            <a:r>
              <a:rPr lang="en-US" sz="1300" dirty="0">
                <a:solidFill>
                  <a:schemeClr val="tx1"/>
                </a:solidFill>
              </a:rPr>
              <a:t>Policy cover only changes through a guarded $inc</a:t>
            </a:r>
            <a:endParaRPr lang="en-US" sz="1300" dirty="0"/>
          </a:p>
          <a:p>
            <a:pPr algn="l" marL="342900" indent="-342900">
              <a:spcAft>
                <a:spcPts val="600"/>
              </a:spcAft>
              <a:buSzPct val="100000"/>
              <a:buChar char="•"/>
            </a:pPr>
            <a:r>
              <a:rPr lang="en-US" sz="1300" dirty="0">
                <a:solidFill>
                  <a:schemeClr val="tx1"/>
                </a:solidFill>
              </a:rPr>
              <a:t>Settlement runs in with_transaction(), which retries conflicts</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Rule-based fraud detection</a:t>
            </a:r>
            <a:endParaRPr lang="en-US" sz="3600" dirty="0"/>
          </a:p>
        </p:txBody>
      </p:sp>
      <p:graphicFrame>
        <p:nvGraphicFramePr>
          <p:cNvPr id="4" name="Fraud rules chart" descr=""/>
          <p:cNvGraphicFramePr/>
          <p:nvPr/>
        </p:nvGraphicFramePr>
        <p:xfrm>
          <a:off x="548640" y="1737360"/>
          <a:ext cx="7269480" cy="4343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3" type="body" hasCustomPrompt="1"/>
          </p:nvPr>
        </p:nvSpPr>
        <p:spPr>
          <a:xfrm>
            <a:off x="8092440" y="1783080"/>
            <a:ext cx="3547872" cy="420624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Nine red-flag rules add points to a 0 to 100 score</a:t>
            </a:r>
            <a:endParaRPr lang="en-US" sz="1500" dirty="0"/>
          </a:p>
          <a:p>
            <a:pPr algn="l" marL="342900" indent="-342900">
              <a:spcAft>
                <a:spcPts val="900"/>
              </a:spcAft>
              <a:buSzPct val="100000"/>
              <a:buChar char="•"/>
            </a:pPr>
            <a:r>
              <a:rPr lang="en-US" sz="1500" dirty="0">
                <a:solidFill>
                  <a:schemeClr val="tx1"/>
                </a:solidFill>
              </a:rPr>
              <a:t>14 claims are high risk (60 or more), 94 medium and 2,483 low</a:t>
            </a:r>
            <a:endParaRPr lang="en-US" sz="1500" dirty="0"/>
          </a:p>
          <a:p>
            <a:pPr algn="l" marL="342900" indent="-342900">
              <a:spcAft>
                <a:spcPts val="900"/>
              </a:spcAft>
              <a:buSzPct val="100000"/>
              <a:buChar char="•"/>
            </a:pPr>
            <a:r>
              <a:rPr lang="en-US" sz="1500" dirty="0">
                <a:solidFill>
                  <a:schemeClr val="tx1"/>
                </a:solidFill>
              </a:rPr>
              <a:t>Member histories are built with one $group and $push aggregation, not a query per claim</a:t>
            </a:r>
            <a:endParaRPr lang="en-US" sz="1500" dirty="0"/>
          </a:p>
          <a:p>
            <a:pPr algn="l" marL="342900" indent="-342900">
              <a:spcAft>
                <a:spcPts val="900"/>
              </a:spcAft>
              <a:buSzPct val="100000"/>
              <a:buChar char="•"/>
            </a:pPr>
            <a:r>
              <a:rPr lang="en-US" sz="1500" dirty="0">
                <a:solidFill>
                  <a:schemeClr val="tx1"/>
                </a:solidFill>
              </a:rPr>
              <a:t>Four watch-listed hospitals add 20 points to any claim from them</a:t>
            </a:r>
            <a:endParaRPr lang="en-US" sz="1500" dirty="0"/>
          </a:p>
          <a:p>
            <a:pPr algn="l" marL="342900" indent="-342900">
              <a:spcAft>
                <a:spcPts val="900"/>
              </a:spcAft>
              <a:buSzPct val="100000"/>
              <a:buChar char="•"/>
            </a:pPr>
            <a:r>
              <a:rPr lang="en-US" sz="1500" dirty="0">
                <a:solidFill>
                  <a:schemeClr val="tx1"/>
                </a:solidFill>
              </a:rPr>
              <a:t>Analysts mark each alert cleared, under investigation or confirmed</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OPTIMISATION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Indexing strategy: nine index types</a:t>
            </a:r>
            <a:endParaRPr lang="en-US" sz="3600" dirty="0"/>
          </a:p>
        </p:txBody>
      </p:sp>
      <p:graphicFrame>
        <p:nvGraphicFramePr>
          <p:cNvPr id="20" name="Index type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468880"/>
                <a:gridCol w="4114800"/>
                <a:gridCol w="4507992"/>
              </a:tblGrid>
              <a:tr h="411480">
                <a:tc>
                  <a:txBody>
                    <a:bodyPr/>
                    <a:lstStyle/>
                    <a:p>
                      <a:pPr indent="0" marL="0">
                        <a:buNone/>
                      </a:pPr>
                      <a:r>
                        <a:rPr lang="en-US" sz="1400" b="1" dirty="0">
                          <a:solidFill>
                            <a:schemeClr val="bg1"/>
                          </a:solidFill>
                        </a:rPr>
                        <a:t>Index type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 in ClaimSure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serves</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accent1"/>
                          </a:solidFill>
                        </a:rPr>
                        <a:t>Unique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payments.claim_number</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A claim can never be paid twice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Compound (ESR rule)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claims { status, submitted_at }</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Work queues: one status, newest first</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Multikey</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claims diagnosis.icd_code</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Search on any diagnosis in the array</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Text</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claims: patient, hospital, diagnosis</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Full-text search with relevance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Partial</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claims fraud.score &gt;= 30</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Fraud watch-list; only risky claims are indexed</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Sparse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policies.agent_id</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Agent leaderboard; online sales have no agent</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TTL</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audit_logs.timestamp, 3 years</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Automatic clean-up after the retention period</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438912">
                <a:tc>
                  <a:txBody>
                    <a:bodyPr/>
                    <a:lstStyle/>
                    <a:p>
                      <a:pPr indent="0" marL="0">
                        <a:buNone/>
                      </a:pPr>
                      <a:r>
                        <a:rPr lang="en-US" sz="1400" b="1" dirty="0">
                          <a:solidFill>
                            <a:schemeClr val="accent1"/>
                          </a:solidFill>
                        </a:rPr>
                        <a:t>2dsphere</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hospitals.location</a:t>
                      </a:r>
                      <a:endParaRPr lang="en-US" sz="1200" dirty="0">
                        <a:latin typeface="Courier New" charset="0"/>
                        <a:ea typeface="Courier New" charset="0"/>
                        <a:cs typeface="Courier New" charset="0"/>
                      </a:endParaRPr>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Nearest network hospital to a point</a:t>
                      </a:r>
                      <a:endParaRPr lang="en-US" sz="1400" dirty="0"/>
                    </a:p>
                  </a:txBody>
                  <a:tcPr marL="109728" marR="109728" marT="27432" marB="27432"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bl>
          </a:graphicData>
        </a:graphic>
      </p:graphicFrame>
      <p:sp>
        <p:nvSpPr>
          <p:cNvPr id="5" name="Text 2"/>
          <p:cNvSpPr txBox="1"/>
          <p:nvPr/>
        </p:nvSpPr>
        <p:spPr>
          <a:xfrm>
            <a:off x="548640" y="5833872"/>
            <a:ext cx="11094415" cy="329184"/>
          </a:xfrm>
          <a:prstGeom prst="rect">
            <a:avLst/>
          </a:prstGeom>
          <a:noFill/>
          <a:ln/>
        </p:spPr>
        <p:txBody>
          <a:bodyPr wrap="square" lIns="0" tIns="0" rIns="0" bIns="0" rtlCol="0" anchor="ctr"/>
          <a:lstStyle/>
          <a:p>
            <a:pPr algn="l" indent="0" marL="0">
              <a:buNone/>
            </a:pPr>
            <a:r>
              <a:rPr lang="en-US" sz="1200" dirty="0">
                <a:solidFill>
                  <a:schemeClr val="accent6"/>
                </a:solidFill>
              </a:rPr>
              <a:t>50 secondary indexes across 14 collections, all defined in schema/indexes.json. Plain single-field indexes are the ninth type.</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OPTIMISATION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Index benchmark: 100,000 documents</a:t>
            </a:r>
            <a:endParaRPr lang="en-US" sz="3600" dirty="0"/>
          </a:p>
        </p:txBody>
      </p:sp>
      <p:graphicFrame>
        <p:nvGraphicFramePr>
          <p:cNvPr id="4" name="Index speed-up chart" descr=""/>
          <p:cNvGraphicFramePr/>
          <p:nvPr/>
        </p:nvGraphicFramePr>
        <p:xfrm>
          <a:off x="548640" y="1737360"/>
          <a:ext cx="7269480" cy="4343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3" type="body" hasCustomPrompt="1"/>
          </p:nvPr>
        </p:nvSpPr>
        <p:spPr>
          <a:xfrm>
            <a:off x="8092440" y="1783080"/>
            <a:ext cx="3547872" cy="420624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Measured on MongoDB 8.0 with explain("executionStats"); median of three runs</a:t>
            </a:r>
            <a:endParaRPr lang="en-US" sz="1500" dirty="0"/>
          </a:p>
          <a:p>
            <a:pPr algn="l" marL="342900" indent="-342900">
              <a:spcAft>
                <a:spcPts val="900"/>
              </a:spcAft>
              <a:buSzPct val="100000"/>
              <a:buChar char="•"/>
            </a:pPr>
            <a:r>
              <a:rPr lang="en-US" sz="1500" dirty="0">
                <a:solidFill>
                  <a:schemeClr val="tx1"/>
                </a:solidFill>
              </a:rPr>
              <a:t>Member history: 100,000 documents examined without an index, 20 with one</a:t>
            </a:r>
            <a:endParaRPr lang="en-US" sz="1500" dirty="0"/>
          </a:p>
          <a:p>
            <a:pPr algn="l" marL="342900" indent="-342900">
              <a:spcAft>
                <a:spcPts val="900"/>
              </a:spcAft>
              <a:buSzPct val="100000"/>
              <a:buChar char="•"/>
            </a:pPr>
            <a:r>
              <a:rPr lang="en-US" sz="1500" dirty="0">
                <a:solidFill>
                  <a:schemeClr val="tx1"/>
                </a:solidFill>
              </a:rPr>
              <a:t>Covered query: answered from the index alone, 0 documents read (114x)</a:t>
            </a:r>
            <a:endParaRPr lang="en-US" sz="1500" dirty="0"/>
          </a:p>
          <a:p>
            <a:pPr algn="l" marL="342900" indent="-342900">
              <a:spcAft>
                <a:spcPts val="900"/>
              </a:spcAft>
              <a:buSzPct val="100000"/>
              <a:buChar char="•"/>
            </a:pPr>
            <a:r>
              <a:rPr lang="en-US" sz="1500" dirty="0">
                <a:solidFill>
                  <a:schemeClr val="tx1"/>
                </a:solidFill>
              </a:rPr>
              <a:t>Five indexes built in 2.39 s; red bars are where an index did not help</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OPTIMISATION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When an index helps, and when it does not</a:t>
            </a:r>
            <a:endParaRPr lang="en-US" sz="3600" dirty="0"/>
          </a:p>
        </p:txBody>
      </p:sp>
      <p:graphicFrame>
        <p:nvGraphicFramePr>
          <p:cNvPr id="22" name="Index lesson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828800"/>
                <a:gridCol w="2743200"/>
                <a:gridCol w="868680"/>
                <a:gridCol w="868680"/>
                <a:gridCol w="1371600"/>
                <a:gridCol w="3410712"/>
              </a:tblGrid>
              <a:tr h="384048">
                <a:tc>
                  <a:txBody>
                    <a:bodyPr/>
                    <a:lstStyle/>
                    <a:p>
                      <a:pPr indent="0" marL="0">
                        <a:buNone/>
                      </a:pPr>
                      <a:r>
                        <a:rPr lang="en-US" sz="1400" b="1" dirty="0">
                          <a:solidFill>
                            <a:schemeClr val="bg1"/>
                          </a:solidFill>
                        </a:rPr>
                        <a:t>Query</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Plan with indexes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Docs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Lesson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r>
              <a:tr h="603504">
                <a:tc>
                  <a:txBody>
                    <a:bodyPr/>
                    <a:lstStyle/>
                    <a:p>
                      <a:pPr indent="0" marL="0">
                        <a:buNone/>
                      </a:pPr>
                      <a:r>
                        <a:rPr lang="en-US" sz="1400" b="1" dirty="0">
                          <a:solidFill>
                            <a:schemeClr val="tx1"/>
                          </a:solidFill>
                        </a:rPr>
                        <a:t>Covered query</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IXSCAN(member_submitted) &gt; PROJECTION_COVERED</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68.4 &gt; 0.6</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4F8A3C"/>
                          </a:solidFill>
                        </a:rPr>
                        <a:t>Filter and projection use only indexed fields: no documents read</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603504">
                <a:tc>
                  <a:txBody>
                    <a:bodyPr/>
                    <a:lstStyle/>
                    <a:p>
                      <a:pPr indent="0" marL="0">
                        <a:buNone/>
                      </a:pPr>
                      <a:r>
                        <a:rPr lang="en-US" sz="1400" b="1" dirty="0">
                          <a:solidFill>
                            <a:schemeClr val="tx1"/>
                          </a:solidFill>
                        </a:rPr>
                        <a:t>Claims above ₹10 lakh</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IXSCAN(claimed_amount) &gt; FETCH</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12</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12</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79 &gt; 0.8</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4F8A3C"/>
                          </a:solidFill>
                        </a:rPr>
                        <a:t>Selective range: 12 of 100,000 rows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603504">
                <a:tc>
                  <a:txBody>
                    <a:bodyPr/>
                    <a:lstStyle/>
                    <a:p>
                      <a:pPr indent="0" marL="0">
                        <a:buNone/>
                      </a:pPr>
                      <a:r>
                        <a:rPr lang="en-US" sz="1400" b="1" dirty="0">
                          <a:solidFill>
                            <a:schemeClr val="tx1"/>
                          </a:solidFill>
                        </a:rPr>
                        <a:t>Claims since a date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COLLSCAN</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100,000</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66.3 &gt; 89.6</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C44536"/>
                          </a:solidFill>
                        </a:rPr>
                        <a:t>Prefix rule: submitted_at is not the leading field, so a full scan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603504">
                <a:tc>
                  <a:txBody>
                    <a:bodyPr/>
                    <a:lstStyle/>
                    <a:p>
                      <a:pPr indent="0" marL="0">
                        <a:buNone/>
                      </a:pPr>
                      <a:r>
                        <a:rPr lang="en-US" sz="1400" b="1" dirty="0">
                          <a:solidFill>
                            <a:schemeClr val="tx1"/>
                          </a:solidFill>
                        </a:rPr>
                        <a:t>State contains 'desh'</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IXSCAN(hospital_state) &gt; FETCH</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100,000</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17,842</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210.7 &gt; 279.1</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C44536"/>
                          </a:solidFill>
                        </a:rPr>
                        <a:t>Unanchored regex cannot seek: every index key is read</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603504">
                <a:tc>
                  <a:txBody>
                    <a:bodyPr/>
                    <a:lstStyle/>
                    <a:p>
                      <a:pPr indent="0" marL="0">
                        <a:buNone/>
                      </a:pPr>
                      <a:r>
                        <a:rPr lang="en-US" sz="1400" b="1" dirty="0">
                          <a:solidFill>
                            <a:schemeClr val="tx1"/>
                          </a:solidFill>
                        </a:rPr>
                        <a:t>Status = Settled</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IXSCAN(status_submitted) &gt; FETCH</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78,107</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78,107</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algn="r" indent="0" marL="0">
                        <a:buNone/>
                      </a:pPr>
                      <a:r>
                        <a:rPr lang="en-US" sz="1400" dirty="0">
                          <a:solidFill>
                            <a:schemeClr val="tx1"/>
                          </a:solidFill>
                        </a:rPr>
                        <a:t>678.2 &gt; 861.9</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C44536"/>
                          </a:solidFill>
                        </a:rPr>
                        <a:t>78% of rows: random index reads lose to one sequential scan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bl>
          </a:graphicData>
        </a:graphic>
      </p:graphicFrame>
      <p:sp>
        <p:nvSpPr>
          <p:cNvPr id="5" name="Index rule note"/>
          <p:cNvSpPr/>
          <p:nvPr/>
        </p:nvSpPr>
        <p:spPr>
          <a:xfrm>
            <a:off x="548640" y="5349240"/>
            <a:ext cx="11094415" cy="804672"/>
          </a:xfrm>
          <a:prstGeom prst="roundRect">
            <a:avLst>
              <a:gd name="adj" fmla="val 11364"/>
            </a:avLst>
          </a:prstGeom>
          <a:solidFill>
            <a:schemeClr val="accent2">
              <a:alpha val="15000"/>
            </a:schemeClr>
          </a:solidFill>
          <a:ln/>
        </p:spPr>
      </p:sp>
      <p:sp>
        <p:nvSpPr>
          <p:cNvPr id="6" name="Text 3"/>
          <p:cNvSpPr txBox="1"/>
          <p:nvPr/>
        </p:nvSpPr>
        <p:spPr>
          <a:xfrm>
            <a:off x="822960" y="5349240"/>
            <a:ext cx="10545775" cy="804672"/>
          </a:xfrm>
          <a:prstGeom prst="rect">
            <a:avLst/>
          </a:prstGeom>
          <a:noFill/>
          <a:ln/>
        </p:spPr>
        <p:txBody>
          <a:bodyPr wrap="square" lIns="0" tIns="0" rIns="0" bIns="0" rtlCol="0" anchor="ctr"/>
          <a:lstStyle/>
          <a:p>
            <a:pPr algn="l" indent="0" marL="0">
              <a:buNone/>
            </a:pPr>
            <a:r>
              <a:rPr lang="en-US" sz="1500" b="1" dirty="0">
                <a:solidFill>
                  <a:schemeClr val="accent1"/>
                </a:solidFill>
              </a:rPr>
              <a:t>Rule: </a:t>
            </a:r>
            <a:pPr algn="l" indent="0" marL="0">
              <a:buNone/>
            </a:pPr>
            <a:r>
              <a:rPr lang="en-US" sz="1500" dirty="0">
                <a:solidFill>
                  <a:schemeClr val="tx1"/>
                </a:solidFill>
              </a:rPr>
              <a:t>index what you filter on, in Equality &gt; Sort &gt; Range order, and keep queries selective. An index that is never chosen still costs every write.</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ANALYTICS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Analytics with aggregation pipelines</a:t>
            </a:r>
            <a:endParaRPr lang="en-US" sz="3600" dirty="0"/>
          </a:p>
        </p:txBody>
      </p:sp>
      <p:sp>
        <p:nvSpPr>
          <p:cNvPr id="4" name="Text 2"/>
          <p:cNvSpPr txBox="1"/>
          <p:nvPr/>
        </p:nvSpPr>
        <p:spPr>
          <a:xfrm>
            <a:off x="548640" y="1783080"/>
            <a:ext cx="4937760" cy="685800"/>
          </a:xfrm>
          <a:prstGeom prst="rect">
            <a:avLst/>
          </a:prstGeom>
          <a:noFill/>
          <a:ln/>
        </p:spPr>
        <p:txBody>
          <a:bodyPr wrap="square" lIns="0" tIns="0" rIns="0" bIns="0" rtlCol="0" anchor="t"/>
          <a:lstStyle/>
          <a:p>
            <a:pPr algn="l" indent="0" marL="0">
              <a:buNone/>
            </a:pPr>
            <a:r>
              <a:rPr lang="en-US" sz="1600" b="1" dirty="0">
                <a:solidFill>
                  <a:schemeClr val="tx2"/>
                </a:solidFill>
              </a:rPr>
              <a:t>Every chart and KPI is computed inside the database: 19 reports, each one a pipeline.</a:t>
            </a:r>
            <a:endParaRPr lang="en-US" sz="1600" dirty="0"/>
          </a:p>
        </p:txBody>
      </p:sp>
      <p:sp>
        <p:nvSpPr>
          <p:cNvPr id="5" name="Operator chip 147"/>
          <p:cNvSpPr/>
          <p:nvPr/>
        </p:nvSpPr>
        <p:spPr>
          <a:xfrm>
            <a:off x="548640" y="2651760"/>
            <a:ext cx="1170432" cy="384048"/>
          </a:xfrm>
          <a:prstGeom prst="roundRect">
            <a:avLst>
              <a:gd name="adj" fmla="val 11905"/>
            </a:avLst>
          </a:prstGeom>
          <a:solidFill>
            <a:schemeClr val="bg2"/>
          </a:solidFill>
          <a:ln/>
        </p:spPr>
      </p:sp>
      <p:sp>
        <p:nvSpPr>
          <p:cNvPr id="6" name="Text 4"/>
          <p:cNvSpPr txBox="1"/>
          <p:nvPr/>
        </p:nvSpPr>
        <p:spPr>
          <a:xfrm>
            <a:off x="548640" y="2651760"/>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$facet</a:t>
            </a:r>
            <a:endParaRPr lang="en-US" sz="1100" dirty="0"/>
          </a:p>
        </p:txBody>
      </p:sp>
      <p:sp>
        <p:nvSpPr>
          <p:cNvPr id="7" name="Operator chip 148"/>
          <p:cNvSpPr/>
          <p:nvPr/>
        </p:nvSpPr>
        <p:spPr>
          <a:xfrm>
            <a:off x="1792224" y="2651760"/>
            <a:ext cx="1170432" cy="384048"/>
          </a:xfrm>
          <a:prstGeom prst="roundRect">
            <a:avLst>
              <a:gd name="adj" fmla="val 11905"/>
            </a:avLst>
          </a:prstGeom>
          <a:solidFill>
            <a:schemeClr val="bg2"/>
          </a:solidFill>
          <a:ln/>
        </p:spPr>
      </p:sp>
      <p:sp>
        <p:nvSpPr>
          <p:cNvPr id="8" name="Text 6"/>
          <p:cNvSpPr txBox="1"/>
          <p:nvPr/>
        </p:nvSpPr>
        <p:spPr>
          <a:xfrm>
            <a:off x="1792224" y="2651760"/>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$group</a:t>
            </a:r>
            <a:endParaRPr lang="en-US" sz="1100" dirty="0"/>
          </a:p>
        </p:txBody>
      </p:sp>
      <p:sp>
        <p:nvSpPr>
          <p:cNvPr id="9" name="Operator chip 149"/>
          <p:cNvSpPr/>
          <p:nvPr/>
        </p:nvSpPr>
        <p:spPr>
          <a:xfrm>
            <a:off x="3035808" y="2651760"/>
            <a:ext cx="1170432" cy="384048"/>
          </a:xfrm>
          <a:prstGeom prst="roundRect">
            <a:avLst>
              <a:gd name="adj" fmla="val 11905"/>
            </a:avLst>
          </a:prstGeom>
          <a:solidFill>
            <a:schemeClr val="bg2"/>
          </a:solidFill>
          <a:ln/>
        </p:spPr>
      </p:sp>
      <p:sp>
        <p:nvSpPr>
          <p:cNvPr id="10" name="Text 8"/>
          <p:cNvSpPr txBox="1"/>
          <p:nvPr/>
        </p:nvSpPr>
        <p:spPr>
          <a:xfrm>
            <a:off x="3035808" y="2651760"/>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$lookup</a:t>
            </a:r>
            <a:endParaRPr lang="en-US" sz="1100" dirty="0"/>
          </a:p>
        </p:txBody>
      </p:sp>
      <p:sp>
        <p:nvSpPr>
          <p:cNvPr id="11" name="Operator chip 150"/>
          <p:cNvSpPr/>
          <p:nvPr/>
        </p:nvSpPr>
        <p:spPr>
          <a:xfrm>
            <a:off x="4279392" y="2651760"/>
            <a:ext cx="1170432" cy="384048"/>
          </a:xfrm>
          <a:prstGeom prst="roundRect">
            <a:avLst>
              <a:gd name="adj" fmla="val 11905"/>
            </a:avLst>
          </a:prstGeom>
          <a:solidFill>
            <a:schemeClr val="bg2"/>
          </a:solidFill>
          <a:ln/>
        </p:spPr>
      </p:sp>
      <p:sp>
        <p:nvSpPr>
          <p:cNvPr id="12" name="Text 10"/>
          <p:cNvSpPr txBox="1"/>
          <p:nvPr/>
        </p:nvSpPr>
        <p:spPr>
          <a:xfrm>
            <a:off x="4279392" y="2651760"/>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$unwind</a:t>
            </a:r>
            <a:endParaRPr lang="en-US" sz="1100" dirty="0"/>
          </a:p>
        </p:txBody>
      </p:sp>
      <p:sp>
        <p:nvSpPr>
          <p:cNvPr id="13" name="Operator chip 151"/>
          <p:cNvSpPr/>
          <p:nvPr/>
        </p:nvSpPr>
        <p:spPr>
          <a:xfrm>
            <a:off x="548640" y="3127248"/>
            <a:ext cx="1170432" cy="384048"/>
          </a:xfrm>
          <a:prstGeom prst="roundRect">
            <a:avLst>
              <a:gd name="adj" fmla="val 11905"/>
            </a:avLst>
          </a:prstGeom>
          <a:solidFill>
            <a:schemeClr val="bg2"/>
          </a:solidFill>
          <a:ln/>
        </p:spPr>
      </p:sp>
      <p:sp>
        <p:nvSpPr>
          <p:cNvPr id="14" name="Text 12"/>
          <p:cNvSpPr txBox="1"/>
          <p:nvPr/>
        </p:nvSpPr>
        <p:spPr>
          <a:xfrm>
            <a:off x="548640" y="3127248"/>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$bucket</a:t>
            </a:r>
            <a:endParaRPr lang="en-US" sz="1100" dirty="0"/>
          </a:p>
        </p:txBody>
      </p:sp>
      <p:sp>
        <p:nvSpPr>
          <p:cNvPr id="15" name="Operator chip 152"/>
          <p:cNvSpPr/>
          <p:nvPr/>
        </p:nvSpPr>
        <p:spPr>
          <a:xfrm>
            <a:off x="1792224" y="3127248"/>
            <a:ext cx="1170432" cy="384048"/>
          </a:xfrm>
          <a:prstGeom prst="roundRect">
            <a:avLst>
              <a:gd name="adj" fmla="val 11905"/>
            </a:avLst>
          </a:prstGeom>
          <a:solidFill>
            <a:schemeClr val="bg2"/>
          </a:solidFill>
          <a:ln/>
        </p:spPr>
      </p:sp>
      <p:sp>
        <p:nvSpPr>
          <p:cNvPr id="16" name="Text 14"/>
          <p:cNvSpPr txBox="1"/>
          <p:nvPr/>
        </p:nvSpPr>
        <p:spPr>
          <a:xfrm>
            <a:off x="1792224" y="3127248"/>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$match</a:t>
            </a:r>
            <a:endParaRPr lang="en-US" sz="1100" dirty="0"/>
          </a:p>
        </p:txBody>
      </p:sp>
      <p:sp>
        <p:nvSpPr>
          <p:cNvPr id="17" name="Operator chip 153"/>
          <p:cNvSpPr/>
          <p:nvPr/>
        </p:nvSpPr>
        <p:spPr>
          <a:xfrm>
            <a:off x="3035808" y="3127248"/>
            <a:ext cx="1170432" cy="384048"/>
          </a:xfrm>
          <a:prstGeom prst="roundRect">
            <a:avLst>
              <a:gd name="adj" fmla="val 11905"/>
            </a:avLst>
          </a:prstGeom>
          <a:solidFill>
            <a:schemeClr val="bg2"/>
          </a:solidFill>
          <a:ln/>
        </p:spPr>
      </p:sp>
      <p:sp>
        <p:nvSpPr>
          <p:cNvPr id="18" name="Text 16"/>
          <p:cNvSpPr txBox="1"/>
          <p:nvPr/>
        </p:nvSpPr>
        <p:spPr>
          <a:xfrm>
            <a:off x="3035808" y="3127248"/>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$project</a:t>
            </a:r>
            <a:endParaRPr lang="en-US" sz="1100" dirty="0"/>
          </a:p>
        </p:txBody>
      </p:sp>
      <p:sp>
        <p:nvSpPr>
          <p:cNvPr id="19" name="Operator chip 154"/>
          <p:cNvSpPr/>
          <p:nvPr/>
        </p:nvSpPr>
        <p:spPr>
          <a:xfrm>
            <a:off x="4279392" y="3127248"/>
            <a:ext cx="1170432" cy="384048"/>
          </a:xfrm>
          <a:prstGeom prst="roundRect">
            <a:avLst>
              <a:gd name="adj" fmla="val 11905"/>
            </a:avLst>
          </a:prstGeom>
          <a:solidFill>
            <a:schemeClr val="bg2"/>
          </a:solidFill>
          <a:ln/>
        </p:spPr>
      </p:sp>
      <p:sp>
        <p:nvSpPr>
          <p:cNvPr id="20" name="Text 18"/>
          <p:cNvSpPr txBox="1"/>
          <p:nvPr/>
        </p:nvSpPr>
        <p:spPr>
          <a:xfrm>
            <a:off x="4279392" y="3127248"/>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$cond</a:t>
            </a:r>
            <a:endParaRPr lang="en-US" sz="1100" dirty="0"/>
          </a:p>
        </p:txBody>
      </p:sp>
      <p:sp>
        <p:nvSpPr>
          <p:cNvPr id="21" name="Operator chip 155"/>
          <p:cNvSpPr/>
          <p:nvPr/>
        </p:nvSpPr>
        <p:spPr>
          <a:xfrm>
            <a:off x="548640" y="3602736"/>
            <a:ext cx="1170432" cy="384048"/>
          </a:xfrm>
          <a:prstGeom prst="roundRect">
            <a:avLst>
              <a:gd name="adj" fmla="val 11905"/>
            </a:avLst>
          </a:prstGeom>
          <a:solidFill>
            <a:schemeClr val="bg2"/>
          </a:solidFill>
          <a:ln/>
        </p:spPr>
      </p:sp>
      <p:sp>
        <p:nvSpPr>
          <p:cNvPr id="22" name="Text 20"/>
          <p:cNvSpPr txBox="1"/>
          <p:nvPr/>
        </p:nvSpPr>
        <p:spPr>
          <a:xfrm>
            <a:off x="548640" y="3602736"/>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$sort</a:t>
            </a:r>
            <a:endParaRPr lang="en-US" sz="1100" dirty="0"/>
          </a:p>
        </p:txBody>
      </p:sp>
      <p:sp>
        <p:nvSpPr>
          <p:cNvPr id="23" name="Operator chip 156"/>
          <p:cNvSpPr/>
          <p:nvPr/>
        </p:nvSpPr>
        <p:spPr>
          <a:xfrm>
            <a:off x="1792224" y="3602736"/>
            <a:ext cx="1170432" cy="384048"/>
          </a:xfrm>
          <a:prstGeom prst="roundRect">
            <a:avLst>
              <a:gd name="adj" fmla="val 11905"/>
            </a:avLst>
          </a:prstGeom>
          <a:solidFill>
            <a:schemeClr val="bg2"/>
          </a:solidFill>
          <a:ln/>
        </p:spPr>
      </p:sp>
      <p:sp>
        <p:nvSpPr>
          <p:cNvPr id="24" name="Text 22"/>
          <p:cNvSpPr txBox="1"/>
          <p:nvPr/>
        </p:nvSpPr>
        <p:spPr>
          <a:xfrm>
            <a:off x="1792224" y="3602736"/>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$limit</a:t>
            </a:r>
            <a:endParaRPr lang="en-US" sz="1100" dirty="0"/>
          </a:p>
        </p:txBody>
      </p:sp>
      <p:sp>
        <p:nvSpPr>
          <p:cNvPr id="25" name="Operator chip 157"/>
          <p:cNvSpPr/>
          <p:nvPr/>
        </p:nvSpPr>
        <p:spPr>
          <a:xfrm>
            <a:off x="3035808" y="3602736"/>
            <a:ext cx="1170432" cy="384048"/>
          </a:xfrm>
          <a:prstGeom prst="roundRect">
            <a:avLst>
              <a:gd name="adj" fmla="val 11905"/>
            </a:avLst>
          </a:prstGeom>
          <a:solidFill>
            <a:schemeClr val="bg2"/>
          </a:solidFill>
          <a:ln/>
        </p:spPr>
      </p:sp>
      <p:sp>
        <p:nvSpPr>
          <p:cNvPr id="26" name="Text 24"/>
          <p:cNvSpPr txBox="1"/>
          <p:nvPr/>
        </p:nvSpPr>
        <p:spPr>
          <a:xfrm>
            <a:off x="3035808" y="3602736"/>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$addToSet</a:t>
            </a:r>
            <a:endParaRPr lang="en-US" sz="1100" dirty="0"/>
          </a:p>
        </p:txBody>
      </p:sp>
      <p:sp>
        <p:nvSpPr>
          <p:cNvPr id="27" name="Operator chip 158"/>
          <p:cNvSpPr/>
          <p:nvPr/>
        </p:nvSpPr>
        <p:spPr>
          <a:xfrm>
            <a:off x="4279392" y="3602736"/>
            <a:ext cx="1170432" cy="384048"/>
          </a:xfrm>
          <a:prstGeom prst="roundRect">
            <a:avLst>
              <a:gd name="adj" fmla="val 11905"/>
            </a:avLst>
          </a:prstGeom>
          <a:solidFill>
            <a:schemeClr val="bg2"/>
          </a:solidFill>
          <a:ln/>
        </p:spPr>
      </p:sp>
      <p:sp>
        <p:nvSpPr>
          <p:cNvPr id="28" name="Text 26"/>
          <p:cNvSpPr txBox="1"/>
          <p:nvPr/>
        </p:nvSpPr>
        <p:spPr>
          <a:xfrm>
            <a:off x="4279392" y="3602736"/>
            <a:ext cx="1170432" cy="38404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$dateToString</a:t>
            </a:r>
            <a:endParaRPr lang="en-US" sz="1100" dirty="0"/>
          </a:p>
        </p:txBody>
      </p:sp>
      <p:sp>
        <p:nvSpPr>
          <p:cNvPr id="29" name="Dot 159"/>
          <p:cNvSpPr/>
          <p:nvPr/>
        </p:nvSpPr>
        <p:spPr>
          <a:xfrm>
            <a:off x="548640" y="4297680"/>
            <a:ext cx="566928" cy="566928"/>
          </a:xfrm>
          <a:prstGeom prst="ellipse">
            <a:avLst/>
          </a:prstGeom>
          <a:solidFill>
            <a:schemeClr val="accent1"/>
          </a:solidFill>
          <a:ln/>
        </p:spPr>
      </p:sp>
      <p:pic>
        <p:nvPicPr>
          <p:cNvPr id="30" name="Image 0" descr="icon">    </p:cNvPr>
          <p:cNvPicPr>
            <a:picLocks noChangeAspect="1"/>
          </p:cNvPicPr>
          <p:nvPr/>
        </p:nvPicPr>
        <p:blipFill>
          <a:blip r:embed="rId1"/>
          <a:stretch>
            <a:fillRect/>
          </a:stretch>
        </p:blipFill>
        <p:spPr>
          <a:xfrm>
            <a:off x="690372" y="4439412"/>
            <a:ext cx="283464" cy="283464"/>
          </a:xfrm>
          <a:prstGeom prst="rect">
            <a:avLst/>
          </a:prstGeom>
        </p:spPr>
      </p:pic>
      <p:sp>
        <p:nvSpPr>
          <p:cNvPr id="31" name="Text 28"/>
          <p:cNvSpPr txBox="1"/>
          <p:nvPr/>
        </p:nvSpPr>
        <p:spPr>
          <a:xfrm>
            <a:off x="1298448" y="4270248"/>
            <a:ext cx="4114800" cy="310896"/>
          </a:xfrm>
          <a:prstGeom prst="rect">
            <a:avLst/>
          </a:prstGeom>
          <a:noFill/>
          <a:ln/>
        </p:spPr>
        <p:txBody>
          <a:bodyPr wrap="square" lIns="0" tIns="0" rIns="0" bIns="0" rtlCol="0" anchor="ctr"/>
          <a:lstStyle/>
          <a:p>
            <a:pPr algn="l" indent="0" marL="0">
              <a:buNone/>
            </a:pPr>
            <a:r>
              <a:rPr lang="en-US" sz="1600" b="1" dirty="0">
                <a:solidFill>
                  <a:schemeClr val="tx2"/>
                </a:solidFill>
              </a:rPr>
              <a:t>Project early</a:t>
            </a:r>
            <a:endParaRPr lang="en-US" sz="1600" dirty="0"/>
          </a:p>
        </p:txBody>
      </p:sp>
      <p:sp>
        <p:nvSpPr>
          <p:cNvPr id="32" name="Text 29"/>
          <p:cNvSpPr txBox="1"/>
          <p:nvPr/>
        </p:nvSpPr>
        <p:spPr>
          <a:xfrm>
            <a:off x="1298448" y="4590288"/>
            <a:ext cx="4114800" cy="310896"/>
          </a:xfrm>
          <a:prstGeom prst="rect">
            <a:avLst/>
          </a:prstGeom>
          <a:noFill/>
          <a:ln/>
        </p:spPr>
        <p:txBody>
          <a:bodyPr wrap="square" lIns="0" tIns="0" rIns="0" bIns="0" rtlCol="0" anchor="ctr"/>
          <a:lstStyle/>
          <a:p>
            <a:pPr algn="l" indent="0" marL="0">
              <a:buNone/>
            </a:pPr>
            <a:r>
              <a:rPr lang="en-US" sz="1400" dirty="0">
                <a:solidFill>
                  <a:schemeClr val="tx1"/>
                </a:solidFill>
              </a:rPr>
              <a:t>Keep only the fields a pipeline needs before grouping.</a:t>
            </a:r>
            <a:endParaRPr lang="en-US" sz="1400" dirty="0"/>
          </a:p>
        </p:txBody>
      </p:sp>
      <p:sp>
        <p:nvSpPr>
          <p:cNvPr id="33" name="Dot 160"/>
          <p:cNvSpPr/>
          <p:nvPr/>
        </p:nvSpPr>
        <p:spPr>
          <a:xfrm>
            <a:off x="548640" y="5230368"/>
            <a:ext cx="566928" cy="566928"/>
          </a:xfrm>
          <a:prstGeom prst="ellipse">
            <a:avLst/>
          </a:prstGeom>
          <a:solidFill>
            <a:schemeClr val="accent1"/>
          </a:solidFill>
          <a:ln/>
        </p:spPr>
      </p:sp>
      <p:pic>
        <p:nvPicPr>
          <p:cNvPr id="34" name="Image 1" descr="icon">    </p:cNvPr>
          <p:cNvPicPr>
            <a:picLocks noChangeAspect="1"/>
          </p:cNvPicPr>
          <p:nvPr/>
        </p:nvPicPr>
        <p:blipFill>
          <a:blip r:embed="rId2"/>
          <a:stretch>
            <a:fillRect/>
          </a:stretch>
        </p:blipFill>
        <p:spPr>
          <a:xfrm>
            <a:off x="690372" y="5372100"/>
            <a:ext cx="283464" cy="283464"/>
          </a:xfrm>
          <a:prstGeom prst="rect">
            <a:avLst/>
          </a:prstGeom>
        </p:spPr>
      </p:pic>
      <p:sp>
        <p:nvSpPr>
          <p:cNvPr id="35" name="Text 31"/>
          <p:cNvSpPr txBox="1"/>
          <p:nvPr/>
        </p:nvSpPr>
        <p:spPr>
          <a:xfrm>
            <a:off x="1298448" y="5202936"/>
            <a:ext cx="4114800" cy="310896"/>
          </a:xfrm>
          <a:prstGeom prst="rect">
            <a:avLst/>
          </a:prstGeom>
          <a:noFill/>
          <a:ln/>
        </p:spPr>
        <p:txBody>
          <a:bodyPr wrap="square" lIns="0" tIns="0" rIns="0" bIns="0" rtlCol="0" anchor="ctr"/>
          <a:lstStyle/>
          <a:p>
            <a:pPr algn="l" indent="0" marL="0">
              <a:buNone/>
            </a:pPr>
            <a:r>
              <a:rPr lang="en-US" sz="1600" b="1" dirty="0">
                <a:solidFill>
                  <a:schemeClr val="tx2"/>
                </a:solidFill>
              </a:rPr>
              <a:t>Group before lookup</a:t>
            </a:r>
            <a:endParaRPr lang="en-US" sz="1600" dirty="0"/>
          </a:p>
        </p:txBody>
      </p:sp>
      <p:sp>
        <p:nvSpPr>
          <p:cNvPr id="36" name="Text 32"/>
          <p:cNvSpPr txBox="1"/>
          <p:nvPr/>
        </p:nvSpPr>
        <p:spPr>
          <a:xfrm>
            <a:off x="1298448" y="5522976"/>
            <a:ext cx="4114800" cy="310896"/>
          </a:xfrm>
          <a:prstGeom prst="rect">
            <a:avLst/>
          </a:prstGeom>
          <a:noFill/>
          <a:ln/>
        </p:spPr>
        <p:txBody>
          <a:bodyPr wrap="square" lIns="0" tIns="0" rIns="0" bIns="0" rtlCol="0" anchor="ctr"/>
          <a:lstStyle/>
          <a:p>
            <a:pPr algn="l" indent="0" marL="0">
              <a:buNone/>
            </a:pPr>
            <a:r>
              <a:rPr lang="en-US" sz="1400" dirty="0">
                <a:solidFill>
                  <a:schemeClr val="tx1"/>
                </a:solidFill>
              </a:rPr>
              <a:t>Join 15 grouped rows, not 2,592 claims.</a:t>
            </a:r>
            <a:endParaRPr lang="en-US" sz="1400" dirty="0"/>
          </a:p>
        </p:txBody>
      </p:sp>
      <p:sp>
        <p:nvSpPr>
          <p:cNvPr id="37" name="Code panel 161"/>
          <p:cNvSpPr/>
          <p:nvPr/>
        </p:nvSpPr>
        <p:spPr>
          <a:xfrm>
            <a:off x="5760720" y="1737360"/>
            <a:ext cx="5879592" cy="3886200"/>
          </a:xfrm>
          <a:prstGeom prst="roundRect">
            <a:avLst>
              <a:gd name="adj" fmla="val 2353"/>
            </a:avLst>
          </a:prstGeom>
          <a:solidFill>
            <a:schemeClr val="tx2"/>
          </a:solidFill>
          <a:ln/>
        </p:spPr>
      </p:sp>
      <p:sp>
        <p:nvSpPr>
          <p:cNvPr id="38" name="Text 34"/>
          <p:cNvSpPr txBox="1"/>
          <p:nvPr/>
        </p:nvSpPr>
        <p:spPr>
          <a:xfrm>
            <a:off x="5989320" y="1920240"/>
            <a:ext cx="5513832" cy="352044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db.claims.aggregate([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$project: { hospital_id: 1,</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settled_amount: 1, status: 1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$group: { _id: "$hospital_id",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claims: { $sum: 1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paid:   { $sum: "$settled_amount"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rejected: { $sum: { $cond: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$eq: ["$status", "Rejected"] }, 1, 0 ] } }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$sort: { paid: -1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$limit: 15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$lookup: { from: "hospitals", localField: "_id",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foreignField: "hospital_id", as: "h"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$unwind: "$h"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$project: { _id: 0, name: "$h.name",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city: "$h.address.city", claims: 1, paid: 1 }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39" name="Text 35"/>
          <p:cNvSpPr txBox="1"/>
          <p:nvPr/>
        </p:nvSpPr>
        <p:spPr>
          <a:xfrm>
            <a:off x="5760720" y="5715000"/>
            <a:ext cx="5879592" cy="457200"/>
          </a:xfrm>
          <a:prstGeom prst="rect">
            <a:avLst/>
          </a:prstGeom>
          <a:noFill/>
          <a:ln/>
        </p:spPr>
        <p:txBody>
          <a:bodyPr wrap="square" lIns="0" tIns="0" rIns="0" bIns="0" rtlCol="0" anchor="t"/>
          <a:lstStyle/>
          <a:p>
            <a:pPr algn="l" indent="0" marL="0">
              <a:buNone/>
            </a:pPr>
            <a:r>
              <a:rPr lang="en-US" sz="1200" dirty="0">
                <a:solidFill>
                  <a:schemeClr val="accent6"/>
                </a:solidFill>
              </a:rPr>
              <a:t>Top hospitals by payout: claims are grouped to 99 rows, cut to 15, and only then joined to hospitals.</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ANALYTICS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Claim inflow and payout by month</a:t>
            </a:r>
            <a:endParaRPr lang="en-US" sz="3600" dirty="0"/>
          </a:p>
        </p:txBody>
      </p:sp>
      <p:graphicFrame>
        <p:nvGraphicFramePr>
          <p:cNvPr id="4" name="Monthly trend chart" descr=""/>
          <p:cNvGraphicFramePr/>
          <p:nvPr/>
        </p:nvGraphicFramePr>
        <p:xfrm>
          <a:off x="548640" y="1737360"/>
          <a:ext cx="7269480" cy="4343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3" type="body" hasCustomPrompt="1"/>
          </p:nvPr>
        </p:nvSpPr>
        <p:spPr>
          <a:xfrm>
            <a:off x="8092440" y="1783080"/>
            <a:ext cx="3547872" cy="420624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Monthly claims grew from 42 in Apr 24 to 189 at the August 2026 peak</a:t>
            </a:r>
            <a:endParaRPr lang="en-US" sz="1500" dirty="0"/>
          </a:p>
          <a:p>
            <a:pPr algn="l" marL="342900" indent="-342900">
              <a:spcAft>
                <a:spcPts val="900"/>
              </a:spcAft>
              <a:buSzPct val="100000"/>
              <a:buChar char="•"/>
            </a:pPr>
            <a:r>
              <a:rPr lang="en-US" sz="1500" dirty="0">
                <a:solidFill>
                  <a:schemeClr val="tx1"/>
                </a:solidFill>
              </a:rPr>
              <a:t>62% of dengue, typhoid and malaria admissions fall in July to September</a:t>
            </a:r>
            <a:endParaRPr lang="en-US" sz="1500" dirty="0"/>
          </a:p>
          <a:p>
            <a:pPr algn="l" marL="342900" indent="-342900">
              <a:spcAft>
                <a:spcPts val="900"/>
              </a:spcAft>
              <a:buSzPct val="100000"/>
              <a:buChar char="•"/>
            </a:pPr>
            <a:r>
              <a:rPr lang="en-US" sz="1500" dirty="0">
                <a:solidFill>
                  <a:schemeClr val="tx1"/>
                </a:solidFill>
              </a:rPr>
              <a:t>Settled amounts dip in the latest months because those claims are still being processed</a:t>
            </a:r>
            <a:endParaRPr lang="en-US" sz="1500" dirty="0"/>
          </a:p>
          <a:p>
            <a:pPr algn="l" marL="342900" indent="-342900">
              <a:spcAft>
                <a:spcPts val="900"/>
              </a:spcAft>
              <a:buSzPct val="100000"/>
              <a:buChar char="•"/>
            </a:pPr>
            <a:r>
              <a:rPr lang="en-US" sz="1500" dirty="0">
                <a:solidFill>
                  <a:schemeClr val="tx1"/>
                </a:solidFill>
              </a:rPr>
              <a:t>One $group on $dateToString produces the whole series</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ANALYTICS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Insurer scorecard</a:t>
            </a:r>
            <a:endParaRPr lang="en-US" sz="3600" dirty="0"/>
          </a:p>
        </p:txBody>
      </p:sp>
      <p:graphicFrame>
        <p:nvGraphicFramePr>
          <p:cNvPr id="4" name="Insurer scorecard chart" descr=""/>
          <p:cNvGraphicFramePr/>
          <p:nvPr/>
        </p:nvGraphicFramePr>
        <p:xfrm>
          <a:off x="548640" y="1737360"/>
          <a:ext cx="7269480" cy="4343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3" type="body" hasCustomPrompt="1"/>
          </p:nvPr>
        </p:nvSpPr>
        <p:spPr>
          <a:xfrm>
            <a:off x="8092440" y="1783080"/>
            <a:ext cx="3547872" cy="420624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Settlement ratio (claims paid out of claims decided) runs from 82.8% to 88.3%</a:t>
            </a:r>
            <a:endParaRPr lang="en-US" sz="1500" dirty="0"/>
          </a:p>
          <a:p>
            <a:pPr algn="l" marL="342900" indent="-342900">
              <a:spcAft>
                <a:spcPts val="900"/>
              </a:spcAft>
              <a:buSzPct val="100000"/>
              <a:buChar char="•"/>
            </a:pPr>
            <a:r>
              <a:rPr lang="en-US" sz="1500" dirty="0">
                <a:solidFill>
                  <a:schemeClr val="tx1"/>
                </a:solidFill>
              </a:rPr>
              <a:t>Incurred claim ratio (claims paid over premium earned) runs from 61.4% to 86.2%</a:t>
            </a:r>
            <a:endParaRPr lang="en-US" sz="1500" dirty="0"/>
          </a:p>
          <a:p>
            <a:pPr algn="l" marL="342900" indent="-342900">
              <a:spcAft>
                <a:spcPts val="900"/>
              </a:spcAft>
              <a:buSzPct val="100000"/>
              <a:buChar char="•"/>
            </a:pPr>
            <a:r>
              <a:rPr lang="en-US" sz="1500" dirty="0">
                <a:solidFill>
                  <a:schemeClr val="tx1"/>
                </a:solidFill>
              </a:rPr>
              <a:t>Two pipelines: claims grouped then joined to insurers, and premium summed from the embedded renewal history</a:t>
            </a:r>
            <a:endParaRPr lang="en-US" sz="15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ANALYTICS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Product profitability and deductions</a:t>
            </a:r>
            <a:endParaRPr lang="en-US" sz="3600" dirty="0"/>
          </a:p>
        </p:txBody>
      </p:sp>
      <p:graphicFrame>
        <p:nvGraphicFramePr>
          <p:cNvPr id="4" name="Loss ratio chart" descr=""/>
          <p:cNvGraphicFramePr/>
          <p:nvPr/>
        </p:nvGraphicFramePr>
        <p:xfrm>
          <a:off x="548640" y="173736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Deductions chart" descr=""/>
          <p:cNvGraphicFramePr/>
          <p:nvPr/>
        </p:nvGraphicFramePr>
        <p:xfrm>
          <a:off x="6199632" y="173736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440680"/>
            <a:ext cx="5440680" cy="731520"/>
          </a:xfrm>
          <a:prstGeom prst="rect">
            <a:avLst/>
          </a:prstGeom>
          <a:noFill/>
          <a:ln/>
        </p:spPr>
        <p:txBody>
          <a:bodyPr wrap="square" lIns="0" tIns="0" rIns="0" bIns="0" rtlCol="0" anchor="t"/>
          <a:lstStyle/>
          <a:p>
            <a:pPr algn="l" indent="0" marL="0">
              <a:buNone/>
            </a:pPr>
            <a:r>
              <a:rPr lang="en-US" sz="1400" dirty="0">
                <a:solidFill>
                  <a:schemeClr val="tx1"/>
                </a:solidFill>
              </a:rPr>
              <a:t>Group cover pays out more than it earns (140.7%), while Premier plans are the most profitable (32.5%).</a:t>
            </a:r>
            <a:endParaRPr lang="en-US" sz="1400" dirty="0"/>
          </a:p>
        </p:txBody>
      </p:sp>
      <p:sp>
        <p:nvSpPr>
          <p:cNvPr id="7" name="Text 3"/>
          <p:cNvSpPr txBox="1"/>
          <p:nvPr/>
        </p:nvSpPr>
        <p:spPr>
          <a:xfrm>
            <a:off x="6199632" y="5440680"/>
            <a:ext cx="5440680" cy="731520"/>
          </a:xfrm>
          <a:prstGeom prst="rect">
            <a:avLst/>
          </a:prstGeom>
          <a:noFill/>
          <a:ln/>
        </p:spPr>
        <p:txBody>
          <a:bodyPr wrap="square" lIns="0" tIns="0" rIns="0" bIns="0" rtlCol="0" anchor="t"/>
          <a:lstStyle/>
          <a:p>
            <a:pPr algn="l" indent="0" marL="0">
              <a:buNone/>
            </a:pPr>
            <a:r>
              <a:rPr lang="en-US" sz="1400" dirty="0">
                <a:solidFill>
                  <a:schemeClr val="tx1"/>
                </a:solidFill>
              </a:rPr>
              <a:t>Room choice costs members the most: the proportionate cut and room-rent excess are the two largest deductions after non-payables.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ANALYTICS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Claim outcomes and turnaround</a:t>
            </a:r>
            <a:endParaRPr lang="en-US" sz="3600" dirty="0"/>
          </a:p>
        </p:txBody>
      </p:sp>
      <p:sp>
        <p:nvSpPr>
          <p:cNvPr id="4" name="Stat 162"/>
          <p:cNvSpPr/>
          <p:nvPr/>
        </p:nvSpPr>
        <p:spPr>
          <a:xfrm>
            <a:off x="548640" y="1737360"/>
            <a:ext cx="3538728" cy="1005840"/>
          </a:xfrm>
          <a:prstGeom prst="roundRect">
            <a:avLst>
              <a:gd name="adj" fmla="val 9091"/>
            </a:avLst>
          </a:prstGeom>
          <a:solidFill>
            <a:schemeClr val="bg2"/>
          </a:solidFill>
          <a:ln/>
        </p:spPr>
      </p:sp>
      <p:sp>
        <p:nvSpPr>
          <p:cNvPr id="5" name="Text 3"/>
          <p:cNvSpPr txBox="1"/>
          <p:nvPr/>
        </p:nvSpPr>
        <p:spPr>
          <a:xfrm>
            <a:off x="777240" y="1865376"/>
            <a:ext cx="3081528" cy="502920"/>
          </a:xfrm>
          <a:prstGeom prst="rect">
            <a:avLst/>
          </a:prstGeom>
          <a:noFill/>
          <a:ln/>
        </p:spPr>
        <p:txBody>
          <a:bodyPr wrap="square" lIns="0" tIns="0" rIns="0" bIns="0" rtlCol="0" anchor="ctr"/>
          <a:lstStyle/>
          <a:p>
            <a:pPr algn="l" indent="0" marL="0">
              <a:buNone/>
            </a:pPr>
            <a:r>
              <a:rPr lang="en-US" sz="2800" b="1" dirty="0">
                <a:solidFill>
                  <a:schemeClr val="accent1"/>
                </a:solidFill>
              </a:rPr>
              <a:t>84.9%</a:t>
            </a:r>
            <a:endParaRPr lang="en-US" sz="2800" dirty="0"/>
          </a:p>
        </p:txBody>
      </p:sp>
      <p:sp>
        <p:nvSpPr>
          <p:cNvPr id="6" name="Text 4"/>
          <p:cNvSpPr txBox="1"/>
          <p:nvPr/>
        </p:nvSpPr>
        <p:spPr>
          <a:xfrm>
            <a:off x="777240" y="2368296"/>
            <a:ext cx="3081528" cy="382219"/>
          </a:xfrm>
          <a:prstGeom prst="rect">
            <a:avLst/>
          </a:prstGeom>
          <a:noFill/>
          <a:ln/>
        </p:spPr>
        <p:txBody>
          <a:bodyPr wrap="square" lIns="0" tIns="0" rIns="0" bIns="0" rtlCol="0" anchor="t"/>
          <a:lstStyle/>
          <a:p>
            <a:pPr algn="l" indent="0" marL="0">
              <a:buNone/>
            </a:pPr>
            <a:r>
              <a:rPr lang="en-US" sz="1400" dirty="0">
                <a:solidFill>
                  <a:schemeClr val="tx1"/>
                </a:solidFill>
              </a:rPr>
              <a:t>claim settlement ratio</a:t>
            </a:r>
            <a:endParaRPr lang="en-US" sz="1400" dirty="0"/>
          </a:p>
        </p:txBody>
      </p:sp>
      <p:sp>
        <p:nvSpPr>
          <p:cNvPr id="7" name="Stat 163"/>
          <p:cNvSpPr/>
          <p:nvPr/>
        </p:nvSpPr>
        <p:spPr>
          <a:xfrm>
            <a:off x="4325112" y="1737360"/>
            <a:ext cx="3538728" cy="1005840"/>
          </a:xfrm>
          <a:prstGeom prst="roundRect">
            <a:avLst>
              <a:gd name="adj" fmla="val 9091"/>
            </a:avLst>
          </a:prstGeom>
          <a:solidFill>
            <a:schemeClr val="bg2"/>
          </a:solidFill>
          <a:ln/>
        </p:spPr>
      </p:sp>
      <p:sp>
        <p:nvSpPr>
          <p:cNvPr id="8" name="Text 6"/>
          <p:cNvSpPr txBox="1"/>
          <p:nvPr/>
        </p:nvSpPr>
        <p:spPr>
          <a:xfrm>
            <a:off x="4553712" y="1865376"/>
            <a:ext cx="3081528" cy="502920"/>
          </a:xfrm>
          <a:prstGeom prst="rect">
            <a:avLst/>
          </a:prstGeom>
          <a:noFill/>
          <a:ln/>
        </p:spPr>
        <p:txBody>
          <a:bodyPr wrap="square" lIns="0" tIns="0" rIns="0" bIns="0" rtlCol="0" anchor="ctr"/>
          <a:lstStyle/>
          <a:p>
            <a:pPr algn="l" indent="0" marL="0">
              <a:buNone/>
            </a:pPr>
            <a:r>
              <a:rPr lang="en-US" sz="2800" b="1" dirty="0">
                <a:solidFill>
                  <a:schemeClr val="accent1"/>
                </a:solidFill>
              </a:rPr>
              <a:t>2.5 days</a:t>
            </a:r>
            <a:endParaRPr lang="en-US" sz="2800" dirty="0"/>
          </a:p>
        </p:txBody>
      </p:sp>
      <p:sp>
        <p:nvSpPr>
          <p:cNvPr id="9" name="Text 7"/>
          <p:cNvSpPr txBox="1"/>
          <p:nvPr/>
        </p:nvSpPr>
        <p:spPr>
          <a:xfrm>
            <a:off x="4553712" y="2368296"/>
            <a:ext cx="3081528" cy="382219"/>
          </a:xfrm>
          <a:prstGeom prst="rect">
            <a:avLst/>
          </a:prstGeom>
          <a:noFill/>
          <a:ln/>
        </p:spPr>
        <p:txBody>
          <a:bodyPr wrap="square" lIns="0" tIns="0" rIns="0" bIns="0" rtlCol="0" anchor="t"/>
          <a:lstStyle/>
          <a:p>
            <a:pPr algn="l" indent="0" marL="0">
              <a:buNone/>
            </a:pPr>
            <a:r>
              <a:rPr lang="en-US" sz="1400" dirty="0">
                <a:solidFill>
                  <a:schemeClr val="tx1"/>
                </a:solidFill>
              </a:rPr>
              <a:t>average cashless decision</a:t>
            </a:r>
            <a:endParaRPr lang="en-US" sz="1400" dirty="0"/>
          </a:p>
        </p:txBody>
      </p:sp>
      <p:sp>
        <p:nvSpPr>
          <p:cNvPr id="10" name="Stat 164"/>
          <p:cNvSpPr/>
          <p:nvPr/>
        </p:nvSpPr>
        <p:spPr>
          <a:xfrm>
            <a:off x="8101584" y="1737360"/>
            <a:ext cx="3538728" cy="1005840"/>
          </a:xfrm>
          <a:prstGeom prst="roundRect">
            <a:avLst>
              <a:gd name="adj" fmla="val 9091"/>
            </a:avLst>
          </a:prstGeom>
          <a:solidFill>
            <a:schemeClr val="bg2"/>
          </a:solidFill>
          <a:ln/>
        </p:spPr>
      </p:sp>
      <p:sp>
        <p:nvSpPr>
          <p:cNvPr id="11" name="Text 9"/>
          <p:cNvSpPr txBox="1"/>
          <p:nvPr/>
        </p:nvSpPr>
        <p:spPr>
          <a:xfrm>
            <a:off x="8330184" y="1865376"/>
            <a:ext cx="3081528" cy="502920"/>
          </a:xfrm>
          <a:prstGeom prst="rect">
            <a:avLst/>
          </a:prstGeom>
          <a:noFill/>
          <a:ln/>
        </p:spPr>
        <p:txBody>
          <a:bodyPr wrap="square" lIns="0" tIns="0" rIns="0" bIns="0" rtlCol="0" anchor="ctr"/>
          <a:lstStyle/>
          <a:p>
            <a:pPr algn="l" indent="0" marL="0">
              <a:buNone/>
            </a:pPr>
            <a:r>
              <a:rPr lang="en-US" sz="2800" b="1" dirty="0">
                <a:solidFill>
                  <a:schemeClr val="accent1"/>
                </a:solidFill>
              </a:rPr>
              <a:t>17.6 days</a:t>
            </a:r>
            <a:endParaRPr lang="en-US" sz="2800" dirty="0"/>
          </a:p>
        </p:txBody>
      </p:sp>
      <p:sp>
        <p:nvSpPr>
          <p:cNvPr id="12" name="Text 10"/>
          <p:cNvSpPr txBox="1"/>
          <p:nvPr/>
        </p:nvSpPr>
        <p:spPr>
          <a:xfrm>
            <a:off x="8330184" y="2368296"/>
            <a:ext cx="3081528" cy="382219"/>
          </a:xfrm>
          <a:prstGeom prst="rect">
            <a:avLst/>
          </a:prstGeom>
          <a:noFill/>
          <a:ln/>
        </p:spPr>
        <p:txBody>
          <a:bodyPr wrap="square" lIns="0" tIns="0" rIns="0" bIns="0" rtlCol="0" anchor="t"/>
          <a:lstStyle/>
          <a:p>
            <a:pPr algn="l" indent="0" marL="0">
              <a:buNone/>
            </a:pPr>
            <a:r>
              <a:rPr lang="en-US" sz="1400" dirty="0">
                <a:solidFill>
                  <a:schemeClr val="tx1"/>
                </a:solidFill>
              </a:rPr>
              <a:t>average reimbursement decision</a:t>
            </a:r>
            <a:endParaRPr lang="en-US" sz="1400" dirty="0"/>
          </a:p>
        </p:txBody>
      </p:sp>
      <p:graphicFrame>
        <p:nvGraphicFramePr>
          <p:cNvPr id="13" name="Claim status chart" descr=""/>
          <p:cNvGraphicFramePr/>
          <p:nvPr/>
        </p:nvGraphicFramePr>
        <p:xfrm>
          <a:off x="548640" y="2880360"/>
          <a:ext cx="49377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urnaround chart" descr=""/>
          <p:cNvGraphicFramePr/>
          <p:nvPr/>
        </p:nvGraphicFramePr>
        <p:xfrm>
          <a:off x="5715000" y="2880360"/>
          <a:ext cx="5925312" cy="32918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SECURITY</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Least privilege, enforced by the server</a:t>
            </a:r>
            <a:endParaRPr lang="en-US" sz="3600" dirty="0"/>
          </a:p>
        </p:txBody>
      </p:sp>
      <p:graphicFrame>
        <p:nvGraphicFramePr>
          <p:cNvPr id="28" name="Roles table"/>
          <p:cNvGraphicFramePr>
            <a:graphicFrameLocks noGrp="1"/>
          </p:cNvGraphicFramePr>
          <p:nvPr>
            <p:extLst>
              <p:ext uri="{D42A27DB-BD31-4B8C-83A1-F6EECF244321}">
                <p14:modId xmlns:p14="http://schemas.microsoft.com/office/powerpoint/2010/main" val="1579011935"/>
              </p:ext>
            </p:extLst>
          </p:nvPr>
        </p:nvGraphicFramePr>
        <p:xfrm>
          <a:off x="548640" y="1783080"/>
          <a:ext cx="6766560" cy="914400"/>
        </p:xfrm>
        <a:graphic>
          <a:graphicData uri="http://schemas.openxmlformats.org/drawingml/2006/table">
            <a:tbl>
              <a:tblPr/>
              <a:tblGrid>
                <a:gridCol w="1965960"/>
                <a:gridCol w="1234440"/>
                <a:gridCol w="1828800"/>
                <a:gridCol w="1737360"/>
              </a:tblGrid>
              <a:tr h="384048">
                <a:tc>
                  <a:txBody>
                    <a:bodyPr/>
                    <a:lstStyle/>
                    <a:p>
                      <a:pPr indent="0" marL="0">
                        <a:buNone/>
                      </a:pPr>
                      <a:r>
                        <a:rPr lang="en-US" sz="1400" b="1" dirty="0">
                          <a:solidFill>
                            <a:schemeClr val="bg1"/>
                          </a:solidFill>
                        </a:rPr>
                        <a:t>Database user</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Cannot</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r>
              <a:tr h="50292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claimsure_app</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readWrite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Run the web app and CLI</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5B6F75"/>
                          </a:solidFill>
                        </a:rPr>
                        <a:t>Create users or drop the database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claimsure_analyst</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read</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find, aggregate, views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5B6F75"/>
                          </a:solidFill>
                        </a:rPr>
                        <a:t>Insert, update, delete, drop</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claimsure_auditor</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custom role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find on audit_logs only</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5B6F75"/>
                          </a:solidFill>
                        </a:rPr>
                        <a:t>See claims or members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claimsure_dba</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dbAdmin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Validators, indexes, backups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rgbClr val="5B6F75"/>
                          </a:solidFill>
                        </a:rPr>
                        <a:t>Manage other users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bl>
          </a:graphicData>
        </a:graphic>
      </p:graphicFrame>
      <p:sp>
        <p:nvSpPr>
          <p:cNvPr id="5" name="Text 2"/>
          <p:cNvSpPr txBox="1"/>
          <p:nvPr/>
        </p:nvSpPr>
        <p:spPr>
          <a:xfrm>
            <a:off x="548640" y="4434840"/>
            <a:ext cx="6766560" cy="292608"/>
          </a:xfrm>
          <a:prstGeom prst="rect">
            <a:avLst/>
          </a:prstGeom>
          <a:noFill/>
          <a:ln/>
        </p:spPr>
        <p:txBody>
          <a:bodyPr wrap="square" lIns="0" tIns="0" rIns="0" bIns="0" rtlCol="0" anchor="ctr"/>
          <a:lstStyle/>
          <a:p>
            <a:pPr algn="l" indent="0" marL="0">
              <a:buNone/>
            </a:pPr>
            <a:r>
              <a:rPr lang="en-US" sz="1400" b="1" dirty="0">
                <a:solidFill>
                  <a:schemeClr val="tx2"/>
                </a:solidFill>
              </a:rPr>
              <a:t>Masked view for analysts: members_masked</a:t>
            </a:r>
            <a:endParaRPr lang="en-US" sz="1400" dirty="0"/>
          </a:p>
        </p:txBody>
      </p:sp>
      <p:sp>
        <p:nvSpPr>
          <p:cNvPr id="6" name="Code panel 165"/>
          <p:cNvSpPr/>
          <p:nvPr/>
        </p:nvSpPr>
        <p:spPr>
          <a:xfrm>
            <a:off x="548640" y="4773168"/>
            <a:ext cx="6766560" cy="1143000"/>
          </a:xfrm>
          <a:prstGeom prst="roundRect">
            <a:avLst>
              <a:gd name="adj" fmla="val 8000"/>
            </a:avLst>
          </a:prstGeom>
          <a:solidFill>
            <a:schemeClr val="tx2"/>
          </a:solidFill>
          <a:ln/>
        </p:spPr>
      </p:sp>
      <p:sp>
        <p:nvSpPr>
          <p:cNvPr id="7" name="Text 4"/>
          <p:cNvSpPr txBox="1"/>
          <p:nvPr/>
        </p:nvSpPr>
        <p:spPr>
          <a:xfrm>
            <a:off x="777240" y="4956048"/>
            <a:ext cx="6400800" cy="77724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 member_id: "MEM000001", name: "L***", phone: "XXXXXX3387",</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birth_year: 1979, address: { city: "Chennai" },</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pre_existing_conditions: [ "Asthma" ] }</a:t>
            </a:r>
            <a:pPr algn="l" indent="0" marL="0">
              <a:buNone/>
            </a:pPr>
            <a:r>
              <a:rPr lang="en-US" sz="1200" dirty="0">
                <a:solidFill>
                  <a:schemeClr val="accent2"/>
                </a:solidFill>
                <a:latin typeface="Courier New" pitchFamily="34" charset="0"/>
                <a:ea typeface="Courier New" pitchFamily="34" charset="-122"/>
                <a:cs typeface="Courier New" pitchFamily="34" charset="-120"/>
              </a:rPr>
              <a:t>   no KYC, no full name</a:t>
            </a:r>
            <a:endParaRPr lang="en-US" sz="1200" dirty="0"/>
          </a:p>
        </p:txBody>
      </p:sp>
      <p:sp>
        <p:nvSpPr>
          <p:cNvPr id="8" name="Analyst test card"/>
          <p:cNvSpPr/>
          <p:nvPr/>
        </p:nvSpPr>
        <p:spPr>
          <a:xfrm>
            <a:off x="7589520" y="1783080"/>
            <a:ext cx="4050792" cy="4361688"/>
          </a:xfrm>
          <a:prstGeom prst="roundRect">
            <a:avLst>
              <a:gd name="adj" fmla="val 2257"/>
            </a:avLst>
          </a:prstGeom>
          <a:solidFill>
            <a:schemeClr val="bg2"/>
          </a:solidFill>
          <a:ln/>
        </p:spPr>
      </p:sp>
      <p:sp>
        <p:nvSpPr>
          <p:cNvPr id="9" name="Dot 166"/>
          <p:cNvSpPr/>
          <p:nvPr/>
        </p:nvSpPr>
        <p:spPr>
          <a:xfrm>
            <a:off x="7772400" y="1938528"/>
            <a:ext cx="512064" cy="512064"/>
          </a:xfrm>
          <a:prstGeom prst="ellipse">
            <a:avLst/>
          </a:prstGeom>
          <a:solidFill>
            <a:schemeClr val="accent1"/>
          </a:solidFill>
          <a:ln/>
        </p:spPr>
      </p:sp>
      <p:pic>
        <p:nvPicPr>
          <p:cNvPr id="10" name="Image 0" descr="icon">    </p:cNvPr>
          <p:cNvPicPr>
            <a:picLocks noChangeAspect="1"/>
          </p:cNvPicPr>
          <p:nvPr/>
        </p:nvPicPr>
        <p:blipFill>
          <a:blip r:embed="rId1"/>
          <a:stretch>
            <a:fillRect/>
          </a:stretch>
        </p:blipFill>
        <p:spPr>
          <a:xfrm>
            <a:off x="7900416" y="2066544"/>
            <a:ext cx="256032" cy="256032"/>
          </a:xfrm>
          <a:prstGeom prst="rect">
            <a:avLst/>
          </a:prstGeom>
        </p:spPr>
      </p:pic>
      <p:sp>
        <p:nvSpPr>
          <p:cNvPr id="11" name="Text 7"/>
          <p:cNvSpPr txBox="1"/>
          <p:nvPr/>
        </p:nvSpPr>
        <p:spPr>
          <a:xfrm>
            <a:off x="8412480" y="1938528"/>
            <a:ext cx="3108960" cy="512064"/>
          </a:xfrm>
          <a:prstGeom prst="rect">
            <a:avLst/>
          </a:prstGeom>
          <a:noFill/>
          <a:ln/>
        </p:spPr>
        <p:txBody>
          <a:bodyPr wrap="square" lIns="0" tIns="0" rIns="0" bIns="0" rtlCol="0" anchor="ctr"/>
          <a:lstStyle/>
          <a:p>
            <a:pPr algn="l" indent="0" marL="0">
              <a:buNone/>
            </a:pPr>
            <a:r>
              <a:rPr lang="en-US" sz="1600" b="1" dirty="0">
                <a:solidFill>
                  <a:schemeClr val="tx2"/>
                </a:solidFill>
              </a:rPr>
              <a:t>Connected as the analyst</a:t>
            </a:r>
            <a:endParaRPr lang="en-US" sz="1600" dirty="0"/>
          </a:p>
        </p:txBody>
      </p:sp>
      <p:sp>
        <p:nvSpPr>
          <p:cNvPr id="12" name="Result pill 167"/>
          <p:cNvSpPr/>
          <p:nvPr/>
        </p:nvSpPr>
        <p:spPr>
          <a:xfrm>
            <a:off x="10012680" y="2697480"/>
            <a:ext cx="1417320" cy="329184"/>
          </a:xfrm>
          <a:prstGeom prst="roundRect">
            <a:avLst>
              <a:gd name="adj" fmla="val 13889"/>
            </a:avLst>
          </a:prstGeom>
          <a:solidFill>
            <a:schemeClr val="accent5">
              <a:alpha val="18000"/>
            </a:schemeClr>
          </a:solidFill>
          <a:ln/>
        </p:spPr>
      </p:sp>
      <p:sp>
        <p:nvSpPr>
          <p:cNvPr id="13" name="Text 9"/>
          <p:cNvSpPr txBox="1"/>
          <p:nvPr/>
        </p:nvSpPr>
        <p:spPr>
          <a:xfrm>
            <a:off x="10012680" y="2697480"/>
            <a:ext cx="1417320" cy="329184"/>
          </a:xfrm>
          <a:prstGeom prst="rect">
            <a:avLst/>
          </a:prstGeom>
          <a:noFill/>
          <a:ln/>
        </p:spPr>
        <p:txBody>
          <a:bodyPr wrap="square" lIns="0" tIns="0" rIns="0" bIns="0" rtlCol="0" anchor="ctr"/>
          <a:lstStyle/>
          <a:p>
            <a:pPr algn="ctr" indent="0" marL="0">
              <a:buNone/>
            </a:pPr>
            <a:r>
              <a:rPr lang="en-US" sz="1200" b="1" dirty="0">
                <a:solidFill>
                  <a:schemeClr val="accent5"/>
                </a:solidFill>
              </a:rPr>
              <a:t>allowed</a:t>
            </a:r>
            <a:endParaRPr lang="en-US" sz="1200" dirty="0"/>
          </a:p>
        </p:txBody>
      </p:sp>
      <p:sp>
        <p:nvSpPr>
          <p:cNvPr id="14" name="Text 10"/>
          <p:cNvSpPr txBox="1"/>
          <p:nvPr/>
        </p:nvSpPr>
        <p:spPr>
          <a:xfrm>
            <a:off x="7818120" y="2651760"/>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Count claims</a:t>
            </a:r>
            <a:endParaRPr lang="en-US" sz="1400" dirty="0"/>
          </a:p>
        </p:txBody>
      </p:sp>
      <p:sp>
        <p:nvSpPr>
          <p:cNvPr id="15" name="Result pill 168"/>
          <p:cNvSpPr/>
          <p:nvPr/>
        </p:nvSpPr>
        <p:spPr>
          <a:xfrm>
            <a:off x="10012680" y="3182112"/>
            <a:ext cx="1417320" cy="329184"/>
          </a:xfrm>
          <a:prstGeom prst="roundRect">
            <a:avLst>
              <a:gd name="adj" fmla="val 13889"/>
            </a:avLst>
          </a:prstGeom>
          <a:solidFill>
            <a:schemeClr val="accent5">
              <a:alpha val="18000"/>
            </a:schemeClr>
          </a:solidFill>
          <a:ln/>
        </p:spPr>
      </p:sp>
      <p:sp>
        <p:nvSpPr>
          <p:cNvPr id="16" name="Text 12"/>
          <p:cNvSpPr txBox="1"/>
          <p:nvPr/>
        </p:nvSpPr>
        <p:spPr>
          <a:xfrm>
            <a:off x="10012680" y="3182112"/>
            <a:ext cx="1417320" cy="329184"/>
          </a:xfrm>
          <a:prstGeom prst="rect">
            <a:avLst/>
          </a:prstGeom>
          <a:noFill/>
          <a:ln/>
        </p:spPr>
        <p:txBody>
          <a:bodyPr wrap="square" lIns="0" tIns="0" rIns="0" bIns="0" rtlCol="0" anchor="ctr"/>
          <a:lstStyle/>
          <a:p>
            <a:pPr algn="ctr" indent="0" marL="0">
              <a:buNone/>
            </a:pPr>
            <a:r>
              <a:rPr lang="en-US" sz="1200" b="1" dirty="0">
                <a:solidFill>
                  <a:schemeClr val="accent5"/>
                </a:solidFill>
              </a:rPr>
              <a:t>allowed</a:t>
            </a:r>
            <a:endParaRPr lang="en-US" sz="1200" dirty="0"/>
          </a:p>
        </p:txBody>
      </p:sp>
      <p:sp>
        <p:nvSpPr>
          <p:cNvPr id="17" name="Text 13"/>
          <p:cNvSpPr txBox="1"/>
          <p:nvPr/>
        </p:nvSpPr>
        <p:spPr>
          <a:xfrm>
            <a:off x="7818120" y="3136392"/>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Aggregate by status</a:t>
            </a:r>
            <a:endParaRPr lang="en-US" sz="1400" dirty="0"/>
          </a:p>
        </p:txBody>
      </p:sp>
      <p:sp>
        <p:nvSpPr>
          <p:cNvPr id="18" name="Result pill 169"/>
          <p:cNvSpPr/>
          <p:nvPr/>
        </p:nvSpPr>
        <p:spPr>
          <a:xfrm>
            <a:off x="10012680" y="3666744"/>
            <a:ext cx="1417320" cy="329184"/>
          </a:xfrm>
          <a:prstGeom prst="roundRect">
            <a:avLst>
              <a:gd name="adj" fmla="val 13889"/>
            </a:avLst>
          </a:prstGeom>
          <a:solidFill>
            <a:schemeClr val="accent5">
              <a:alpha val="18000"/>
            </a:schemeClr>
          </a:solidFill>
          <a:ln/>
        </p:spPr>
      </p:sp>
      <p:sp>
        <p:nvSpPr>
          <p:cNvPr id="19" name="Text 15"/>
          <p:cNvSpPr txBox="1"/>
          <p:nvPr/>
        </p:nvSpPr>
        <p:spPr>
          <a:xfrm>
            <a:off x="10012680" y="3666744"/>
            <a:ext cx="1417320" cy="329184"/>
          </a:xfrm>
          <a:prstGeom prst="rect">
            <a:avLst/>
          </a:prstGeom>
          <a:noFill/>
          <a:ln/>
        </p:spPr>
        <p:txBody>
          <a:bodyPr wrap="square" lIns="0" tIns="0" rIns="0" bIns="0" rtlCol="0" anchor="ctr"/>
          <a:lstStyle/>
          <a:p>
            <a:pPr algn="ctr" indent="0" marL="0">
              <a:buNone/>
            </a:pPr>
            <a:r>
              <a:rPr lang="en-US" sz="1200" b="1" dirty="0">
                <a:solidFill>
                  <a:schemeClr val="accent5"/>
                </a:solidFill>
              </a:rPr>
              <a:t>allowed</a:t>
            </a:r>
            <a:endParaRPr lang="en-US" sz="1200" dirty="0"/>
          </a:p>
        </p:txBody>
      </p:sp>
      <p:sp>
        <p:nvSpPr>
          <p:cNvPr id="20" name="Text 16"/>
          <p:cNvSpPr txBox="1"/>
          <p:nvPr/>
        </p:nvSpPr>
        <p:spPr>
          <a:xfrm>
            <a:off x="7818120" y="3621024"/>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Read the masked view</a:t>
            </a:r>
            <a:endParaRPr lang="en-US" sz="1400" dirty="0"/>
          </a:p>
        </p:txBody>
      </p:sp>
      <p:sp>
        <p:nvSpPr>
          <p:cNvPr id="21" name="Result pill 170"/>
          <p:cNvSpPr/>
          <p:nvPr/>
        </p:nvSpPr>
        <p:spPr>
          <a:xfrm>
            <a:off x="10012680" y="4151376"/>
            <a:ext cx="1417320" cy="329184"/>
          </a:xfrm>
          <a:prstGeom prst="roundRect">
            <a:avLst>
              <a:gd name="adj" fmla="val 13889"/>
            </a:avLst>
          </a:prstGeom>
          <a:solidFill>
            <a:schemeClr val="accent3">
              <a:alpha val="18000"/>
            </a:schemeClr>
          </a:solidFill>
          <a:ln/>
        </p:spPr>
      </p:sp>
      <p:sp>
        <p:nvSpPr>
          <p:cNvPr id="22" name="Text 18"/>
          <p:cNvSpPr txBox="1"/>
          <p:nvPr/>
        </p:nvSpPr>
        <p:spPr>
          <a:xfrm>
            <a:off x="10012680" y="4151376"/>
            <a:ext cx="1417320" cy="329184"/>
          </a:xfrm>
          <a:prstGeom prst="rect">
            <a:avLst/>
          </a:prstGeom>
          <a:noFill/>
          <a:ln/>
        </p:spPr>
        <p:txBody>
          <a:bodyPr wrap="square" lIns="0" tIns="0" rIns="0" bIns="0" rtlCol="0" anchor="ctr"/>
          <a:lstStyle/>
          <a:p>
            <a:pPr algn="ctr" indent="0" marL="0">
              <a:buNone/>
            </a:pPr>
            <a:r>
              <a:rPr lang="en-US" sz="1200" b="1" dirty="0">
                <a:solidFill>
                  <a:schemeClr val="accent3"/>
                </a:solidFill>
              </a:rPr>
              <a:t>denied</a:t>
            </a:r>
            <a:endParaRPr lang="en-US" sz="1200" dirty="0"/>
          </a:p>
        </p:txBody>
      </p:sp>
      <p:sp>
        <p:nvSpPr>
          <p:cNvPr id="23" name="Text 19"/>
          <p:cNvSpPr txBox="1"/>
          <p:nvPr/>
        </p:nvSpPr>
        <p:spPr>
          <a:xfrm>
            <a:off x="7818120" y="4105656"/>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Insert a claim</a:t>
            </a:r>
            <a:endParaRPr lang="en-US" sz="1400" dirty="0"/>
          </a:p>
        </p:txBody>
      </p:sp>
      <p:sp>
        <p:nvSpPr>
          <p:cNvPr id="24" name="Result pill 171"/>
          <p:cNvSpPr/>
          <p:nvPr/>
        </p:nvSpPr>
        <p:spPr>
          <a:xfrm>
            <a:off x="10012680" y="4636008"/>
            <a:ext cx="1417320" cy="329184"/>
          </a:xfrm>
          <a:prstGeom prst="roundRect">
            <a:avLst>
              <a:gd name="adj" fmla="val 13889"/>
            </a:avLst>
          </a:prstGeom>
          <a:solidFill>
            <a:schemeClr val="accent3">
              <a:alpha val="18000"/>
            </a:schemeClr>
          </a:solidFill>
          <a:ln/>
        </p:spPr>
      </p:sp>
      <p:sp>
        <p:nvSpPr>
          <p:cNvPr id="25" name="Text 21"/>
          <p:cNvSpPr txBox="1"/>
          <p:nvPr/>
        </p:nvSpPr>
        <p:spPr>
          <a:xfrm>
            <a:off x="10012680" y="4636008"/>
            <a:ext cx="1417320" cy="329184"/>
          </a:xfrm>
          <a:prstGeom prst="rect">
            <a:avLst/>
          </a:prstGeom>
          <a:noFill/>
          <a:ln/>
        </p:spPr>
        <p:txBody>
          <a:bodyPr wrap="square" lIns="0" tIns="0" rIns="0" bIns="0" rtlCol="0" anchor="ctr"/>
          <a:lstStyle/>
          <a:p>
            <a:pPr algn="ctr" indent="0" marL="0">
              <a:buNone/>
            </a:pPr>
            <a:r>
              <a:rPr lang="en-US" sz="1200" b="1" dirty="0">
                <a:solidFill>
                  <a:schemeClr val="accent3"/>
                </a:solidFill>
              </a:rPr>
              <a:t>denied</a:t>
            </a:r>
            <a:endParaRPr lang="en-US" sz="1200" dirty="0"/>
          </a:p>
        </p:txBody>
      </p:sp>
      <p:sp>
        <p:nvSpPr>
          <p:cNvPr id="26" name="Text 22"/>
          <p:cNvSpPr txBox="1"/>
          <p:nvPr/>
        </p:nvSpPr>
        <p:spPr>
          <a:xfrm>
            <a:off x="7818120" y="4590288"/>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Change a policy's cover</a:t>
            </a:r>
            <a:endParaRPr lang="en-US" sz="1400" dirty="0"/>
          </a:p>
        </p:txBody>
      </p:sp>
      <p:sp>
        <p:nvSpPr>
          <p:cNvPr id="27" name="Result pill 172"/>
          <p:cNvSpPr/>
          <p:nvPr/>
        </p:nvSpPr>
        <p:spPr>
          <a:xfrm>
            <a:off x="10012680" y="5120640"/>
            <a:ext cx="1417320" cy="329184"/>
          </a:xfrm>
          <a:prstGeom prst="roundRect">
            <a:avLst>
              <a:gd name="adj" fmla="val 13889"/>
            </a:avLst>
          </a:prstGeom>
          <a:solidFill>
            <a:schemeClr val="accent3">
              <a:alpha val="18000"/>
            </a:schemeClr>
          </a:solidFill>
          <a:ln/>
        </p:spPr>
      </p:sp>
      <p:sp>
        <p:nvSpPr>
          <p:cNvPr id="28" name="Text 24"/>
          <p:cNvSpPr txBox="1"/>
          <p:nvPr/>
        </p:nvSpPr>
        <p:spPr>
          <a:xfrm>
            <a:off x="10012680" y="5120640"/>
            <a:ext cx="1417320" cy="329184"/>
          </a:xfrm>
          <a:prstGeom prst="rect">
            <a:avLst/>
          </a:prstGeom>
          <a:noFill/>
          <a:ln/>
        </p:spPr>
        <p:txBody>
          <a:bodyPr wrap="square" lIns="0" tIns="0" rIns="0" bIns="0" rtlCol="0" anchor="ctr"/>
          <a:lstStyle/>
          <a:p>
            <a:pPr algn="ctr" indent="0" marL="0">
              <a:buNone/>
            </a:pPr>
            <a:r>
              <a:rPr lang="en-US" sz="1200" b="1" dirty="0">
                <a:solidFill>
                  <a:schemeClr val="accent3"/>
                </a:solidFill>
              </a:rPr>
              <a:t>denied</a:t>
            </a:r>
            <a:endParaRPr lang="en-US" sz="1200" dirty="0"/>
          </a:p>
        </p:txBody>
      </p:sp>
      <p:sp>
        <p:nvSpPr>
          <p:cNvPr id="29" name="Text 25"/>
          <p:cNvSpPr txBox="1"/>
          <p:nvPr/>
        </p:nvSpPr>
        <p:spPr>
          <a:xfrm>
            <a:off x="7818120" y="5074920"/>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Delete payments</a:t>
            </a:r>
            <a:endParaRPr lang="en-US" sz="1400" dirty="0"/>
          </a:p>
        </p:txBody>
      </p:sp>
      <p:sp>
        <p:nvSpPr>
          <p:cNvPr id="30" name="Result pill 173"/>
          <p:cNvSpPr/>
          <p:nvPr/>
        </p:nvSpPr>
        <p:spPr>
          <a:xfrm>
            <a:off x="10012680" y="5605272"/>
            <a:ext cx="1417320" cy="329184"/>
          </a:xfrm>
          <a:prstGeom prst="roundRect">
            <a:avLst>
              <a:gd name="adj" fmla="val 13889"/>
            </a:avLst>
          </a:prstGeom>
          <a:solidFill>
            <a:schemeClr val="accent3">
              <a:alpha val="18000"/>
            </a:schemeClr>
          </a:solidFill>
          <a:ln/>
        </p:spPr>
      </p:sp>
      <p:sp>
        <p:nvSpPr>
          <p:cNvPr id="31" name="Text 27"/>
          <p:cNvSpPr txBox="1"/>
          <p:nvPr/>
        </p:nvSpPr>
        <p:spPr>
          <a:xfrm>
            <a:off x="10012680" y="5605272"/>
            <a:ext cx="1417320" cy="329184"/>
          </a:xfrm>
          <a:prstGeom prst="rect">
            <a:avLst/>
          </a:prstGeom>
          <a:noFill/>
          <a:ln/>
        </p:spPr>
        <p:txBody>
          <a:bodyPr wrap="square" lIns="0" tIns="0" rIns="0" bIns="0" rtlCol="0" anchor="ctr"/>
          <a:lstStyle/>
          <a:p>
            <a:pPr algn="ctr" indent="0" marL="0">
              <a:buNone/>
            </a:pPr>
            <a:r>
              <a:rPr lang="en-US" sz="1200" b="1" dirty="0">
                <a:solidFill>
                  <a:schemeClr val="accent3"/>
                </a:solidFill>
              </a:rPr>
              <a:t>denied</a:t>
            </a:r>
            <a:endParaRPr lang="en-US" sz="1200" dirty="0"/>
          </a:p>
        </p:txBody>
      </p:sp>
      <p:sp>
        <p:nvSpPr>
          <p:cNvPr id="32" name="Text 28"/>
          <p:cNvSpPr txBox="1"/>
          <p:nvPr/>
        </p:nvSpPr>
        <p:spPr>
          <a:xfrm>
            <a:off x="7818120" y="5559552"/>
            <a:ext cx="2148840" cy="420624"/>
          </a:xfrm>
          <a:prstGeom prst="rect">
            <a:avLst/>
          </a:prstGeom>
          <a:noFill/>
          <a:ln/>
        </p:spPr>
        <p:txBody>
          <a:bodyPr wrap="square" lIns="0" tIns="0" rIns="0" bIns="0" rtlCol="0" anchor="ctr"/>
          <a:lstStyle/>
          <a:p>
            <a:pPr algn="l" indent="0" marL="0">
              <a:buNone/>
            </a:pPr>
            <a:r>
              <a:rPr lang="en-US" sz="1400" dirty="0">
                <a:solidFill>
                  <a:schemeClr val="tx1"/>
                </a:solidFill>
              </a:rPr>
              <a:t>Drop the audit log</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LIVE DATA</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Change streams, views and a materialised view</a:t>
            </a:r>
            <a:endParaRPr lang="en-US" sz="3600" dirty="0"/>
          </a:p>
        </p:txBody>
      </p:sp>
      <p:sp>
        <p:nvSpPr>
          <p:cNvPr id="4" name="Flow box 174"/>
          <p:cNvSpPr/>
          <p:nvPr/>
        </p:nvSpPr>
        <p:spPr>
          <a:xfrm>
            <a:off x="548640" y="1783080"/>
            <a:ext cx="1965960" cy="868680"/>
          </a:xfrm>
          <a:prstGeom prst="roundRect">
            <a:avLst>
              <a:gd name="adj" fmla="val 10526"/>
            </a:avLst>
          </a:prstGeom>
          <a:solidFill>
            <a:schemeClr val="bg2"/>
          </a:solidFill>
          <a:ln/>
        </p:spPr>
      </p:sp>
      <p:sp>
        <p:nvSpPr>
          <p:cNvPr id="5" name="Text 3"/>
          <p:cNvSpPr txBox="1"/>
          <p:nvPr/>
        </p:nvSpPr>
        <p:spPr>
          <a:xfrm>
            <a:off x="658368" y="1828800"/>
            <a:ext cx="1746504" cy="384048"/>
          </a:xfrm>
          <a:prstGeom prst="rect">
            <a:avLst/>
          </a:prstGeom>
          <a:noFill/>
          <a:ln/>
        </p:spPr>
        <p:txBody>
          <a:bodyPr wrap="square" lIns="0" tIns="0" rIns="0" bIns="0" rtlCol="0" anchor="ctr"/>
          <a:lstStyle/>
          <a:p>
            <a:pPr algn="l" indent="0" marL="0">
              <a:buNone/>
            </a:pPr>
            <a:r>
              <a:rPr lang="en-US" sz="1400" b="1" dirty="0">
                <a:solidFill>
                  <a:schemeClr val="tx2"/>
                </a:solidFill>
              </a:rPr>
              <a:t>Claim settled</a:t>
            </a:r>
            <a:endParaRPr lang="en-US" sz="1400" dirty="0"/>
          </a:p>
        </p:txBody>
      </p:sp>
      <p:sp>
        <p:nvSpPr>
          <p:cNvPr id="6" name="Text 4"/>
          <p:cNvSpPr txBox="1"/>
          <p:nvPr/>
        </p:nvSpPr>
        <p:spPr>
          <a:xfrm>
            <a:off x="658368" y="2212848"/>
            <a:ext cx="1746504" cy="365760"/>
          </a:xfrm>
          <a:prstGeom prst="rect">
            <a:avLst/>
          </a:prstGeom>
          <a:noFill/>
          <a:ln/>
        </p:spPr>
        <p:txBody>
          <a:bodyPr wrap="square" lIns="0" tIns="0" rIns="0" bIns="0" rtlCol="0" anchor="ctr"/>
          <a:lstStyle/>
          <a:p>
            <a:pPr algn="l" indent="0" marL="0">
              <a:buNone/>
            </a:pPr>
            <a:r>
              <a:rPr lang="en-US" sz="1200" dirty="0">
                <a:solidFill>
                  <a:schemeClr val="accent6"/>
                </a:solidFill>
              </a:rPr>
              <a:t>in the web app</a:t>
            </a:r>
            <a:endParaRPr lang="en-US" sz="1200" dirty="0"/>
          </a:p>
        </p:txBody>
      </p:sp>
      <p:sp>
        <p:nvSpPr>
          <p:cNvPr id="7" name="Connector 175"/>
          <p:cNvSpPr/>
          <p:nvPr/>
        </p:nvSpPr>
        <p:spPr>
          <a:xfrm>
            <a:off x="2532888" y="2212848"/>
            <a:ext cx="283464" cy="0"/>
          </a:xfrm>
          <a:prstGeom prst="line">
            <a:avLst/>
          </a:prstGeom>
          <a:noFill/>
          <a:ln w="19050">
            <a:solidFill>
              <a:schemeClr val="accent6"/>
            </a:solidFill>
            <a:prstDash val="solid"/>
            <a:tailEnd type="triangle"/>
          </a:ln>
        </p:spPr>
      </p:sp>
      <p:sp>
        <p:nvSpPr>
          <p:cNvPr id="8" name="Flow box 176"/>
          <p:cNvSpPr/>
          <p:nvPr/>
        </p:nvSpPr>
        <p:spPr>
          <a:xfrm>
            <a:off x="2834640" y="1783080"/>
            <a:ext cx="1965960" cy="868680"/>
          </a:xfrm>
          <a:prstGeom prst="roundRect">
            <a:avLst>
              <a:gd name="adj" fmla="val 10526"/>
            </a:avLst>
          </a:prstGeom>
          <a:solidFill>
            <a:schemeClr val="bg2"/>
          </a:solidFill>
          <a:ln/>
        </p:spPr>
      </p:sp>
      <p:sp>
        <p:nvSpPr>
          <p:cNvPr id="9" name="Text 7"/>
          <p:cNvSpPr txBox="1"/>
          <p:nvPr/>
        </p:nvSpPr>
        <p:spPr>
          <a:xfrm>
            <a:off x="2944368" y="1828800"/>
            <a:ext cx="1746504" cy="384048"/>
          </a:xfrm>
          <a:prstGeom prst="rect">
            <a:avLst/>
          </a:prstGeom>
          <a:noFill/>
          <a:ln/>
        </p:spPr>
        <p:txBody>
          <a:bodyPr wrap="square" lIns="0" tIns="0" rIns="0" bIns="0" rtlCol="0" anchor="ctr"/>
          <a:lstStyle/>
          <a:p>
            <a:pPr algn="l" indent="0" marL="0">
              <a:buNone/>
            </a:pPr>
            <a:r>
              <a:rPr lang="en-US" sz="1400" b="1" dirty="0">
                <a:solidFill>
                  <a:schemeClr val="tx2"/>
                </a:solidFill>
              </a:rPr>
              <a:t>MongoDB primary</a:t>
            </a:r>
            <a:endParaRPr lang="en-US" sz="1400" dirty="0"/>
          </a:p>
        </p:txBody>
      </p:sp>
      <p:sp>
        <p:nvSpPr>
          <p:cNvPr id="10" name="Text 8"/>
          <p:cNvSpPr txBox="1"/>
          <p:nvPr/>
        </p:nvSpPr>
        <p:spPr>
          <a:xfrm>
            <a:off x="2944368" y="2212848"/>
            <a:ext cx="1746504" cy="365760"/>
          </a:xfrm>
          <a:prstGeom prst="rect">
            <a:avLst/>
          </a:prstGeom>
          <a:noFill/>
          <a:ln/>
        </p:spPr>
        <p:txBody>
          <a:bodyPr wrap="square" lIns="0" tIns="0" rIns="0" bIns="0" rtlCol="0" anchor="ctr"/>
          <a:lstStyle/>
          <a:p>
            <a:pPr algn="l" indent="0" marL="0">
              <a:buNone/>
            </a:pPr>
            <a:r>
              <a:rPr lang="en-US" sz="1200" dirty="0">
                <a:solidFill>
                  <a:schemeClr val="accent6"/>
                </a:solidFill>
              </a:rPr>
              <a:t>writes the oplog</a:t>
            </a:r>
            <a:endParaRPr lang="en-US" sz="1200" dirty="0"/>
          </a:p>
        </p:txBody>
      </p:sp>
      <p:sp>
        <p:nvSpPr>
          <p:cNvPr id="11" name="Connector 177"/>
          <p:cNvSpPr/>
          <p:nvPr/>
        </p:nvSpPr>
        <p:spPr>
          <a:xfrm>
            <a:off x="4818888" y="2212848"/>
            <a:ext cx="283464" cy="0"/>
          </a:xfrm>
          <a:prstGeom prst="line">
            <a:avLst/>
          </a:prstGeom>
          <a:noFill/>
          <a:ln w="19050">
            <a:solidFill>
              <a:schemeClr val="accent6"/>
            </a:solidFill>
            <a:prstDash val="solid"/>
            <a:tailEnd type="triangle"/>
          </a:ln>
        </p:spPr>
      </p:sp>
      <p:sp>
        <p:nvSpPr>
          <p:cNvPr id="12" name="Flow box 178"/>
          <p:cNvSpPr/>
          <p:nvPr/>
        </p:nvSpPr>
        <p:spPr>
          <a:xfrm>
            <a:off x="5120640" y="1783080"/>
            <a:ext cx="1965960" cy="868680"/>
          </a:xfrm>
          <a:prstGeom prst="roundRect">
            <a:avLst>
              <a:gd name="adj" fmla="val 10526"/>
            </a:avLst>
          </a:prstGeom>
          <a:solidFill>
            <a:schemeClr val="accent1"/>
          </a:solidFill>
          <a:ln/>
        </p:spPr>
      </p:sp>
      <p:sp>
        <p:nvSpPr>
          <p:cNvPr id="13" name="Text 11"/>
          <p:cNvSpPr txBox="1"/>
          <p:nvPr/>
        </p:nvSpPr>
        <p:spPr>
          <a:xfrm>
            <a:off x="5230368" y="1828800"/>
            <a:ext cx="1746504" cy="384048"/>
          </a:xfrm>
          <a:prstGeom prst="rect">
            <a:avLst/>
          </a:prstGeom>
          <a:noFill/>
          <a:ln/>
        </p:spPr>
        <p:txBody>
          <a:bodyPr wrap="square" lIns="0" tIns="0" rIns="0" bIns="0" rtlCol="0" anchor="ctr"/>
          <a:lstStyle/>
          <a:p>
            <a:pPr algn="l" indent="0" marL="0">
              <a:buNone/>
            </a:pPr>
            <a:r>
              <a:rPr lang="en-US" sz="1400" b="1" dirty="0">
                <a:solidFill>
                  <a:schemeClr val="bg1"/>
                </a:solidFill>
              </a:rPr>
              <a:t>Change stream</a:t>
            </a:r>
            <a:endParaRPr lang="en-US" sz="1400" dirty="0"/>
          </a:p>
        </p:txBody>
      </p:sp>
      <p:sp>
        <p:nvSpPr>
          <p:cNvPr id="14" name="Text 12"/>
          <p:cNvSpPr txBox="1"/>
          <p:nvPr/>
        </p:nvSpPr>
        <p:spPr>
          <a:xfrm>
            <a:off x="5230368" y="2212848"/>
            <a:ext cx="1746504" cy="365760"/>
          </a:xfrm>
          <a:prstGeom prst="rect">
            <a:avLst/>
          </a:prstGeom>
          <a:noFill/>
          <a:ln/>
        </p:spPr>
        <p:txBody>
          <a:bodyPr wrap="square" lIns="0" tIns="0" rIns="0" bIns="0" rtlCol="0" anchor="ctr"/>
          <a:lstStyle/>
          <a:p>
            <a:pPr algn="l" indent="0" marL="0">
              <a:buNone/>
            </a:pPr>
            <a:r>
              <a:rPr lang="en-US" sz="1200" dirty="0">
                <a:solidFill>
                  <a:schemeClr val="bg2"/>
                </a:solidFill>
              </a:rPr>
              <a:t>db.watch(pipeline)</a:t>
            </a:r>
            <a:endParaRPr lang="en-US" sz="1200" dirty="0"/>
          </a:p>
        </p:txBody>
      </p:sp>
      <p:sp>
        <p:nvSpPr>
          <p:cNvPr id="15" name="Connector 179"/>
          <p:cNvSpPr/>
          <p:nvPr/>
        </p:nvSpPr>
        <p:spPr>
          <a:xfrm>
            <a:off x="7104888" y="2212848"/>
            <a:ext cx="283464" cy="0"/>
          </a:xfrm>
          <a:prstGeom prst="line">
            <a:avLst/>
          </a:prstGeom>
          <a:noFill/>
          <a:ln w="19050">
            <a:solidFill>
              <a:schemeClr val="accent6"/>
            </a:solidFill>
            <a:prstDash val="solid"/>
            <a:tailEnd type="triangle"/>
          </a:ln>
        </p:spPr>
      </p:sp>
      <p:sp>
        <p:nvSpPr>
          <p:cNvPr id="16" name="Flow box 180"/>
          <p:cNvSpPr/>
          <p:nvPr/>
        </p:nvSpPr>
        <p:spPr>
          <a:xfrm>
            <a:off x="7406640" y="1783080"/>
            <a:ext cx="1965960" cy="868680"/>
          </a:xfrm>
          <a:prstGeom prst="roundRect">
            <a:avLst>
              <a:gd name="adj" fmla="val 10526"/>
            </a:avLst>
          </a:prstGeom>
          <a:solidFill>
            <a:schemeClr val="bg2"/>
          </a:solidFill>
          <a:ln/>
        </p:spPr>
      </p:sp>
      <p:sp>
        <p:nvSpPr>
          <p:cNvPr id="17" name="Text 15"/>
          <p:cNvSpPr txBox="1"/>
          <p:nvPr/>
        </p:nvSpPr>
        <p:spPr>
          <a:xfrm>
            <a:off x="7516368" y="1828800"/>
            <a:ext cx="1746504" cy="384048"/>
          </a:xfrm>
          <a:prstGeom prst="rect">
            <a:avLst/>
          </a:prstGeom>
          <a:noFill/>
          <a:ln/>
        </p:spPr>
        <p:txBody>
          <a:bodyPr wrap="square" lIns="0" tIns="0" rIns="0" bIns="0" rtlCol="0" anchor="ctr"/>
          <a:lstStyle/>
          <a:p>
            <a:pPr algn="l" indent="0" marL="0">
              <a:buNone/>
            </a:pPr>
            <a:r>
              <a:rPr lang="en-US" sz="1400" b="1" dirty="0">
                <a:solidFill>
                  <a:schemeClr val="tx2"/>
                </a:solidFill>
              </a:rPr>
              <a:t>Server-Sent Events</a:t>
            </a:r>
            <a:endParaRPr lang="en-US" sz="1400" dirty="0"/>
          </a:p>
        </p:txBody>
      </p:sp>
      <p:sp>
        <p:nvSpPr>
          <p:cNvPr id="18" name="Text 16"/>
          <p:cNvSpPr txBox="1"/>
          <p:nvPr/>
        </p:nvSpPr>
        <p:spPr>
          <a:xfrm>
            <a:off x="7516368" y="2212848"/>
            <a:ext cx="1746504" cy="365760"/>
          </a:xfrm>
          <a:prstGeom prst="rect">
            <a:avLst/>
          </a:prstGeom>
          <a:noFill/>
          <a:ln/>
        </p:spPr>
        <p:txBody>
          <a:bodyPr wrap="square" lIns="0" tIns="0" rIns="0" bIns="0" rtlCol="0" anchor="ctr"/>
          <a:lstStyle/>
          <a:p>
            <a:pPr algn="l" indent="0" marL="0">
              <a:buNone/>
            </a:pPr>
            <a:r>
              <a:rPr lang="en-US" sz="1200" dirty="0">
                <a:solidFill>
                  <a:schemeClr val="accent6"/>
                </a:solidFill>
              </a:rPr>
              <a:t>/api/live</a:t>
            </a:r>
            <a:endParaRPr lang="en-US" sz="1200" dirty="0"/>
          </a:p>
        </p:txBody>
      </p:sp>
      <p:sp>
        <p:nvSpPr>
          <p:cNvPr id="19" name="Connector 181"/>
          <p:cNvSpPr/>
          <p:nvPr/>
        </p:nvSpPr>
        <p:spPr>
          <a:xfrm>
            <a:off x="9390888" y="2212848"/>
            <a:ext cx="283464" cy="0"/>
          </a:xfrm>
          <a:prstGeom prst="line">
            <a:avLst/>
          </a:prstGeom>
          <a:noFill/>
          <a:ln w="19050">
            <a:solidFill>
              <a:schemeClr val="accent6"/>
            </a:solidFill>
            <a:prstDash val="solid"/>
            <a:tailEnd type="triangle"/>
          </a:ln>
        </p:spPr>
      </p:sp>
      <p:sp>
        <p:nvSpPr>
          <p:cNvPr id="20" name="Flow box 182"/>
          <p:cNvSpPr/>
          <p:nvPr/>
        </p:nvSpPr>
        <p:spPr>
          <a:xfrm>
            <a:off x="9692640" y="1783080"/>
            <a:ext cx="1965960" cy="868680"/>
          </a:xfrm>
          <a:prstGeom prst="roundRect">
            <a:avLst>
              <a:gd name="adj" fmla="val 10526"/>
            </a:avLst>
          </a:prstGeom>
          <a:solidFill>
            <a:schemeClr val="bg2"/>
          </a:solidFill>
          <a:ln/>
        </p:spPr>
      </p:sp>
      <p:sp>
        <p:nvSpPr>
          <p:cNvPr id="21" name="Text 19"/>
          <p:cNvSpPr txBox="1"/>
          <p:nvPr/>
        </p:nvSpPr>
        <p:spPr>
          <a:xfrm>
            <a:off x="9802368" y="1828800"/>
            <a:ext cx="1746504" cy="384048"/>
          </a:xfrm>
          <a:prstGeom prst="rect">
            <a:avLst/>
          </a:prstGeom>
          <a:noFill/>
          <a:ln/>
        </p:spPr>
        <p:txBody>
          <a:bodyPr wrap="square" lIns="0" tIns="0" rIns="0" bIns="0" rtlCol="0" anchor="ctr"/>
          <a:lstStyle/>
          <a:p>
            <a:pPr algn="l" indent="0" marL="0">
              <a:buNone/>
            </a:pPr>
            <a:r>
              <a:rPr lang="en-US" sz="1400" b="1" dirty="0">
                <a:solidFill>
                  <a:schemeClr val="tx2"/>
                </a:solidFill>
              </a:rPr>
              <a:t>Live Feed page</a:t>
            </a:r>
            <a:endParaRPr lang="en-US" sz="1400" dirty="0"/>
          </a:p>
        </p:txBody>
      </p:sp>
      <p:sp>
        <p:nvSpPr>
          <p:cNvPr id="22" name="Text 20"/>
          <p:cNvSpPr txBox="1"/>
          <p:nvPr/>
        </p:nvSpPr>
        <p:spPr>
          <a:xfrm>
            <a:off x="9802368" y="2212848"/>
            <a:ext cx="1746504" cy="365760"/>
          </a:xfrm>
          <a:prstGeom prst="rect">
            <a:avLst/>
          </a:prstGeom>
          <a:noFill/>
          <a:ln/>
        </p:spPr>
        <p:txBody>
          <a:bodyPr wrap="square" lIns="0" tIns="0" rIns="0" bIns="0" rtlCol="0" anchor="ctr"/>
          <a:lstStyle/>
          <a:p>
            <a:pPr algn="l" indent="0" marL="0">
              <a:buNone/>
            </a:pPr>
            <a:r>
              <a:rPr lang="en-US" sz="1200" dirty="0">
                <a:solidFill>
                  <a:schemeClr val="accent6"/>
                </a:solidFill>
              </a:rPr>
              <a:t>and CLI watch</a:t>
            </a:r>
            <a:endParaRPr lang="en-US" sz="1200" dirty="0"/>
          </a:p>
        </p:txBody>
      </p:sp>
      <p:sp>
        <p:nvSpPr>
          <p:cNvPr id="23" name="Text 21"/>
          <p:cNvSpPr txBox="1"/>
          <p:nvPr/>
        </p:nvSpPr>
        <p:spPr>
          <a:xfrm>
            <a:off x="548640" y="2880360"/>
            <a:ext cx="5669280" cy="292608"/>
          </a:xfrm>
          <a:prstGeom prst="rect">
            <a:avLst/>
          </a:prstGeom>
          <a:noFill/>
          <a:ln/>
        </p:spPr>
        <p:txBody>
          <a:bodyPr wrap="square" lIns="0" tIns="0" rIns="0" bIns="0" rtlCol="0" anchor="ctr"/>
          <a:lstStyle/>
          <a:p>
            <a:pPr algn="l" indent="0" marL="0">
              <a:buNone/>
            </a:pPr>
            <a:r>
              <a:rPr lang="en-US" sz="1400" b="1" dirty="0">
                <a:solidFill>
                  <a:schemeClr val="tx2"/>
                </a:solidFill>
              </a:rPr>
              <a:t>Events received when one claim was paid</a:t>
            </a:r>
            <a:endParaRPr lang="en-US" sz="1400" dirty="0"/>
          </a:p>
        </p:txBody>
      </p:sp>
      <p:sp>
        <p:nvSpPr>
          <p:cNvPr id="24" name="Code panel 183"/>
          <p:cNvSpPr/>
          <p:nvPr/>
        </p:nvSpPr>
        <p:spPr>
          <a:xfrm>
            <a:off x="548640" y="3218688"/>
            <a:ext cx="5669280" cy="1417320"/>
          </a:xfrm>
          <a:prstGeom prst="roundRect">
            <a:avLst>
              <a:gd name="adj" fmla="val 6452"/>
            </a:avLst>
          </a:prstGeom>
          <a:solidFill>
            <a:schemeClr val="tx2"/>
          </a:solidFill>
          <a:ln/>
        </p:spPr>
      </p:sp>
      <p:sp>
        <p:nvSpPr>
          <p:cNvPr id="25" name="Text 23"/>
          <p:cNvSpPr txBox="1"/>
          <p:nvPr/>
        </p:nvSpPr>
        <p:spPr>
          <a:xfrm>
            <a:off x="777240" y="3401568"/>
            <a:ext cx="5303520" cy="105156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18:47:23 claims   update CLM-2026-002588 Settled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18:47:23 policies update cover reduced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18:47:23 payments insert PAY-2026-002042</a:t>
            </a:r>
            <a:endParaRPr lang="en-US" sz="1200" dirty="0"/>
          </a:p>
        </p:txBody>
      </p:sp>
      <p:sp>
        <p:nvSpPr>
          <p:cNvPr id="26" name="Text 24"/>
          <p:cNvSpPr txBox="1"/>
          <p:nvPr/>
        </p:nvSpPr>
        <p:spPr>
          <a:xfrm>
            <a:off x="548640" y="4754880"/>
            <a:ext cx="5669280" cy="731520"/>
          </a:xfrm>
          <a:prstGeom prst="rect">
            <a:avLst/>
          </a:prstGeom>
          <a:noFill/>
          <a:ln/>
        </p:spPr>
        <p:txBody>
          <a:bodyPr wrap="square" lIns="0" tIns="0" rIns="0" bIns="0" rtlCol="0" anchor="t"/>
          <a:lstStyle/>
          <a:p>
            <a:pPr algn="l" indent="0" marL="0">
              <a:buNone/>
            </a:pPr>
            <a:r>
              <a:rPr lang="en-US" sz="1300" dirty="0">
                <a:solidFill>
                  <a:schemeClr val="accent6"/>
                </a:solidFill>
              </a:rPr>
              <a:t>Needs a replica set (it reads the oplog). A saved resume token lets a consumer continue after a restart without missing events.</a:t>
            </a:r>
            <a:endParaRPr lang="en-US" sz="1300" dirty="0"/>
          </a:p>
        </p:txBody>
      </p:sp>
      <p:sp>
        <p:nvSpPr>
          <p:cNvPr id="27" name="View card"/>
          <p:cNvSpPr/>
          <p:nvPr/>
        </p:nvSpPr>
        <p:spPr>
          <a:xfrm>
            <a:off x="6492240" y="2880360"/>
            <a:ext cx="2496312" cy="2651760"/>
          </a:xfrm>
          <a:prstGeom prst="roundRect">
            <a:avLst>
              <a:gd name="adj" fmla="val 3663"/>
            </a:avLst>
          </a:prstGeom>
          <a:solidFill>
            <a:schemeClr val="bg2"/>
          </a:solidFill>
          <a:ln/>
        </p:spPr>
      </p:sp>
      <p:sp>
        <p:nvSpPr>
          <p:cNvPr id="28" name="Dot 184"/>
          <p:cNvSpPr/>
          <p:nvPr/>
        </p:nvSpPr>
        <p:spPr>
          <a:xfrm>
            <a:off x="6675120" y="3035808"/>
            <a:ext cx="457200" cy="457200"/>
          </a:xfrm>
          <a:prstGeom prst="ellipse">
            <a:avLst/>
          </a:prstGeom>
          <a:solidFill>
            <a:schemeClr val="accent1"/>
          </a:solidFill>
          <a:ln/>
        </p:spPr>
      </p:sp>
      <p:pic>
        <p:nvPicPr>
          <p:cNvPr id="29" name="Image 0" descr="icon">    </p:cNvPr>
          <p:cNvPicPr>
            <a:picLocks noChangeAspect="1"/>
          </p:cNvPicPr>
          <p:nvPr/>
        </p:nvPicPr>
        <p:blipFill>
          <a:blip r:embed="rId1"/>
          <a:stretch>
            <a:fillRect/>
          </a:stretch>
        </p:blipFill>
        <p:spPr>
          <a:xfrm>
            <a:off x="6789420" y="3150108"/>
            <a:ext cx="228600" cy="228600"/>
          </a:xfrm>
          <a:prstGeom prst="rect">
            <a:avLst/>
          </a:prstGeom>
        </p:spPr>
      </p:pic>
      <p:sp>
        <p:nvSpPr>
          <p:cNvPr id="30" name="Text 27"/>
          <p:cNvSpPr txBox="1"/>
          <p:nvPr/>
        </p:nvSpPr>
        <p:spPr>
          <a:xfrm>
            <a:off x="7242048" y="3035808"/>
            <a:ext cx="1645920" cy="457200"/>
          </a:xfrm>
          <a:prstGeom prst="rect">
            <a:avLst/>
          </a:prstGeom>
          <a:noFill/>
          <a:ln/>
        </p:spPr>
        <p:txBody>
          <a:bodyPr wrap="square" lIns="0" tIns="0" rIns="0" bIns="0" rtlCol="0" anchor="ctr"/>
          <a:lstStyle/>
          <a:p>
            <a:pPr algn="l" indent="0" marL="0">
              <a:buNone/>
            </a:pPr>
            <a:r>
              <a:rPr lang="en-US" sz="1700" b="1" dirty="0">
                <a:solidFill>
                  <a:schemeClr val="tx2"/>
                </a:solidFill>
              </a:rPr>
              <a:t>View</a:t>
            </a:r>
            <a:endParaRPr lang="en-US" sz="1700" dirty="0"/>
          </a:p>
        </p:txBody>
      </p:sp>
      <p:sp>
        <p:nvSpPr>
          <p:cNvPr id="31" name="Text 28"/>
          <p:cNvSpPr txBox="1"/>
          <p:nvPr/>
        </p:nvSpPr>
        <p:spPr>
          <a:xfrm>
            <a:off x="6675120" y="3611880"/>
            <a:ext cx="2194560" cy="18288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A stored pipeline, computed on every read</a:t>
            </a:r>
            <a:endParaRPr lang="en-US" sz="1300" dirty="0"/>
          </a:p>
          <a:p>
            <a:pPr algn="l" marL="342900" indent="-342900">
              <a:spcAft>
                <a:spcPts val="600"/>
              </a:spcAft>
              <a:buSzPct val="100000"/>
              <a:buChar char="•"/>
            </a:pPr>
            <a:r>
              <a:rPr lang="en-US" sz="1300" dirty="0">
                <a:solidFill>
                  <a:schemeClr val="tx1"/>
                </a:solidFill>
              </a:rPr>
              <a:t>Always fresh, stores nothing</a:t>
            </a:r>
            <a:endParaRPr lang="en-US" sz="1300" dirty="0"/>
          </a:p>
          <a:p>
            <a:pPr algn="l" marL="342900" indent="-342900">
              <a:spcAft>
                <a:spcPts val="600"/>
              </a:spcAft>
              <a:buSzPct val="100000"/>
              <a:buChar char="•"/>
            </a:pPr>
            <a:r>
              <a:rPr lang="en-US" sz="1300" dirty="0">
                <a:solidFill>
                  <a:schemeClr val="tx1"/>
                </a:solidFill>
              </a:rPr>
              <a:t>members_masked, open_claims_queue</a:t>
            </a:r>
            <a:endParaRPr lang="en-US" sz="1300" dirty="0"/>
          </a:p>
        </p:txBody>
      </p:sp>
      <p:sp>
        <p:nvSpPr>
          <p:cNvPr id="32" name="Materialised view card"/>
          <p:cNvSpPr/>
          <p:nvPr/>
        </p:nvSpPr>
        <p:spPr>
          <a:xfrm>
            <a:off x="9144000" y="2880360"/>
            <a:ext cx="2496312" cy="2651760"/>
          </a:xfrm>
          <a:prstGeom prst="roundRect">
            <a:avLst>
              <a:gd name="adj" fmla="val 3663"/>
            </a:avLst>
          </a:prstGeom>
          <a:solidFill>
            <a:schemeClr val="bg2"/>
          </a:solidFill>
          <a:ln/>
        </p:spPr>
      </p:sp>
      <p:sp>
        <p:nvSpPr>
          <p:cNvPr id="33" name="Dot 185"/>
          <p:cNvSpPr/>
          <p:nvPr/>
        </p:nvSpPr>
        <p:spPr>
          <a:xfrm>
            <a:off x="9326880" y="3035808"/>
            <a:ext cx="457200" cy="457200"/>
          </a:xfrm>
          <a:prstGeom prst="ellipse">
            <a:avLst/>
          </a:prstGeom>
          <a:solidFill>
            <a:schemeClr val="accent2"/>
          </a:solidFill>
          <a:ln/>
        </p:spPr>
      </p:sp>
      <p:pic>
        <p:nvPicPr>
          <p:cNvPr id="34" name="Image 1" descr="icon">    </p:cNvPr>
          <p:cNvPicPr>
            <a:picLocks noChangeAspect="1"/>
          </p:cNvPicPr>
          <p:nvPr/>
        </p:nvPicPr>
        <p:blipFill>
          <a:blip r:embed="rId2"/>
          <a:stretch>
            <a:fillRect/>
          </a:stretch>
        </p:blipFill>
        <p:spPr>
          <a:xfrm>
            <a:off x="9441180" y="3150108"/>
            <a:ext cx="228600" cy="228600"/>
          </a:xfrm>
          <a:prstGeom prst="rect">
            <a:avLst/>
          </a:prstGeom>
        </p:spPr>
      </p:pic>
      <p:sp>
        <p:nvSpPr>
          <p:cNvPr id="35" name="Text 31"/>
          <p:cNvSpPr txBox="1"/>
          <p:nvPr/>
        </p:nvSpPr>
        <p:spPr>
          <a:xfrm>
            <a:off x="9893808" y="3035808"/>
            <a:ext cx="1691640" cy="457200"/>
          </a:xfrm>
          <a:prstGeom prst="rect">
            <a:avLst/>
          </a:prstGeom>
          <a:noFill/>
          <a:ln/>
        </p:spPr>
        <p:txBody>
          <a:bodyPr wrap="square" lIns="0" tIns="0" rIns="0" bIns="0" rtlCol="0" anchor="ctr"/>
          <a:lstStyle/>
          <a:p>
            <a:pPr algn="l" indent="0" marL="0">
              <a:buNone/>
            </a:pPr>
            <a:r>
              <a:rPr lang="en-US" sz="1700" b="1" dirty="0">
                <a:solidFill>
                  <a:schemeClr val="tx2"/>
                </a:solidFill>
              </a:rPr>
              <a:t>Materialised</a:t>
            </a:r>
            <a:endParaRPr lang="en-US" sz="1700" dirty="0"/>
          </a:p>
        </p:txBody>
      </p:sp>
      <p:sp>
        <p:nvSpPr>
          <p:cNvPr id="36" name="Text 32"/>
          <p:cNvSpPr txBox="1"/>
          <p:nvPr/>
        </p:nvSpPr>
        <p:spPr>
          <a:xfrm>
            <a:off x="9326880" y="3611880"/>
            <a:ext cx="2194560" cy="18288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A real collection refreshed with $merge</a:t>
            </a:r>
            <a:endParaRPr lang="en-US" sz="1300" dirty="0"/>
          </a:p>
          <a:p>
            <a:pPr algn="l" marL="342900" indent="-342900">
              <a:spcAft>
                <a:spcPts val="600"/>
              </a:spcAft>
              <a:buSzPct val="100000"/>
              <a:buChar char="•"/>
            </a:pPr>
            <a:r>
              <a:rPr lang="en-US" sz="1300" dirty="0">
                <a:solidFill>
                  <a:schemeClr val="tx1"/>
                </a:solidFill>
              </a:rPr>
              <a:t>Read in 0.9 ms vs 4.5 ms live</a:t>
            </a:r>
            <a:endParaRPr lang="en-US" sz="1300" dirty="0"/>
          </a:p>
          <a:p>
            <a:pPr algn="l" marL="342900" indent="-342900">
              <a:spcAft>
                <a:spcPts val="600"/>
              </a:spcAft>
              <a:buSzPct val="100000"/>
              <a:buChar char="•"/>
            </a:pPr>
            <a:r>
              <a:rPr lang="en-US" sz="1300" dirty="0">
                <a:solidFill>
                  <a:schemeClr val="tx1"/>
                </a:solidFill>
              </a:rPr>
              <a:t>mv_insurer_monthly</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ADMINISTRATION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Schema evolution, batch jobs and backup</a:t>
            </a:r>
            <a:endParaRPr lang="en-US" sz="3600" dirty="0"/>
          </a:p>
        </p:txBody>
      </p:sp>
      <p:sp>
        <p:nvSpPr>
          <p:cNvPr id="4" name="Card 186"/>
          <p:cNvSpPr/>
          <p:nvPr/>
        </p:nvSpPr>
        <p:spPr>
          <a:xfrm>
            <a:off x="548640" y="1783080"/>
            <a:ext cx="3538728" cy="3886200"/>
          </a:xfrm>
          <a:prstGeom prst="roundRect">
            <a:avLst>
              <a:gd name="adj" fmla="val 2584"/>
            </a:avLst>
          </a:prstGeom>
          <a:solidFill>
            <a:schemeClr val="bg2"/>
          </a:solidFill>
          <a:ln/>
        </p:spPr>
      </p:sp>
      <p:sp>
        <p:nvSpPr>
          <p:cNvPr id="5" name="Dot 187"/>
          <p:cNvSpPr/>
          <p:nvPr/>
        </p:nvSpPr>
        <p:spPr>
          <a:xfrm>
            <a:off x="822960" y="2011680"/>
            <a:ext cx="621792" cy="621792"/>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78408" y="2167128"/>
            <a:ext cx="310896" cy="310896"/>
          </a:xfrm>
          <a:prstGeom prst="rect">
            <a:avLst/>
          </a:prstGeom>
        </p:spPr>
      </p:pic>
      <p:sp>
        <p:nvSpPr>
          <p:cNvPr id="7" name="Text 4"/>
          <p:cNvSpPr txBox="1"/>
          <p:nvPr/>
        </p:nvSpPr>
        <p:spPr>
          <a:xfrm>
            <a:off x="1600200" y="2011680"/>
            <a:ext cx="2377440" cy="621792"/>
          </a:xfrm>
          <a:prstGeom prst="rect">
            <a:avLst/>
          </a:prstGeom>
          <a:noFill/>
          <a:ln/>
        </p:spPr>
        <p:txBody>
          <a:bodyPr wrap="square" lIns="0" tIns="0" rIns="0" bIns="0" rtlCol="0" anchor="ctr"/>
          <a:lstStyle/>
          <a:p>
            <a:pPr algn="l" indent="0" marL="0">
              <a:buNone/>
            </a:pPr>
            <a:r>
              <a:rPr lang="en-US" sz="1800" b="1" dirty="0">
                <a:solidFill>
                  <a:schemeClr val="tx2"/>
                </a:solidFill>
              </a:rPr>
              <a:t>Schema versioning</a:t>
            </a:r>
            <a:endParaRPr lang="en-US" sz="1800" dirty="0"/>
          </a:p>
        </p:txBody>
      </p:sp>
      <p:sp>
        <p:nvSpPr>
          <p:cNvPr id="8" name="Text 5"/>
          <p:cNvSpPr txBox="1"/>
          <p:nvPr/>
        </p:nvSpPr>
        <p:spPr>
          <a:xfrm>
            <a:off x="822960" y="2834640"/>
            <a:ext cx="3017520" cy="27432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Claims carry schema_version</a:t>
            </a:r>
            <a:endParaRPr lang="en-US" sz="1400" dirty="0"/>
          </a:p>
          <a:p>
            <a:pPr algn="l" marL="342900" indent="-342900">
              <a:spcAft>
                <a:spcPts val="800"/>
              </a:spcAft>
              <a:buSzPct val="100000"/>
              <a:buChar char="•"/>
            </a:pPr>
            <a:r>
              <a:rPr lang="en-US" sz="1400" dirty="0">
                <a:solidFill>
                  <a:schemeClr val="tx1"/>
                </a:solidFill>
              </a:rPr>
              <a:t>v2 adds the optimistic-locking version field</a:t>
            </a:r>
            <a:endParaRPr lang="en-US" sz="1400" dirty="0"/>
          </a:p>
          <a:p>
            <a:pPr algn="l" marL="342900" indent="-342900">
              <a:spcAft>
                <a:spcPts val="800"/>
              </a:spcAft>
              <a:buSzPct val="100000"/>
              <a:buChar char="•"/>
            </a:pPr>
            <a:r>
              <a:rPr lang="en-US" sz="1400" dirty="0">
                <a:solidFill>
                  <a:schemeClr val="tx1"/>
                </a:solidFill>
              </a:rPr>
              <a:t>Idempotent update_many: 2,591 claims in 0.26 s</a:t>
            </a:r>
            <a:endParaRPr lang="en-US" sz="1400" dirty="0"/>
          </a:p>
          <a:p>
            <a:pPr algn="l" marL="342900" indent="-342900">
              <a:spcAft>
                <a:spcPts val="800"/>
              </a:spcAft>
              <a:buSzPct val="100000"/>
              <a:buChar char="•"/>
            </a:pPr>
            <a:r>
              <a:rPr lang="en-US" sz="1400" dirty="0">
                <a:solidFill>
                  <a:schemeClr val="tx1"/>
                </a:solidFill>
              </a:rPr>
              <a:t>Code reads both versions while it runs</a:t>
            </a:r>
            <a:endParaRPr lang="en-US" sz="1400" dirty="0"/>
          </a:p>
        </p:txBody>
      </p:sp>
      <p:sp>
        <p:nvSpPr>
          <p:cNvPr id="9" name="Card 188"/>
          <p:cNvSpPr/>
          <p:nvPr/>
        </p:nvSpPr>
        <p:spPr>
          <a:xfrm>
            <a:off x="4325112" y="1783080"/>
            <a:ext cx="3538728" cy="3886200"/>
          </a:xfrm>
          <a:prstGeom prst="roundRect">
            <a:avLst>
              <a:gd name="adj" fmla="val 2584"/>
            </a:avLst>
          </a:prstGeom>
          <a:solidFill>
            <a:schemeClr val="bg2"/>
          </a:solidFill>
          <a:ln/>
        </p:spPr>
      </p:sp>
      <p:sp>
        <p:nvSpPr>
          <p:cNvPr id="10" name="Dot 189"/>
          <p:cNvSpPr/>
          <p:nvPr/>
        </p:nvSpPr>
        <p:spPr>
          <a:xfrm>
            <a:off x="4599432" y="2011680"/>
            <a:ext cx="621792" cy="621792"/>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4754880" y="2167128"/>
            <a:ext cx="310896" cy="310896"/>
          </a:xfrm>
          <a:prstGeom prst="rect">
            <a:avLst/>
          </a:prstGeom>
        </p:spPr>
      </p:pic>
      <p:sp>
        <p:nvSpPr>
          <p:cNvPr id="12" name="Text 8"/>
          <p:cNvSpPr txBox="1"/>
          <p:nvPr/>
        </p:nvSpPr>
        <p:spPr>
          <a:xfrm>
            <a:off x="5376672" y="2011680"/>
            <a:ext cx="2377440" cy="621792"/>
          </a:xfrm>
          <a:prstGeom prst="rect">
            <a:avLst/>
          </a:prstGeom>
          <a:noFill/>
          <a:ln/>
        </p:spPr>
        <p:txBody>
          <a:bodyPr wrap="square" lIns="0" tIns="0" rIns="0" bIns="0" rtlCol="0" anchor="ctr"/>
          <a:lstStyle/>
          <a:p>
            <a:pPr algn="l" indent="0" marL="0">
              <a:buNone/>
            </a:pPr>
            <a:r>
              <a:rPr lang="en-US" sz="1800" b="1" dirty="0">
                <a:solidFill>
                  <a:schemeClr val="tx2"/>
                </a:solidFill>
              </a:rPr>
              <a:t>Renewal batch job</a:t>
            </a:r>
            <a:endParaRPr lang="en-US" sz="1800" dirty="0"/>
          </a:p>
        </p:txBody>
      </p:sp>
      <p:sp>
        <p:nvSpPr>
          <p:cNvPr id="13" name="Text 9"/>
          <p:cNvSpPr txBox="1"/>
          <p:nvPr/>
        </p:nvSpPr>
        <p:spPr>
          <a:xfrm>
            <a:off x="4599432" y="2834640"/>
            <a:ext cx="3017520" cy="27432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Renews every policy whose term has ended</a:t>
            </a:r>
            <a:endParaRPr lang="en-US" sz="1400" dirty="0"/>
          </a:p>
          <a:p>
            <a:pPr algn="l" marL="342900" indent="-342900">
              <a:spcAft>
                <a:spcPts val="800"/>
              </a:spcAft>
              <a:buSzPct val="100000"/>
              <a:buChar char="•"/>
            </a:pPr>
            <a:r>
              <a:rPr lang="en-US" sz="1400" dirty="0">
                <a:solidFill>
                  <a:schemeClr val="tx1"/>
                </a:solidFill>
              </a:rPr>
              <a:t>One bulk_write round trip: 304 policies in 111 ms</a:t>
            </a:r>
            <a:endParaRPr lang="en-US" sz="1400" dirty="0"/>
          </a:p>
          <a:p>
            <a:pPr algn="l" marL="342900" indent="-342900">
              <a:spcAft>
                <a:spcPts val="800"/>
              </a:spcAft>
              <a:buSzPct val="100000"/>
              <a:buChar char="•"/>
            </a:pPr>
            <a:r>
              <a:rPr lang="en-US" sz="1400" dirty="0">
                <a:solidFill>
                  <a:schemeClr val="tx1"/>
                </a:solidFill>
              </a:rPr>
              <a:t>Guarded by the old end date, so a second run renews 0</a:t>
            </a:r>
            <a:endParaRPr lang="en-US" sz="1400" dirty="0"/>
          </a:p>
          <a:p>
            <a:pPr algn="l" marL="342900" indent="-342900">
              <a:spcAft>
                <a:spcPts val="800"/>
              </a:spcAft>
              <a:buSzPct val="100000"/>
              <a:buChar char="•"/>
            </a:pPr>
            <a:r>
              <a:rPr lang="en-US" sz="1400" dirty="0">
                <a:solidFill>
                  <a:schemeClr val="tx1"/>
                </a:solidFill>
              </a:rPr>
              <a:t>Also runs at start-up</a:t>
            </a:r>
            <a:endParaRPr lang="en-US" sz="1400" dirty="0"/>
          </a:p>
        </p:txBody>
      </p:sp>
      <p:sp>
        <p:nvSpPr>
          <p:cNvPr id="14" name="Card 190"/>
          <p:cNvSpPr/>
          <p:nvPr/>
        </p:nvSpPr>
        <p:spPr>
          <a:xfrm>
            <a:off x="8101584" y="1783080"/>
            <a:ext cx="3538728" cy="3886200"/>
          </a:xfrm>
          <a:prstGeom prst="roundRect">
            <a:avLst>
              <a:gd name="adj" fmla="val 2584"/>
            </a:avLst>
          </a:prstGeom>
          <a:solidFill>
            <a:schemeClr val="bg2"/>
          </a:solidFill>
          <a:ln/>
        </p:spPr>
      </p:sp>
      <p:sp>
        <p:nvSpPr>
          <p:cNvPr id="15" name="Dot 191"/>
          <p:cNvSpPr/>
          <p:nvPr/>
        </p:nvSpPr>
        <p:spPr>
          <a:xfrm>
            <a:off x="8375904" y="2011680"/>
            <a:ext cx="621792" cy="621792"/>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8531352" y="2167128"/>
            <a:ext cx="310896" cy="310896"/>
          </a:xfrm>
          <a:prstGeom prst="rect">
            <a:avLst/>
          </a:prstGeom>
        </p:spPr>
      </p:pic>
      <p:sp>
        <p:nvSpPr>
          <p:cNvPr id="17" name="Text 12"/>
          <p:cNvSpPr txBox="1"/>
          <p:nvPr/>
        </p:nvSpPr>
        <p:spPr>
          <a:xfrm>
            <a:off x="9153144" y="2011680"/>
            <a:ext cx="2377440" cy="621792"/>
          </a:xfrm>
          <a:prstGeom prst="rect">
            <a:avLst/>
          </a:prstGeom>
          <a:noFill/>
          <a:ln/>
        </p:spPr>
        <p:txBody>
          <a:bodyPr wrap="square" lIns="0" tIns="0" rIns="0" bIns="0" rtlCol="0" anchor="ctr"/>
          <a:lstStyle/>
          <a:p>
            <a:pPr algn="l" indent="0" marL="0">
              <a:buNone/>
            </a:pPr>
            <a:r>
              <a:rPr lang="en-US" sz="1800" b="1" dirty="0">
                <a:solidFill>
                  <a:schemeClr val="tx2"/>
                </a:solidFill>
              </a:rPr>
              <a:t>Backup and restore</a:t>
            </a:r>
            <a:endParaRPr lang="en-US" sz="1800" dirty="0"/>
          </a:p>
        </p:txBody>
      </p:sp>
      <p:sp>
        <p:nvSpPr>
          <p:cNvPr id="18" name="Text 13"/>
          <p:cNvSpPr txBox="1"/>
          <p:nvPr/>
        </p:nvSpPr>
        <p:spPr>
          <a:xfrm>
            <a:off x="8375904" y="2834640"/>
            <a:ext cx="3017520" cy="27432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Every collection to Extended JSON plus a manifest</a:t>
            </a:r>
            <a:endParaRPr lang="en-US" sz="1400" dirty="0"/>
          </a:p>
          <a:p>
            <a:pPr algn="l" marL="342900" indent="-342900">
              <a:spcAft>
                <a:spcPts val="800"/>
              </a:spcAft>
              <a:buSzPct val="100000"/>
              <a:buChar char="•"/>
            </a:pPr>
            <a:r>
              <a:rPr lang="en-US" sz="1400" dirty="0">
                <a:solidFill>
                  <a:schemeClr val="tx1"/>
                </a:solidFill>
              </a:rPr>
              <a:t>Backup of 17,076 documents: 1.5 s</a:t>
            </a:r>
            <a:endParaRPr lang="en-US" sz="1400" dirty="0"/>
          </a:p>
          <a:p>
            <a:pPr algn="l" marL="342900" indent="-342900">
              <a:spcAft>
                <a:spcPts val="800"/>
              </a:spcAft>
              <a:buSzPct val="100000"/>
              <a:buChar char="•"/>
            </a:pPr>
            <a:r>
              <a:rPr lang="en-US" sz="1400" dirty="0">
                <a:solidFill>
                  <a:schemeClr val="tx1"/>
                </a:solidFill>
              </a:rPr>
              <a:t>Restore re-applies validators and indexes (10.6 s)</a:t>
            </a:r>
            <a:endParaRPr lang="en-US" sz="1400" dirty="0"/>
          </a:p>
          <a:p>
            <a:pPr algn="l" marL="342900" indent="-342900">
              <a:spcAft>
                <a:spcPts val="800"/>
              </a:spcAft>
              <a:buSzPct val="100000"/>
              <a:buChar char="•"/>
            </a:pPr>
            <a:r>
              <a:rPr lang="en-US" sz="1400" dirty="0">
                <a:solidFill>
                  <a:schemeClr val="tx1"/>
                </a:solidFill>
              </a:rPr>
              <a:t>mongodump and Atlas point-in-time restore in production</a:t>
            </a:r>
            <a:endParaRPr lang="en-US" sz="1400" dirty="0"/>
          </a:p>
        </p:txBody>
      </p:sp>
      <p:sp>
        <p:nvSpPr>
          <p:cNvPr id="19" name="Text 14"/>
          <p:cNvSpPr txBox="1"/>
          <p:nvPr/>
        </p:nvSpPr>
        <p:spPr>
          <a:xfrm>
            <a:off x="548640" y="5806440"/>
            <a:ext cx="11094415" cy="347472"/>
          </a:xfrm>
          <a:prstGeom prst="rect">
            <a:avLst/>
          </a:prstGeom>
          <a:noFill/>
          <a:ln/>
        </p:spPr>
        <p:txBody>
          <a:bodyPr wrap="square" lIns="0" tIns="0" rIns="0" bIns="0" rtlCol="0" anchor="ctr"/>
          <a:lstStyle/>
          <a:p>
            <a:pPr algn="l" indent="0" marL="0">
              <a:buNone/>
            </a:pPr>
            <a:r>
              <a:rPr lang="en-US" sz="1200" dirty="0">
                <a:solidFill>
                  <a:schemeClr val="accent6"/>
                </a:solidFill>
              </a:rPr>
              <a:t>Timings measured on MongoDB 8.0 (single-node replica set). The audit log also has a TTL index that deletes entries after three years.</a:t>
            </a:r>
            <a:endParaRPr lang="en-US" sz="12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SCALING</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Scaling plan: sharding the claims</a:t>
            </a:r>
            <a:endParaRPr lang="en-US" sz="3600" dirty="0"/>
          </a:p>
        </p:txBody>
      </p:sp>
      <p:graphicFrame>
        <p:nvGraphicFramePr>
          <p:cNvPr id="31" name="Shard keys table"/>
          <p:cNvGraphicFramePr>
            <a:graphicFrameLocks noGrp="1"/>
          </p:cNvGraphicFramePr>
          <p:nvPr>
            <p:extLst>
              <p:ext uri="{D42A27DB-BD31-4B8C-83A1-F6EECF244321}">
                <p14:modId xmlns:p14="http://schemas.microsoft.com/office/powerpoint/2010/main" val="1579011935"/>
              </p:ext>
            </p:extLst>
          </p:nvPr>
        </p:nvGraphicFramePr>
        <p:xfrm>
          <a:off x="548640" y="1783080"/>
          <a:ext cx="6949440" cy="914400"/>
        </p:xfrm>
        <a:graphic>
          <a:graphicData uri="http://schemas.openxmlformats.org/drawingml/2006/table">
            <a:tbl>
              <a:tblPr/>
              <a:tblGrid>
                <a:gridCol w="1325880"/>
                <a:gridCol w="2743200"/>
                <a:gridCol w="2880360"/>
              </a:tblGrid>
              <a:tr h="384048">
                <a:tc>
                  <a:txBody>
                    <a:bodyPr/>
                    <a:lstStyle/>
                    <a:p>
                      <a:pPr indent="0" marL="0">
                        <a:buNone/>
                      </a:pPr>
                      <a:r>
                        <a:rPr lang="en-US" sz="1400" b="1" dirty="0">
                          <a:solidFill>
                            <a:schemeClr val="bg1"/>
                          </a:solidFill>
                        </a:rPr>
                        <a:t>Collection</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Shard key</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claims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member_id: hashed }</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Even writes; a member's history stays on one shard</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66928">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policies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policy_number: hashed }</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Point lookups by policy number</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66928">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payments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claim_number: hashed }</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Keeps the one-payment-per-claim unique index possible</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66928">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audit_logs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entity_id: hashed }</a:t>
                      </a:r>
                      <a:endParaRPr lang="en-US" sz="11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Spreads append-heavy writes</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r h="566928">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masters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200" dirty="0">
                          <a:solidFill>
                            <a:schemeClr val="tx1"/>
                          </a:solidFill>
                        </a:rPr>
                        <a:t>not sharded</a:t>
                      </a:r>
                      <a:endParaRPr lang="en-US" sz="12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c>
                  <a:txBody>
                    <a:bodyPr/>
                    <a:lstStyle/>
                    <a:p>
                      <a:pPr indent="0" marL="0">
                        <a:buNone/>
                      </a:pPr>
                      <a:r>
                        <a:rPr lang="en-US" sz="1400" dirty="0">
                          <a:solidFill>
                            <a:schemeClr val="tx1"/>
                          </a:solidFill>
                        </a:rPr>
                        <a:t>Small and read-mostly; cheap to $lookup</a:t>
                      </a:r>
                      <a:endParaRPr lang="en-US" sz="1400" dirty="0"/>
                    </a:p>
                  </a:txBody>
                  <a:tcPr marL="91440" marR="91440" marT="36576" marB="36576" anchor="ctr">
                    <a:lnL w="9525" cap="flat" cmpd="sng" algn="ctr">
                      <a:solidFill>
                        <a:srgbClr val="DCE7E6"/>
                      </a:solidFill>
                      <a:prstDash val="solid"/>
                      <a:round/>
                      <a:headEnd type="none" w="med" len="med"/>
                      <a:tailEnd type="none" w="med" len="med"/>
                    </a:lnL>
                    <a:lnR w="9525" cap="flat" cmpd="sng" algn="ctr">
                      <a:solidFill>
                        <a:srgbClr val="DCE7E6"/>
                      </a:solidFill>
                      <a:prstDash val="solid"/>
                      <a:round/>
                      <a:headEnd type="none" w="med" len="med"/>
                      <a:tailEnd type="none" w="med" len="med"/>
                    </a:lnR>
                    <a:lnT w="9525" cap="flat" cmpd="sng" algn="ctr">
                      <a:solidFill>
                        <a:srgbClr val="DCE7E6"/>
                      </a:solidFill>
                      <a:prstDash val="solid"/>
                      <a:round/>
                      <a:headEnd type="none" w="med" len="med"/>
                      <a:tailEnd type="none" w="med" len="med"/>
                    </a:lnT>
                    <a:lnB w="9525" cap="flat" cmpd="sng" algn="ctr">
                      <a:solidFill>
                        <a:srgbClr val="DCE7E6"/>
                      </a:solidFill>
                      <a:prstDash val="solid"/>
                      <a:round/>
                      <a:headEnd type="none" w="med" len="med"/>
                      <a:tailEnd type="none" w="med" len="med"/>
                    </a:lnB>
                  </a:tcPr>
                </a:tc>
              </a:tr>
            </a:tbl>
          </a:graphicData>
        </a:graphic>
      </p:graphicFrame>
      <p:sp>
        <p:nvSpPr>
          <p:cNvPr id="5" name="Shard note"/>
          <p:cNvSpPr/>
          <p:nvPr/>
        </p:nvSpPr>
        <p:spPr>
          <a:xfrm>
            <a:off x="548640" y="5212080"/>
            <a:ext cx="6949440" cy="941832"/>
          </a:xfrm>
          <a:prstGeom prst="roundRect">
            <a:avLst>
              <a:gd name="adj" fmla="val 9709"/>
            </a:avLst>
          </a:prstGeom>
          <a:solidFill>
            <a:schemeClr val="accent2">
              <a:alpha val="15000"/>
            </a:schemeClr>
          </a:solidFill>
          <a:ln/>
        </p:spPr>
      </p:sp>
      <p:sp>
        <p:nvSpPr>
          <p:cNvPr id="6" name="Text 3"/>
          <p:cNvSpPr txBox="1"/>
          <p:nvPr/>
        </p:nvSpPr>
        <p:spPr>
          <a:xfrm>
            <a:off x="822960" y="5212080"/>
            <a:ext cx="6400800" cy="941832"/>
          </a:xfrm>
          <a:prstGeom prst="rect">
            <a:avLst/>
          </a:prstGeom>
          <a:noFill/>
          <a:ln/>
        </p:spPr>
        <p:txBody>
          <a:bodyPr wrap="square" lIns="0" tIns="0" rIns="0" bIns="0" rtlCol="0" anchor="ctr"/>
          <a:lstStyle/>
          <a:p>
            <a:pPr algn="l" indent="0" marL="0">
              <a:buNone/>
            </a:pPr>
            <a:r>
              <a:rPr lang="en-US" sz="1400" dirty="0">
                <a:solidFill>
                  <a:schemeClr val="tx1"/>
                </a:solidFill>
              </a:rPr>
              <a:t>Atlas M0 cannot shard, so this is the growth plan. Transactions still work across shards (MongoDB 4.2+), so settlement is unchanged.</a:t>
            </a:r>
            <a:endParaRPr lang="en-US" sz="1400" dirty="0"/>
          </a:p>
        </p:txBody>
      </p:sp>
      <p:sp>
        <p:nvSpPr>
          <p:cNvPr id="7" name="mongos box"/>
          <p:cNvSpPr/>
          <p:nvPr/>
        </p:nvSpPr>
        <p:spPr>
          <a:xfrm>
            <a:off x="8732520" y="1783080"/>
            <a:ext cx="2103120" cy="548640"/>
          </a:xfrm>
          <a:prstGeom prst="roundRect">
            <a:avLst>
              <a:gd name="adj" fmla="val 16667"/>
            </a:avLst>
          </a:prstGeom>
          <a:solidFill>
            <a:schemeClr val="tx2"/>
          </a:solidFill>
          <a:ln/>
        </p:spPr>
      </p:sp>
      <p:sp>
        <p:nvSpPr>
          <p:cNvPr id="8" name="Text 5"/>
          <p:cNvSpPr txBox="1"/>
          <p:nvPr/>
        </p:nvSpPr>
        <p:spPr>
          <a:xfrm>
            <a:off x="8732520" y="178308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mongos router</a:t>
            </a:r>
            <a:endParaRPr lang="en-US" sz="1400" dirty="0"/>
          </a:p>
        </p:txBody>
      </p:sp>
      <p:sp>
        <p:nvSpPr>
          <p:cNvPr id="9" name="Connector 192"/>
          <p:cNvSpPr/>
          <p:nvPr/>
        </p:nvSpPr>
        <p:spPr>
          <a:xfrm flipH="1">
            <a:off x="8321040" y="2331720"/>
            <a:ext cx="1463040" cy="411480"/>
          </a:xfrm>
          <a:prstGeom prst="line">
            <a:avLst/>
          </a:prstGeom>
          <a:noFill/>
          <a:ln w="19050">
            <a:solidFill>
              <a:schemeClr val="accent6"/>
            </a:solidFill>
            <a:prstDash val="solid"/>
          </a:ln>
        </p:spPr>
      </p:sp>
      <p:sp>
        <p:nvSpPr>
          <p:cNvPr id="10" name="Shard box 193"/>
          <p:cNvSpPr/>
          <p:nvPr/>
        </p:nvSpPr>
        <p:spPr>
          <a:xfrm>
            <a:off x="7726680" y="2743200"/>
            <a:ext cx="1188720" cy="822960"/>
          </a:xfrm>
          <a:prstGeom prst="roundRect">
            <a:avLst>
              <a:gd name="adj" fmla="val 11111"/>
            </a:avLst>
          </a:prstGeom>
          <a:solidFill>
            <a:schemeClr val="accent1"/>
          </a:solidFill>
          <a:ln/>
        </p:spPr>
      </p:sp>
      <p:sp>
        <p:nvSpPr>
          <p:cNvPr id="11" name="Text 8"/>
          <p:cNvSpPr txBox="1"/>
          <p:nvPr/>
        </p:nvSpPr>
        <p:spPr>
          <a:xfrm>
            <a:off x="7726680" y="2788920"/>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Shard A</a:t>
            </a:r>
            <a:endParaRPr lang="en-US" sz="1300" dirty="0"/>
          </a:p>
        </p:txBody>
      </p:sp>
      <p:sp>
        <p:nvSpPr>
          <p:cNvPr id="12" name="Text 9"/>
          <p:cNvSpPr txBox="1"/>
          <p:nvPr/>
        </p:nvSpPr>
        <p:spPr>
          <a:xfrm>
            <a:off x="7726680" y="3154680"/>
            <a:ext cx="1188720" cy="329184"/>
          </a:xfrm>
          <a:prstGeom prst="rect">
            <a:avLst/>
          </a:prstGeom>
          <a:noFill/>
          <a:ln/>
        </p:spPr>
        <p:txBody>
          <a:bodyPr wrap="square" lIns="0" tIns="0" rIns="0" bIns="0" rtlCol="0" anchor="ctr"/>
          <a:lstStyle/>
          <a:p>
            <a:pPr algn="ctr" indent="0" marL="0">
              <a:buNone/>
            </a:pPr>
            <a:r>
              <a:rPr lang="en-US" sz="1200" dirty="0">
                <a:solidFill>
                  <a:schemeClr val="bg2"/>
                </a:solidFill>
              </a:rPr>
              <a:t>~33%</a:t>
            </a:r>
            <a:endParaRPr lang="en-US" sz="1200" dirty="0"/>
          </a:p>
        </p:txBody>
      </p:sp>
      <p:sp>
        <p:nvSpPr>
          <p:cNvPr id="13" name="Connector 194"/>
          <p:cNvSpPr/>
          <p:nvPr/>
        </p:nvSpPr>
        <p:spPr>
          <a:xfrm flipH="1">
            <a:off x="9692640" y="2331720"/>
            <a:ext cx="91440" cy="411480"/>
          </a:xfrm>
          <a:prstGeom prst="line">
            <a:avLst/>
          </a:prstGeom>
          <a:noFill/>
          <a:ln w="19050">
            <a:solidFill>
              <a:schemeClr val="accent6"/>
            </a:solidFill>
            <a:prstDash val="solid"/>
          </a:ln>
        </p:spPr>
      </p:sp>
      <p:sp>
        <p:nvSpPr>
          <p:cNvPr id="14" name="Shard box 195"/>
          <p:cNvSpPr/>
          <p:nvPr/>
        </p:nvSpPr>
        <p:spPr>
          <a:xfrm>
            <a:off x="9098280" y="2743200"/>
            <a:ext cx="1188720" cy="822960"/>
          </a:xfrm>
          <a:prstGeom prst="roundRect">
            <a:avLst>
              <a:gd name="adj" fmla="val 11111"/>
            </a:avLst>
          </a:prstGeom>
          <a:solidFill>
            <a:schemeClr val="accent1"/>
          </a:solidFill>
          <a:ln/>
        </p:spPr>
      </p:sp>
      <p:sp>
        <p:nvSpPr>
          <p:cNvPr id="15" name="Text 12"/>
          <p:cNvSpPr txBox="1"/>
          <p:nvPr/>
        </p:nvSpPr>
        <p:spPr>
          <a:xfrm>
            <a:off x="9098280" y="2788920"/>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Shard B</a:t>
            </a:r>
            <a:endParaRPr lang="en-US" sz="1300" dirty="0"/>
          </a:p>
        </p:txBody>
      </p:sp>
      <p:sp>
        <p:nvSpPr>
          <p:cNvPr id="16" name="Text 13"/>
          <p:cNvSpPr txBox="1"/>
          <p:nvPr/>
        </p:nvSpPr>
        <p:spPr>
          <a:xfrm>
            <a:off x="9098280" y="3154680"/>
            <a:ext cx="1188720" cy="329184"/>
          </a:xfrm>
          <a:prstGeom prst="rect">
            <a:avLst/>
          </a:prstGeom>
          <a:noFill/>
          <a:ln/>
        </p:spPr>
        <p:txBody>
          <a:bodyPr wrap="square" lIns="0" tIns="0" rIns="0" bIns="0" rtlCol="0" anchor="ctr"/>
          <a:lstStyle/>
          <a:p>
            <a:pPr algn="ctr" indent="0" marL="0">
              <a:buNone/>
            </a:pPr>
            <a:r>
              <a:rPr lang="en-US" sz="1200" dirty="0">
                <a:solidFill>
                  <a:schemeClr val="bg2"/>
                </a:solidFill>
              </a:rPr>
              <a:t>~33%</a:t>
            </a:r>
            <a:endParaRPr lang="en-US" sz="1200" dirty="0"/>
          </a:p>
        </p:txBody>
      </p:sp>
      <p:sp>
        <p:nvSpPr>
          <p:cNvPr id="17" name="Connector 196"/>
          <p:cNvSpPr/>
          <p:nvPr/>
        </p:nvSpPr>
        <p:spPr>
          <a:xfrm>
            <a:off x="9784080" y="2331720"/>
            <a:ext cx="1280160" cy="411480"/>
          </a:xfrm>
          <a:prstGeom prst="line">
            <a:avLst/>
          </a:prstGeom>
          <a:noFill/>
          <a:ln w="19050">
            <a:solidFill>
              <a:schemeClr val="accent6"/>
            </a:solidFill>
            <a:prstDash val="solid"/>
          </a:ln>
        </p:spPr>
      </p:sp>
      <p:sp>
        <p:nvSpPr>
          <p:cNvPr id="18" name="Shard box 197"/>
          <p:cNvSpPr/>
          <p:nvPr/>
        </p:nvSpPr>
        <p:spPr>
          <a:xfrm>
            <a:off x="10469880" y="2743200"/>
            <a:ext cx="1188720" cy="822960"/>
          </a:xfrm>
          <a:prstGeom prst="roundRect">
            <a:avLst>
              <a:gd name="adj" fmla="val 11111"/>
            </a:avLst>
          </a:prstGeom>
          <a:solidFill>
            <a:schemeClr val="accent1"/>
          </a:solidFill>
          <a:ln/>
        </p:spPr>
      </p:sp>
      <p:sp>
        <p:nvSpPr>
          <p:cNvPr id="19" name="Text 16"/>
          <p:cNvSpPr txBox="1"/>
          <p:nvPr/>
        </p:nvSpPr>
        <p:spPr>
          <a:xfrm>
            <a:off x="10469880" y="2788920"/>
            <a:ext cx="1188720" cy="365760"/>
          </a:xfrm>
          <a:prstGeom prst="rect">
            <a:avLst/>
          </a:prstGeom>
          <a:noFill/>
          <a:ln/>
        </p:spPr>
        <p:txBody>
          <a:bodyPr wrap="square" lIns="0" tIns="0" rIns="0" bIns="0" rtlCol="0" anchor="ctr"/>
          <a:lstStyle/>
          <a:p>
            <a:pPr algn="ctr" indent="0" marL="0">
              <a:buNone/>
            </a:pPr>
            <a:r>
              <a:rPr lang="en-US" sz="1300" b="1" dirty="0">
                <a:solidFill>
                  <a:schemeClr val="bg1"/>
                </a:solidFill>
              </a:rPr>
              <a:t>Shard C</a:t>
            </a:r>
            <a:endParaRPr lang="en-US" sz="1300" dirty="0"/>
          </a:p>
        </p:txBody>
      </p:sp>
      <p:sp>
        <p:nvSpPr>
          <p:cNvPr id="20" name="Text 17"/>
          <p:cNvSpPr txBox="1"/>
          <p:nvPr/>
        </p:nvSpPr>
        <p:spPr>
          <a:xfrm>
            <a:off x="10469880" y="3154680"/>
            <a:ext cx="1188720" cy="329184"/>
          </a:xfrm>
          <a:prstGeom prst="rect">
            <a:avLst/>
          </a:prstGeom>
          <a:noFill/>
          <a:ln/>
        </p:spPr>
        <p:txBody>
          <a:bodyPr wrap="square" lIns="0" tIns="0" rIns="0" bIns="0" rtlCol="0" anchor="ctr"/>
          <a:lstStyle/>
          <a:p>
            <a:pPr algn="ctr" indent="0" marL="0">
              <a:buNone/>
            </a:pPr>
            <a:r>
              <a:rPr lang="en-US" sz="1200" dirty="0">
                <a:solidFill>
                  <a:schemeClr val="bg2"/>
                </a:solidFill>
              </a:rPr>
              <a:t>~33%</a:t>
            </a:r>
            <a:endParaRPr lang="en-US" sz="1200" dirty="0"/>
          </a:p>
        </p:txBody>
      </p:sp>
      <p:sp>
        <p:nvSpPr>
          <p:cNvPr id="21" name="Text 18"/>
          <p:cNvSpPr txBox="1"/>
          <p:nvPr/>
        </p:nvSpPr>
        <p:spPr>
          <a:xfrm>
            <a:off x="7726680" y="3794760"/>
            <a:ext cx="3913632" cy="310896"/>
          </a:xfrm>
          <a:prstGeom prst="rect">
            <a:avLst/>
          </a:prstGeom>
          <a:noFill/>
          <a:ln/>
        </p:spPr>
        <p:txBody>
          <a:bodyPr wrap="square" lIns="0" tIns="0" rIns="0" bIns="0" rtlCol="0" anchor="ctr"/>
          <a:lstStyle/>
          <a:p>
            <a:pPr algn="l" indent="0" marL="0">
              <a:buNone/>
            </a:pPr>
            <a:r>
              <a:rPr lang="en-US" sz="1500" b="1" dirty="0">
                <a:solidFill>
                  <a:schemeClr val="tx2"/>
                </a:solidFill>
              </a:rPr>
              <a:t>Keys rejected</a:t>
            </a:r>
            <a:endParaRPr lang="en-US" sz="1500" dirty="0"/>
          </a:p>
        </p:txBody>
      </p:sp>
      <p:sp>
        <p:nvSpPr>
          <p:cNvPr id="22" name="Text 19"/>
          <p:cNvSpPr txBox="1"/>
          <p:nvPr/>
        </p:nvSpPr>
        <p:spPr>
          <a:xfrm>
            <a:off x="7726680" y="4160520"/>
            <a:ext cx="3913632" cy="196596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claim_number: always increasing, so every insert hits one shard</a:t>
            </a:r>
            <a:endParaRPr lang="en-US" sz="1300" dirty="0"/>
          </a:p>
          <a:p>
            <a:pPr algn="l" marL="342900" indent="-342900">
              <a:spcAft>
                <a:spcPts val="600"/>
              </a:spcAft>
              <a:buSzPct val="100000"/>
              <a:buChar char="•"/>
            </a:pPr>
            <a:r>
              <a:rPr lang="en-US" sz="1300" dirty="0">
                <a:solidFill>
                  <a:schemeClr val="tx1"/>
                </a:solidFill>
              </a:rPr>
              <a:t>status: too few values, and it changes</a:t>
            </a:r>
            <a:endParaRPr lang="en-US" sz="1300" dirty="0"/>
          </a:p>
          <a:p>
            <a:pPr algn="l" marL="342900" indent="-342900">
              <a:spcAft>
                <a:spcPts val="600"/>
              </a:spcAft>
              <a:buSzPct val="100000"/>
              <a:buChar char="•"/>
            </a:pPr>
            <a:r>
              <a:rPr lang="en-US" sz="1300" dirty="0">
                <a:solidFill>
                  <a:schemeClr val="tx1"/>
                </a:solidFill>
              </a:rPr>
              <a:t>admission_date: all current writes in one range</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APPLICATION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Web application: operations dashboard</a:t>
            </a:r>
            <a:endParaRPr lang="en-US" sz="3600" dirty="0"/>
          </a:p>
        </p:txBody>
      </p:sp>
      <p:sp>
        <p:nvSpPr>
          <p:cNvPr id="4" name="Frame 198"/>
          <p:cNvSpPr/>
          <p:nvPr/>
        </p:nvSpPr>
        <p:spPr>
          <a:xfrm>
            <a:off x="548640" y="1773936"/>
            <a:ext cx="7287768" cy="4321842"/>
          </a:xfrm>
          <a:prstGeom prst="roundRect">
            <a:avLst>
              <a:gd name="adj" fmla="val 1269"/>
            </a:avLst>
          </a:prstGeom>
          <a:solidFill>
            <a:schemeClr val="bg1"/>
          </a:solidFill>
          <a:ln w="12700">
            <a:solidFill>
              <a:srgbClr val="DCE7E6"/>
            </a:solidFill>
            <a:prstDash val="solid"/>
          </a:ln>
          <a:effectLst>
            <a:outerShdw sx="100000" sy="100000" kx="0" ky="0" algn="bl" rotWithShape="0" blurRad="114300" dist="31750" dir="5400000">
              <a:srgbClr val="000000">
                <a:alpha val="14000"/>
              </a:srgbClr>
            </a:outerShdw>
          </a:effectLst>
        </p:spPr>
      </p:sp>
      <p:pic>
        <p:nvPicPr>
          <p:cNvPr id="5" name="Image 0" descr="Screenshot of the ClaimSure operations dashboard">    </p:cNvPr>
          <p:cNvPicPr>
            <a:picLocks noChangeAspect="1"/>
          </p:cNvPicPr>
          <p:nvPr/>
        </p:nvPicPr>
        <p:blipFill>
          <a:blip r:embed="rId1"/>
          <a:stretch>
            <a:fillRect/>
          </a:stretch>
        </p:blipFill>
        <p:spPr>
          <a:xfrm>
            <a:off x="603504" y="1828800"/>
            <a:ext cx="7178040" cy="4212114"/>
          </a:xfrm>
          <a:prstGeom prst="rect">
            <a:avLst/>
          </a:prstGeom>
        </p:spPr>
      </p:pic>
      <p:sp>
        <p:nvSpPr>
          <p:cNvPr id="6" name="Dot 199"/>
          <p:cNvSpPr/>
          <p:nvPr/>
        </p:nvSpPr>
        <p:spPr>
          <a:xfrm>
            <a:off x="8138160" y="1828800"/>
            <a:ext cx="603504" cy="603504"/>
          </a:xfrm>
          <a:prstGeom prst="ellipse">
            <a:avLst/>
          </a:prstGeom>
          <a:solidFill>
            <a:schemeClr val="accent1"/>
          </a:solidFill>
          <a:ln/>
        </p:spPr>
      </p:sp>
      <p:pic>
        <p:nvPicPr>
          <p:cNvPr id="7" name="Image 1" descr="icon">    </p:cNvPr>
          <p:cNvPicPr>
            <a:picLocks noChangeAspect="1"/>
          </p:cNvPicPr>
          <p:nvPr/>
        </p:nvPicPr>
        <p:blipFill>
          <a:blip r:embed="rId2"/>
          <a:stretch>
            <a:fillRect/>
          </a:stretch>
        </p:blipFill>
        <p:spPr>
          <a:xfrm>
            <a:off x="8289036" y="1979676"/>
            <a:ext cx="301752" cy="301752"/>
          </a:xfrm>
          <a:prstGeom prst="rect">
            <a:avLst/>
          </a:prstGeom>
        </p:spPr>
      </p:pic>
      <p:sp>
        <p:nvSpPr>
          <p:cNvPr id="8" name="Text 4"/>
          <p:cNvSpPr txBox="1"/>
          <p:nvPr/>
        </p:nvSpPr>
        <p:spPr>
          <a:xfrm>
            <a:off x="8915400" y="1810512"/>
            <a:ext cx="2724912" cy="603504"/>
          </a:xfrm>
          <a:prstGeom prst="rect">
            <a:avLst/>
          </a:prstGeom>
          <a:noFill/>
          <a:ln/>
        </p:spPr>
        <p:txBody>
          <a:bodyPr wrap="square" lIns="0" tIns="0" rIns="0" bIns="0" rtlCol="0" anchor="ctr"/>
          <a:lstStyle/>
          <a:p>
            <a:pPr algn="l" indent="0" marL="0">
              <a:buNone/>
            </a:pPr>
            <a:r>
              <a:rPr lang="en-US" sz="1600" b="1" dirty="0">
                <a:solidFill>
                  <a:schemeClr val="tx2"/>
                </a:solidFill>
              </a:rPr>
              <a:t>One $facet for the KPI row</a:t>
            </a:r>
            <a:endParaRPr lang="en-US" sz="1600" dirty="0"/>
          </a:p>
        </p:txBody>
      </p:sp>
      <p:sp>
        <p:nvSpPr>
          <p:cNvPr id="9" name="Text 5"/>
          <p:cNvSpPr txBox="1"/>
          <p:nvPr/>
        </p:nvSpPr>
        <p:spPr>
          <a:xfrm>
            <a:off x="8138160" y="2505456"/>
            <a:ext cx="3502152" cy="658368"/>
          </a:xfrm>
          <a:prstGeom prst="rect">
            <a:avLst/>
          </a:prstGeom>
          <a:noFill/>
          <a:ln/>
        </p:spPr>
        <p:txBody>
          <a:bodyPr wrap="square" lIns="0" tIns="0" rIns="0" bIns="0" rtlCol="0" anchor="t"/>
          <a:lstStyle/>
          <a:p>
            <a:pPr algn="l" indent="0" marL="0">
              <a:buNone/>
            </a:pPr>
            <a:r>
              <a:rPr lang="en-US" sz="1300" dirty="0">
                <a:solidFill>
                  <a:schemeClr val="tx1"/>
                </a:solidFill>
              </a:rPr>
              <a:t>Totals, status counts, turnaround and fraud alerts come from a single aggregation.</a:t>
            </a:r>
            <a:endParaRPr lang="en-US" sz="1300" dirty="0"/>
          </a:p>
        </p:txBody>
      </p:sp>
      <p:sp>
        <p:nvSpPr>
          <p:cNvPr id="10" name="Dot 200"/>
          <p:cNvSpPr/>
          <p:nvPr/>
        </p:nvSpPr>
        <p:spPr>
          <a:xfrm>
            <a:off x="8138160" y="3246120"/>
            <a:ext cx="603504" cy="603504"/>
          </a:xfrm>
          <a:prstGeom prst="ellipse">
            <a:avLst/>
          </a:prstGeom>
          <a:solidFill>
            <a:schemeClr val="accent1"/>
          </a:solidFill>
          <a:ln/>
        </p:spPr>
      </p:sp>
      <p:pic>
        <p:nvPicPr>
          <p:cNvPr id="11" name="Image 2" descr="icon">    </p:cNvPr>
          <p:cNvPicPr>
            <a:picLocks noChangeAspect="1"/>
          </p:cNvPicPr>
          <p:nvPr/>
        </p:nvPicPr>
        <p:blipFill>
          <a:blip r:embed="rId3"/>
          <a:stretch>
            <a:fillRect/>
          </a:stretch>
        </p:blipFill>
        <p:spPr>
          <a:xfrm>
            <a:off x="8289036" y="3396996"/>
            <a:ext cx="301752" cy="301752"/>
          </a:xfrm>
          <a:prstGeom prst="rect">
            <a:avLst/>
          </a:prstGeom>
        </p:spPr>
      </p:pic>
      <p:sp>
        <p:nvSpPr>
          <p:cNvPr id="12" name="Text 7"/>
          <p:cNvSpPr txBox="1"/>
          <p:nvPr/>
        </p:nvSpPr>
        <p:spPr>
          <a:xfrm>
            <a:off x="8915400" y="3227832"/>
            <a:ext cx="2724912" cy="603504"/>
          </a:xfrm>
          <a:prstGeom prst="rect">
            <a:avLst/>
          </a:prstGeom>
          <a:noFill/>
          <a:ln/>
        </p:spPr>
        <p:txBody>
          <a:bodyPr wrap="square" lIns="0" tIns="0" rIns="0" bIns="0" rtlCol="0" anchor="ctr"/>
          <a:lstStyle/>
          <a:p>
            <a:pPr algn="l" indent="0" marL="0">
              <a:buNone/>
            </a:pPr>
            <a:r>
              <a:rPr lang="en-US" sz="1600" b="1" dirty="0">
                <a:solidFill>
                  <a:schemeClr val="tx2"/>
                </a:solidFill>
              </a:rPr>
              <a:t>Role-aware work queue</a:t>
            </a:r>
            <a:endParaRPr lang="en-US" sz="1600" dirty="0"/>
          </a:p>
        </p:txBody>
      </p:sp>
      <p:sp>
        <p:nvSpPr>
          <p:cNvPr id="13" name="Text 8"/>
          <p:cNvSpPr txBox="1"/>
          <p:nvPr/>
        </p:nvSpPr>
        <p:spPr>
          <a:xfrm>
            <a:off x="8138160" y="3922776"/>
            <a:ext cx="3502152" cy="658368"/>
          </a:xfrm>
          <a:prstGeom prst="rect">
            <a:avLst/>
          </a:prstGeom>
          <a:noFill/>
          <a:ln/>
        </p:spPr>
        <p:txBody>
          <a:bodyPr wrap="square" lIns="0" tIns="0" rIns="0" bIns="0" rtlCol="0" anchor="t"/>
          <a:lstStyle/>
          <a:p>
            <a:pPr algn="l" indent="0" marL="0">
              <a:buNone/>
            </a:pPr>
            <a:r>
              <a:rPr lang="en-US" sz="1300" dirty="0">
                <a:solidFill>
                  <a:schemeClr val="tx1"/>
                </a:solidFill>
              </a:rPr>
              <a:t>Each user sees the open claims assigned to them and their own approval limit.</a:t>
            </a:r>
            <a:endParaRPr lang="en-US" sz="1300" dirty="0"/>
          </a:p>
        </p:txBody>
      </p:sp>
      <p:sp>
        <p:nvSpPr>
          <p:cNvPr id="14" name="Dot 201"/>
          <p:cNvSpPr/>
          <p:nvPr/>
        </p:nvSpPr>
        <p:spPr>
          <a:xfrm>
            <a:off x="8138160" y="4663440"/>
            <a:ext cx="603504" cy="603504"/>
          </a:xfrm>
          <a:prstGeom prst="ellipse">
            <a:avLst/>
          </a:prstGeom>
          <a:solidFill>
            <a:schemeClr val="accent1"/>
          </a:solidFill>
          <a:ln/>
        </p:spPr>
      </p:sp>
      <p:pic>
        <p:nvPicPr>
          <p:cNvPr id="15" name="Image 3" descr="icon">    </p:cNvPr>
          <p:cNvPicPr>
            <a:picLocks noChangeAspect="1"/>
          </p:cNvPicPr>
          <p:nvPr/>
        </p:nvPicPr>
        <p:blipFill>
          <a:blip r:embed="rId4"/>
          <a:stretch>
            <a:fillRect/>
          </a:stretch>
        </p:blipFill>
        <p:spPr>
          <a:xfrm>
            <a:off x="8289036" y="4814316"/>
            <a:ext cx="301752" cy="301752"/>
          </a:xfrm>
          <a:prstGeom prst="rect">
            <a:avLst/>
          </a:prstGeom>
        </p:spPr>
      </p:pic>
      <p:sp>
        <p:nvSpPr>
          <p:cNvPr id="16" name="Text 10"/>
          <p:cNvSpPr txBox="1"/>
          <p:nvPr/>
        </p:nvSpPr>
        <p:spPr>
          <a:xfrm>
            <a:off x="8915400" y="4645152"/>
            <a:ext cx="2724912" cy="603504"/>
          </a:xfrm>
          <a:prstGeom prst="rect">
            <a:avLst/>
          </a:prstGeom>
          <a:noFill/>
          <a:ln/>
        </p:spPr>
        <p:txBody>
          <a:bodyPr wrap="square" lIns="0" tIns="0" rIns="0" bIns="0" rtlCol="0" anchor="ctr"/>
          <a:lstStyle/>
          <a:p>
            <a:pPr algn="l" indent="0" marL="0">
              <a:buNone/>
            </a:pPr>
            <a:r>
              <a:rPr lang="en-US" sz="1600" b="1" dirty="0">
                <a:solidFill>
                  <a:schemeClr val="tx2"/>
                </a:solidFill>
              </a:rPr>
              <a:t>Search, filter and export</a:t>
            </a:r>
            <a:endParaRPr lang="en-US" sz="1600" dirty="0"/>
          </a:p>
        </p:txBody>
      </p:sp>
      <p:sp>
        <p:nvSpPr>
          <p:cNvPr id="17" name="Text 11"/>
          <p:cNvSpPr txBox="1"/>
          <p:nvPr/>
        </p:nvSpPr>
        <p:spPr>
          <a:xfrm>
            <a:off x="8138160" y="5340096"/>
            <a:ext cx="3502152" cy="658368"/>
          </a:xfrm>
          <a:prstGeom prst="rect">
            <a:avLst/>
          </a:prstGeom>
          <a:noFill/>
          <a:ln/>
        </p:spPr>
        <p:txBody>
          <a:bodyPr wrap="square" lIns="0" tIns="0" rIns="0" bIns="0" rtlCol="0" anchor="t"/>
          <a:lstStyle/>
          <a:p>
            <a:pPr algn="l" indent="0" marL="0">
              <a:buNone/>
            </a:pPr>
            <a:r>
              <a:rPr lang="en-US" sz="1300" dirty="0">
                <a:solidFill>
                  <a:schemeClr val="tx1"/>
                </a:solidFill>
              </a:rPr>
              <a:t>Claims can be searched by number, patient, hospital or diagnosis, and exported to CSV.</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APPLICATION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Claim detail: the full case file</a:t>
            </a:r>
            <a:endParaRPr lang="en-US" sz="3600" dirty="0"/>
          </a:p>
        </p:txBody>
      </p:sp>
      <p:sp>
        <p:nvSpPr>
          <p:cNvPr id="4" name="Frame 202"/>
          <p:cNvSpPr/>
          <p:nvPr/>
        </p:nvSpPr>
        <p:spPr>
          <a:xfrm>
            <a:off x="548640" y="1773936"/>
            <a:ext cx="6693408" cy="3904488"/>
          </a:xfrm>
          <a:prstGeom prst="roundRect">
            <a:avLst>
              <a:gd name="adj" fmla="val 1405"/>
            </a:avLst>
          </a:prstGeom>
          <a:solidFill>
            <a:schemeClr val="bg1"/>
          </a:solidFill>
          <a:ln w="12700">
            <a:solidFill>
              <a:srgbClr val="DCE7E6"/>
            </a:solidFill>
            <a:prstDash val="solid"/>
          </a:ln>
          <a:effectLst>
            <a:outerShdw sx="100000" sy="100000" kx="0" ky="0" algn="bl" rotWithShape="0" blurRad="114300" dist="31750" dir="5400000">
              <a:srgbClr val="000000">
                <a:alpha val="14000"/>
              </a:srgbClr>
            </a:outerShdw>
          </a:effectLst>
        </p:spPr>
      </p:sp>
      <p:pic>
        <p:nvPicPr>
          <p:cNvPr id="5" name="Image 0" descr="Screenshot of a claim detail page showing patient, policy and hospital details">    </p:cNvPr>
          <p:cNvPicPr>
            <a:picLocks noChangeAspect="1"/>
          </p:cNvPicPr>
          <p:nvPr/>
        </p:nvPicPr>
        <p:blipFill>
          <a:blip r:embed="rId1"/>
          <a:stretch>
            <a:fillRect/>
          </a:stretch>
        </p:blipFill>
        <p:spPr>
          <a:xfrm>
            <a:off x="603504" y="1828800"/>
            <a:ext cx="6583680" cy="3794760"/>
          </a:xfrm>
          <a:prstGeom prst="rect">
            <a:avLst/>
          </a:prstGeom>
        </p:spPr>
      </p:pic>
      <p:sp>
        <p:nvSpPr>
          <p:cNvPr id="6" name="Frame 203"/>
          <p:cNvSpPr/>
          <p:nvPr/>
        </p:nvSpPr>
        <p:spPr>
          <a:xfrm>
            <a:off x="7443216" y="1773936"/>
            <a:ext cx="4197096" cy="3390379"/>
          </a:xfrm>
          <a:prstGeom prst="roundRect">
            <a:avLst>
              <a:gd name="adj" fmla="val 1618"/>
            </a:avLst>
          </a:prstGeom>
          <a:solidFill>
            <a:schemeClr val="bg1"/>
          </a:solidFill>
          <a:ln w="12700">
            <a:solidFill>
              <a:srgbClr val="DCE7E6"/>
            </a:solidFill>
            <a:prstDash val="solid"/>
          </a:ln>
          <a:effectLst>
            <a:outerShdw sx="100000" sy="100000" kx="0" ky="0" algn="bl" rotWithShape="0" blurRad="114300" dist="31750" dir="5400000">
              <a:srgbClr val="000000">
                <a:alpha val="14000"/>
              </a:srgbClr>
            </a:outerShdw>
          </a:effectLst>
        </p:spPr>
      </p:sp>
      <p:pic>
        <p:nvPicPr>
          <p:cNvPr id="7" name="Image 1" descr="Screenshot of the adjudication worksheet with bill and deductions">    </p:cNvPr>
          <p:cNvPicPr>
            <a:picLocks noChangeAspect="1"/>
          </p:cNvPicPr>
          <p:nvPr/>
        </p:nvPicPr>
        <p:blipFill>
          <a:blip r:embed="rId2"/>
          <a:stretch>
            <a:fillRect/>
          </a:stretch>
        </p:blipFill>
        <p:spPr>
          <a:xfrm>
            <a:off x="7498080" y="1828800"/>
            <a:ext cx="4087368" cy="3280651"/>
          </a:xfrm>
          <a:prstGeom prst="rect">
            <a:avLst/>
          </a:prstGeom>
        </p:spPr>
      </p:pic>
      <p:sp>
        <p:nvSpPr>
          <p:cNvPr id="8" name="Text 4"/>
          <p:cNvSpPr txBox="1"/>
          <p:nvPr/>
        </p:nvSpPr>
        <p:spPr>
          <a:xfrm>
            <a:off x="548640" y="5760720"/>
            <a:ext cx="6675120" cy="411480"/>
          </a:xfrm>
          <a:prstGeom prst="rect">
            <a:avLst/>
          </a:prstGeom>
          <a:noFill/>
          <a:ln/>
        </p:spPr>
        <p:txBody>
          <a:bodyPr wrap="square" lIns="0" tIns="0" rIns="0" bIns="0" rtlCol="0" anchor="t"/>
          <a:lstStyle/>
          <a:p>
            <a:pPr algn="l" indent="0" marL="0">
              <a:buNone/>
            </a:pPr>
            <a:r>
              <a:rPr lang="en-US" sz="1300" dirty="0">
                <a:solidFill>
                  <a:schemeClr val="accent6"/>
                </a:solidFill>
              </a:rPr>
              <a:t>Patient, policy, hospital stay, actions and fraud assessment on one page, from one document.</a:t>
            </a:r>
            <a:endParaRPr lang="en-US" sz="1300" dirty="0"/>
          </a:p>
        </p:txBody>
      </p:sp>
      <p:sp>
        <p:nvSpPr>
          <p:cNvPr id="9" name="Text 5"/>
          <p:cNvSpPr txBox="1"/>
          <p:nvPr/>
        </p:nvSpPr>
        <p:spPr>
          <a:xfrm>
            <a:off x="7443216" y="5257800"/>
            <a:ext cx="4197096" cy="914400"/>
          </a:xfrm>
          <a:prstGeom prst="rect">
            <a:avLst/>
          </a:prstGeom>
          <a:noFill/>
          <a:ln/>
        </p:spPr>
        <p:txBody>
          <a:bodyPr wrap="square" lIns="0" tIns="0" rIns="0" bIns="0" rtlCol="0" anchor="t"/>
          <a:lstStyle/>
          <a:p>
            <a:pPr algn="l" indent="0" marL="0">
              <a:buNone/>
            </a:pPr>
            <a:r>
              <a:rPr lang="en-US" sz="1300" dirty="0">
                <a:solidFill>
                  <a:schemeClr val="accent6"/>
                </a:solidFill>
              </a:rPr>
              <a:t>The worksheet lists every deduction with its reason. Pay and Simulate failure run the settlement transaction.</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APPLICATION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Analytics page and database console</a:t>
            </a:r>
            <a:endParaRPr lang="en-US" sz="3600" dirty="0"/>
          </a:p>
        </p:txBody>
      </p:sp>
      <p:sp>
        <p:nvSpPr>
          <p:cNvPr id="4" name="Frame 204"/>
          <p:cNvSpPr/>
          <p:nvPr/>
        </p:nvSpPr>
        <p:spPr>
          <a:xfrm>
            <a:off x="548640" y="1773936"/>
            <a:ext cx="5440680" cy="3441573"/>
          </a:xfrm>
          <a:prstGeom prst="roundRect">
            <a:avLst>
              <a:gd name="adj" fmla="val 1594"/>
            </a:avLst>
          </a:prstGeom>
          <a:solidFill>
            <a:schemeClr val="bg1"/>
          </a:solidFill>
          <a:ln w="12700">
            <a:solidFill>
              <a:srgbClr val="DCE7E6"/>
            </a:solidFill>
            <a:prstDash val="solid"/>
          </a:ln>
          <a:effectLst>
            <a:outerShdw sx="100000" sy="100000" kx="0" ky="0" algn="bl" rotWithShape="0" blurRad="114300" dist="31750" dir="5400000">
              <a:srgbClr val="000000">
                <a:alpha val="14000"/>
              </a:srgbClr>
            </a:outerShdw>
          </a:effectLst>
        </p:spPr>
      </p:sp>
      <p:pic>
        <p:nvPicPr>
          <p:cNvPr id="5" name="Image 0" descr="Screenshot of the analytics page with charts">    </p:cNvPr>
          <p:cNvPicPr>
            <a:picLocks noChangeAspect="1"/>
          </p:cNvPicPr>
          <p:nvPr/>
        </p:nvPicPr>
        <p:blipFill>
          <a:blip r:embed="rId1"/>
          <a:stretch>
            <a:fillRect/>
          </a:stretch>
        </p:blipFill>
        <p:spPr>
          <a:xfrm>
            <a:off x="603504" y="1828800"/>
            <a:ext cx="5330952" cy="3331845"/>
          </a:xfrm>
          <a:prstGeom prst="rect">
            <a:avLst/>
          </a:prstGeom>
        </p:spPr>
      </p:pic>
      <p:sp>
        <p:nvSpPr>
          <p:cNvPr id="6" name="Frame 205"/>
          <p:cNvSpPr/>
          <p:nvPr/>
        </p:nvSpPr>
        <p:spPr>
          <a:xfrm>
            <a:off x="6199632" y="1773936"/>
            <a:ext cx="5440680" cy="3441573"/>
          </a:xfrm>
          <a:prstGeom prst="roundRect">
            <a:avLst>
              <a:gd name="adj" fmla="val 1594"/>
            </a:avLst>
          </a:prstGeom>
          <a:solidFill>
            <a:schemeClr val="bg1"/>
          </a:solidFill>
          <a:ln w="12700">
            <a:solidFill>
              <a:srgbClr val="DCE7E6"/>
            </a:solidFill>
            <a:prstDash val="solid"/>
          </a:ln>
          <a:effectLst>
            <a:outerShdw sx="100000" sy="100000" kx="0" ky="0" algn="bl" rotWithShape="0" blurRad="114300" dist="31750" dir="5400000">
              <a:srgbClr val="000000">
                <a:alpha val="14000"/>
              </a:srgbClr>
            </a:outerShdw>
          </a:effectLst>
        </p:spPr>
      </p:sp>
      <p:pic>
        <p:nvPicPr>
          <p:cNvPr id="7" name="Image 1" descr="Screenshot of the database console page">    </p:cNvPr>
          <p:cNvPicPr>
            <a:picLocks noChangeAspect="1"/>
          </p:cNvPicPr>
          <p:nvPr/>
        </p:nvPicPr>
        <p:blipFill>
          <a:blip r:embed="rId2"/>
          <a:stretch>
            <a:fillRect/>
          </a:stretch>
        </p:blipFill>
        <p:spPr>
          <a:xfrm>
            <a:off x="6254496" y="1828800"/>
            <a:ext cx="5330952" cy="3331845"/>
          </a:xfrm>
          <a:prstGeom prst="rect">
            <a:avLst/>
          </a:prstGeom>
        </p:spPr>
      </p:pic>
      <p:sp>
        <p:nvSpPr>
          <p:cNvPr id="8" name="Text 4"/>
          <p:cNvSpPr txBox="1"/>
          <p:nvPr/>
        </p:nvSpPr>
        <p:spPr>
          <a:xfrm>
            <a:off x="548640" y="5349240"/>
            <a:ext cx="5440680" cy="310896"/>
          </a:xfrm>
          <a:prstGeom prst="rect">
            <a:avLst/>
          </a:prstGeom>
          <a:noFill/>
          <a:ln/>
        </p:spPr>
        <p:txBody>
          <a:bodyPr wrap="square" lIns="0" tIns="0" rIns="0" bIns="0" rtlCol="0" anchor="ctr"/>
          <a:lstStyle/>
          <a:p>
            <a:pPr algn="l" indent="0" marL="0">
              <a:buNone/>
            </a:pPr>
            <a:r>
              <a:rPr lang="en-US" sz="1600" b="1" dirty="0">
                <a:solidFill>
                  <a:schemeClr val="tx2"/>
                </a:solidFill>
              </a:rPr>
              <a:t>Analytics</a:t>
            </a:r>
            <a:endParaRPr lang="en-US" sz="1600" dirty="0"/>
          </a:p>
        </p:txBody>
      </p:sp>
      <p:sp>
        <p:nvSpPr>
          <p:cNvPr id="9" name="Text 5"/>
          <p:cNvSpPr txBox="1"/>
          <p:nvPr/>
        </p:nvSpPr>
        <p:spPr>
          <a:xfrm>
            <a:off x="548640" y="5669280"/>
            <a:ext cx="5440680" cy="457200"/>
          </a:xfrm>
          <a:prstGeom prst="rect">
            <a:avLst/>
          </a:prstGeom>
          <a:noFill/>
          <a:ln/>
        </p:spPr>
        <p:txBody>
          <a:bodyPr wrap="square" lIns="0" tIns="0" rIns="0" bIns="0" rtlCol="0" anchor="t"/>
          <a:lstStyle/>
          <a:p>
            <a:pPr algn="l" indent="0" marL="0">
              <a:buNone/>
            </a:pPr>
            <a:r>
              <a:rPr lang="en-US" sz="1300" dirty="0">
                <a:solidFill>
                  <a:schemeClr val="tx1"/>
                </a:solidFill>
              </a:rPr>
              <a:t>19 reports, each with its chart, data table and the exact pipeline behind it.</a:t>
            </a:r>
            <a:endParaRPr lang="en-US" sz="1300" dirty="0"/>
          </a:p>
        </p:txBody>
      </p:sp>
      <p:sp>
        <p:nvSpPr>
          <p:cNvPr id="10" name="Text 6"/>
          <p:cNvSpPr txBox="1"/>
          <p:nvPr/>
        </p:nvSpPr>
        <p:spPr>
          <a:xfrm>
            <a:off x="6199632" y="5349240"/>
            <a:ext cx="5440680" cy="310896"/>
          </a:xfrm>
          <a:prstGeom prst="rect">
            <a:avLst/>
          </a:prstGeom>
          <a:noFill/>
          <a:ln/>
        </p:spPr>
        <p:txBody>
          <a:bodyPr wrap="square" lIns="0" tIns="0" rIns="0" bIns="0" rtlCol="0" anchor="ctr"/>
          <a:lstStyle/>
          <a:p>
            <a:pPr algn="l" indent="0" marL="0">
              <a:buNone/>
            </a:pPr>
            <a:r>
              <a:rPr lang="en-US" sz="1600" b="1" dirty="0">
                <a:solidFill>
                  <a:schemeClr val="tx2"/>
                </a:solidFill>
              </a:rPr>
              <a:t>DB console</a:t>
            </a:r>
            <a:endParaRPr lang="en-US" sz="1600" dirty="0"/>
          </a:p>
        </p:txBody>
      </p:sp>
      <p:sp>
        <p:nvSpPr>
          <p:cNvPr id="11" name="Text 7"/>
          <p:cNvSpPr txBox="1"/>
          <p:nvPr/>
        </p:nvSpPr>
        <p:spPr>
          <a:xfrm>
            <a:off x="6199632" y="5669280"/>
            <a:ext cx="5440680" cy="457200"/>
          </a:xfrm>
          <a:prstGeom prst="rect">
            <a:avLst/>
          </a:prstGeom>
          <a:noFill/>
          <a:ln/>
        </p:spPr>
        <p:txBody>
          <a:bodyPr wrap="square" lIns="0" tIns="0" rIns="0" bIns="0" rtlCol="0" anchor="t"/>
          <a:lstStyle/>
          <a:p>
            <a:pPr algn="l" indent="0" marL="0">
              <a:buNone/>
            </a:pPr>
            <a:r>
              <a:rPr lang="en-US" sz="1300" dirty="0">
                <a:solidFill>
                  <a:schemeClr val="tx1"/>
                </a:solidFill>
              </a:rPr>
              <a:t>Collections, data model, index catalogue and validators, plus live demos and a read-only query playground.</a:t>
            </a:r>
            <a:endParaRPr lang="en-US" sz="13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APPLICATION</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Interfaces and automated testing</a:t>
            </a:r>
            <a:endParaRPr lang="en-US" sz="3600" dirty="0"/>
          </a:p>
        </p:txBody>
      </p:sp>
      <p:sp>
        <p:nvSpPr>
          <p:cNvPr id="4" name="Card 206"/>
          <p:cNvSpPr/>
          <p:nvPr/>
        </p:nvSpPr>
        <p:spPr>
          <a:xfrm>
            <a:off x="548640" y="1783080"/>
            <a:ext cx="5394960" cy="1298448"/>
          </a:xfrm>
          <a:prstGeom prst="roundRect">
            <a:avLst>
              <a:gd name="adj" fmla="val 7042"/>
            </a:avLst>
          </a:prstGeom>
          <a:solidFill>
            <a:schemeClr val="bg2"/>
          </a:solidFill>
          <a:ln/>
        </p:spPr>
      </p:sp>
      <p:sp>
        <p:nvSpPr>
          <p:cNvPr id="5" name="Dot 207"/>
          <p:cNvSpPr/>
          <p:nvPr/>
        </p:nvSpPr>
        <p:spPr>
          <a:xfrm>
            <a:off x="822960" y="2112264"/>
            <a:ext cx="640080" cy="64008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82980" y="2272284"/>
            <a:ext cx="320040" cy="320040"/>
          </a:xfrm>
          <a:prstGeom prst="rect">
            <a:avLst/>
          </a:prstGeom>
        </p:spPr>
      </p:pic>
      <p:sp>
        <p:nvSpPr>
          <p:cNvPr id="7" name="Text 4"/>
          <p:cNvSpPr txBox="1"/>
          <p:nvPr/>
        </p:nvSpPr>
        <p:spPr>
          <a:xfrm>
            <a:off x="1691640" y="1965960"/>
            <a:ext cx="4069080" cy="365760"/>
          </a:xfrm>
          <a:prstGeom prst="rect">
            <a:avLst/>
          </a:prstGeom>
          <a:noFill/>
          <a:ln/>
        </p:spPr>
        <p:txBody>
          <a:bodyPr wrap="square" lIns="0" tIns="0" rIns="0" bIns="0" rtlCol="0" anchor="ctr"/>
          <a:lstStyle/>
          <a:p>
            <a:pPr algn="l" indent="0" marL="0">
              <a:buNone/>
            </a:pPr>
            <a:r>
              <a:rPr lang="en-US" sz="1800" b="1" dirty="0">
                <a:solidFill>
                  <a:schemeClr val="tx2"/>
                </a:solidFill>
              </a:rPr>
              <a:t>Web application</a:t>
            </a:r>
            <a:endParaRPr lang="en-US" sz="1800" dirty="0"/>
          </a:p>
        </p:txBody>
      </p:sp>
      <p:sp>
        <p:nvSpPr>
          <p:cNvPr id="8" name="Text 5"/>
          <p:cNvSpPr txBox="1"/>
          <p:nvPr/>
        </p:nvSpPr>
        <p:spPr>
          <a:xfrm>
            <a:off x="1691640" y="2368296"/>
            <a:ext cx="4069080" cy="603504"/>
          </a:xfrm>
          <a:prstGeom prst="rect">
            <a:avLst/>
          </a:prstGeom>
          <a:noFill/>
          <a:ln/>
        </p:spPr>
        <p:txBody>
          <a:bodyPr wrap="square" lIns="0" tIns="0" rIns="0" bIns="0" rtlCol="0" anchor="t"/>
          <a:lstStyle/>
          <a:p>
            <a:pPr algn="l" indent="0" marL="0">
              <a:buNone/>
            </a:pPr>
            <a:r>
              <a:rPr lang="en-US" sz="1400" dirty="0">
                <a:solidFill>
                  <a:schemeClr val="tx1"/>
                </a:solidFill>
              </a:rPr>
              <a:t>15+ pages on FastAPI and Jinja2, with Chart.js bundled so it runs offline.</a:t>
            </a:r>
            <a:endParaRPr lang="en-US" sz="1400" dirty="0"/>
          </a:p>
        </p:txBody>
      </p:sp>
      <p:sp>
        <p:nvSpPr>
          <p:cNvPr id="9" name="Card 208"/>
          <p:cNvSpPr/>
          <p:nvPr/>
        </p:nvSpPr>
        <p:spPr>
          <a:xfrm>
            <a:off x="548640" y="3264408"/>
            <a:ext cx="5394960" cy="1298448"/>
          </a:xfrm>
          <a:prstGeom prst="roundRect">
            <a:avLst>
              <a:gd name="adj" fmla="val 7042"/>
            </a:avLst>
          </a:prstGeom>
          <a:solidFill>
            <a:schemeClr val="bg2"/>
          </a:solidFill>
          <a:ln/>
        </p:spPr>
      </p:sp>
      <p:sp>
        <p:nvSpPr>
          <p:cNvPr id="10" name="Dot 209"/>
          <p:cNvSpPr/>
          <p:nvPr/>
        </p:nvSpPr>
        <p:spPr>
          <a:xfrm>
            <a:off x="822960" y="3593592"/>
            <a:ext cx="640080" cy="64008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982980" y="3753612"/>
            <a:ext cx="320040" cy="320040"/>
          </a:xfrm>
          <a:prstGeom prst="rect">
            <a:avLst/>
          </a:prstGeom>
        </p:spPr>
      </p:pic>
      <p:sp>
        <p:nvSpPr>
          <p:cNvPr id="12" name="Text 8"/>
          <p:cNvSpPr txBox="1"/>
          <p:nvPr/>
        </p:nvSpPr>
        <p:spPr>
          <a:xfrm>
            <a:off x="1691640" y="3447288"/>
            <a:ext cx="4069080" cy="365760"/>
          </a:xfrm>
          <a:prstGeom prst="rect">
            <a:avLst/>
          </a:prstGeom>
          <a:noFill/>
          <a:ln/>
        </p:spPr>
        <p:txBody>
          <a:bodyPr wrap="square" lIns="0" tIns="0" rIns="0" bIns="0" rtlCol="0" anchor="ctr"/>
          <a:lstStyle/>
          <a:p>
            <a:pPr algn="l" indent="0" marL="0">
              <a:buNone/>
            </a:pPr>
            <a:r>
              <a:rPr lang="en-US" sz="1800" b="1" dirty="0">
                <a:solidFill>
                  <a:schemeClr val="tx2"/>
                </a:solidFill>
              </a:rPr>
              <a:t>Command-line console</a:t>
            </a:r>
            <a:endParaRPr lang="en-US" sz="1800" dirty="0"/>
          </a:p>
        </p:txBody>
      </p:sp>
      <p:sp>
        <p:nvSpPr>
          <p:cNvPr id="13" name="Text 9"/>
          <p:cNvSpPr txBox="1"/>
          <p:nvPr/>
        </p:nvSpPr>
        <p:spPr>
          <a:xfrm>
            <a:off x="1691640" y="3849624"/>
            <a:ext cx="4069080" cy="603504"/>
          </a:xfrm>
          <a:prstGeom prst="rect">
            <a:avLst/>
          </a:prstGeom>
          <a:noFill/>
          <a:ln/>
        </p:spPr>
        <p:txBody>
          <a:bodyPr wrap="square" lIns="0" tIns="0" rIns="0" bIns="0" rtlCol="0" anchor="t"/>
          <a:lstStyle/>
          <a:p>
            <a:pPr algn="l" indent="0" marL="0">
              <a:buNone/>
            </a:pPr>
            <a:r>
              <a:rPr lang="en-US" sz="1400" dirty="0">
                <a:solidFill>
                  <a:schemeClr val="tx1"/>
                </a:solidFill>
              </a:rPr>
              <a:t>The same features from a menu; it can also start the web app.</a:t>
            </a:r>
            <a:endParaRPr lang="en-US" sz="1400" dirty="0"/>
          </a:p>
        </p:txBody>
      </p:sp>
      <p:sp>
        <p:nvSpPr>
          <p:cNvPr id="14" name="Card 210"/>
          <p:cNvSpPr/>
          <p:nvPr/>
        </p:nvSpPr>
        <p:spPr>
          <a:xfrm>
            <a:off x="548640" y="4745736"/>
            <a:ext cx="5394960" cy="1298448"/>
          </a:xfrm>
          <a:prstGeom prst="roundRect">
            <a:avLst>
              <a:gd name="adj" fmla="val 7042"/>
            </a:avLst>
          </a:prstGeom>
          <a:solidFill>
            <a:schemeClr val="bg2"/>
          </a:solidFill>
          <a:ln/>
        </p:spPr>
      </p:sp>
      <p:sp>
        <p:nvSpPr>
          <p:cNvPr id="15" name="Dot 211"/>
          <p:cNvSpPr/>
          <p:nvPr/>
        </p:nvSpPr>
        <p:spPr>
          <a:xfrm>
            <a:off x="822960" y="5074920"/>
            <a:ext cx="640080" cy="640080"/>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982980" y="5234940"/>
            <a:ext cx="320040" cy="320040"/>
          </a:xfrm>
          <a:prstGeom prst="rect">
            <a:avLst/>
          </a:prstGeom>
        </p:spPr>
      </p:pic>
      <p:sp>
        <p:nvSpPr>
          <p:cNvPr id="17" name="Text 12"/>
          <p:cNvSpPr txBox="1"/>
          <p:nvPr/>
        </p:nvSpPr>
        <p:spPr>
          <a:xfrm>
            <a:off x="1691640" y="4928616"/>
            <a:ext cx="4069080" cy="365760"/>
          </a:xfrm>
          <a:prstGeom prst="rect">
            <a:avLst/>
          </a:prstGeom>
          <a:noFill/>
          <a:ln/>
        </p:spPr>
        <p:txBody>
          <a:bodyPr wrap="square" lIns="0" tIns="0" rIns="0" bIns="0" rtlCol="0" anchor="ctr"/>
          <a:lstStyle/>
          <a:p>
            <a:pPr algn="l" indent="0" marL="0">
              <a:buNone/>
            </a:pPr>
            <a:r>
              <a:rPr lang="en-US" sz="1800" b="1" dirty="0">
                <a:solidFill>
                  <a:schemeClr val="tx2"/>
                </a:solidFill>
              </a:rPr>
              <a:t>mongosh scripts</a:t>
            </a:r>
            <a:endParaRPr lang="en-US" sz="1800" dirty="0"/>
          </a:p>
        </p:txBody>
      </p:sp>
      <p:sp>
        <p:nvSpPr>
          <p:cNvPr id="18" name="Text 13"/>
          <p:cNvSpPr txBox="1"/>
          <p:nvPr/>
        </p:nvSpPr>
        <p:spPr>
          <a:xfrm>
            <a:off x="1691640" y="5330952"/>
            <a:ext cx="4069080" cy="603504"/>
          </a:xfrm>
          <a:prstGeom prst="rect">
            <a:avLst/>
          </a:prstGeom>
          <a:noFill/>
          <a:ln/>
        </p:spPr>
        <p:txBody>
          <a:bodyPr wrap="square" lIns="0" tIns="0" rIns="0" bIns="0" rtlCol="0" anchor="t"/>
          <a:lstStyle/>
          <a:p>
            <a:pPr algn="l" indent="0" marL="0">
              <a:buNone/>
            </a:pPr>
            <a:r>
              <a:rPr lang="en-US" sz="1400" dirty="0">
                <a:solidFill>
                  <a:schemeClr val="tx1"/>
                </a:solidFill>
              </a:rPr>
              <a:t>Nine scripts, run on MongoDB 8.0: window functions, $merge, $geoNear, roles.</a:t>
            </a:r>
            <a:endParaRPr lang="en-US" sz="1400" dirty="0"/>
          </a:p>
        </p:txBody>
      </p:sp>
      <p:sp>
        <p:nvSpPr>
          <p:cNvPr id="19" name="Text 14"/>
          <p:cNvSpPr txBox="1"/>
          <p:nvPr/>
        </p:nvSpPr>
        <p:spPr>
          <a:xfrm>
            <a:off x="6245352" y="1737360"/>
            <a:ext cx="1600200" cy="868680"/>
          </a:xfrm>
          <a:prstGeom prst="rect">
            <a:avLst/>
          </a:prstGeom>
          <a:noFill/>
          <a:ln/>
        </p:spPr>
        <p:txBody>
          <a:bodyPr wrap="square" lIns="0" tIns="0" rIns="0" bIns="0" rtlCol="0" anchor="ctr"/>
          <a:lstStyle/>
          <a:p>
            <a:pPr algn="l" indent="0" marL="0">
              <a:buNone/>
            </a:pPr>
            <a:r>
              <a:rPr lang="en-US" sz="5400" b="1" dirty="0">
                <a:solidFill>
                  <a:schemeClr val="accent1"/>
                </a:solidFill>
              </a:rPr>
              <a:t>120</a:t>
            </a:r>
            <a:endParaRPr lang="en-US" sz="5400" dirty="0"/>
          </a:p>
        </p:txBody>
      </p:sp>
      <p:sp>
        <p:nvSpPr>
          <p:cNvPr id="20" name="Text 15"/>
          <p:cNvSpPr txBox="1"/>
          <p:nvPr/>
        </p:nvSpPr>
        <p:spPr>
          <a:xfrm>
            <a:off x="7909560" y="1737360"/>
            <a:ext cx="3730752" cy="868680"/>
          </a:xfrm>
          <a:prstGeom prst="rect">
            <a:avLst/>
          </a:prstGeom>
          <a:noFill/>
          <a:ln/>
        </p:spPr>
        <p:txBody>
          <a:bodyPr wrap="square" lIns="0" tIns="0" rIns="0" bIns="0" rtlCol="0" anchor="ctr"/>
          <a:lstStyle/>
          <a:p>
            <a:pPr algn="l" indent="0" marL="0">
              <a:buNone/>
            </a:pPr>
            <a:r>
              <a:rPr lang="en-US" sz="1600" dirty="0">
                <a:solidFill>
                  <a:schemeClr val="tx1"/>
                </a:solidFill>
              </a:rPr>
              <a:t>automated tests: 91 on the mock, 29 against a real MongoDB replica set</a:t>
            </a:r>
            <a:endParaRPr lang="en-US" sz="1600" dirty="0"/>
          </a:p>
        </p:txBody>
      </p:sp>
      <p:graphicFrame>
        <p:nvGraphicFramePr>
          <p:cNvPr id="21" name="Tests by area chart" descr=""/>
          <p:cNvGraphicFramePr/>
          <p:nvPr/>
        </p:nvGraphicFramePr>
        <p:xfrm>
          <a:off x="6245352" y="2743200"/>
          <a:ext cx="5394960" cy="34290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Meeting the review criteria</a:t>
            </a:r>
            <a:endParaRPr lang="en-US" sz="3600" dirty="0"/>
          </a:p>
        </p:txBody>
      </p:sp>
      <p:sp>
        <p:nvSpPr>
          <p:cNvPr id="4" name="Card 212"/>
          <p:cNvSpPr/>
          <p:nvPr/>
        </p:nvSpPr>
        <p:spPr>
          <a:xfrm>
            <a:off x="548640" y="1783080"/>
            <a:ext cx="3538728" cy="3657600"/>
          </a:xfrm>
          <a:prstGeom prst="roundRect">
            <a:avLst>
              <a:gd name="adj" fmla="val 2584"/>
            </a:avLst>
          </a:prstGeom>
          <a:solidFill>
            <a:schemeClr val="bg2"/>
          </a:solidFill>
          <a:ln/>
        </p:spPr>
      </p:sp>
      <p:sp>
        <p:nvSpPr>
          <p:cNvPr id="5" name="Dot 213"/>
          <p:cNvSpPr/>
          <p:nvPr/>
        </p:nvSpPr>
        <p:spPr>
          <a:xfrm>
            <a:off x="822960" y="2011680"/>
            <a:ext cx="658368" cy="658368"/>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87552" y="2176272"/>
            <a:ext cx="329184" cy="329184"/>
          </a:xfrm>
          <a:prstGeom prst="rect">
            <a:avLst/>
          </a:prstGeom>
        </p:spPr>
      </p:pic>
      <p:sp>
        <p:nvSpPr>
          <p:cNvPr id="7" name="Text 4"/>
          <p:cNvSpPr txBox="1"/>
          <p:nvPr/>
        </p:nvSpPr>
        <p:spPr>
          <a:xfrm>
            <a:off x="1645920" y="2011680"/>
            <a:ext cx="2286000" cy="658368"/>
          </a:xfrm>
          <a:prstGeom prst="rect">
            <a:avLst/>
          </a:prstGeom>
          <a:noFill/>
          <a:ln/>
        </p:spPr>
        <p:txBody>
          <a:bodyPr wrap="square" lIns="0" tIns="0" rIns="0" bIns="0" rtlCol="0" anchor="ctr"/>
          <a:lstStyle/>
          <a:p>
            <a:pPr algn="l" indent="0" marL="0">
              <a:buNone/>
            </a:pPr>
            <a:r>
              <a:rPr lang="en-US" sz="1900" b="1" dirty="0">
                <a:solidFill>
                  <a:schemeClr val="tx2"/>
                </a:solidFill>
              </a:rPr>
              <a:t>Schema design</a:t>
            </a:r>
            <a:endParaRPr lang="en-US" sz="1900" dirty="0"/>
          </a:p>
        </p:txBody>
      </p:sp>
      <p:sp>
        <p:nvSpPr>
          <p:cNvPr id="8" name="Text 5"/>
          <p:cNvSpPr txBox="1"/>
          <p:nvPr/>
        </p:nvSpPr>
        <p:spPr>
          <a:xfrm>
            <a:off x="822960" y="2880360"/>
            <a:ext cx="3017520" cy="246888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14 collections, with each embed-or-reference choice explained</a:t>
            </a:r>
            <a:endParaRPr lang="en-US" sz="1500" dirty="0"/>
          </a:p>
          <a:p>
            <a:pPr algn="l" marL="342900" indent="-342900">
              <a:spcAft>
                <a:spcPts val="900"/>
              </a:spcAft>
              <a:buSzPct val="100000"/>
              <a:buChar char="•"/>
            </a:pPr>
            <a:r>
              <a:rPr lang="en-US" sz="1500" dirty="0">
                <a:solidFill>
                  <a:schemeClr val="tx1"/>
                </a:solidFill>
              </a:rPr>
              <a:t>Six named design patterns</a:t>
            </a:r>
            <a:endParaRPr lang="en-US" sz="1500" dirty="0"/>
          </a:p>
          <a:p>
            <a:pPr algn="l" marL="342900" indent="-342900">
              <a:spcAft>
                <a:spcPts val="900"/>
              </a:spcAft>
              <a:buSzPct val="100000"/>
              <a:buChar char="•"/>
            </a:pPr>
            <a:r>
              <a:rPr lang="en-US" sz="1500" dirty="0">
                <a:solidFill>
                  <a:schemeClr val="tx1"/>
                </a:solidFill>
              </a:rPr>
              <a:t>$jsonSchema validators on every collection</a:t>
            </a:r>
            <a:endParaRPr lang="en-US" sz="1500" dirty="0"/>
          </a:p>
          <a:p>
            <a:pPr algn="l" marL="342900" indent="-342900">
              <a:spcAft>
                <a:spcPts val="900"/>
              </a:spcAft>
              <a:buSzPct val="100000"/>
              <a:buChar char="•"/>
            </a:pPr>
            <a:r>
              <a:rPr lang="en-US" sz="1500" dirty="0">
                <a:solidFill>
                  <a:schemeClr val="tx1"/>
                </a:solidFill>
              </a:rPr>
              <a:t>Data model documented in the DB Console</a:t>
            </a:r>
            <a:endParaRPr lang="en-US" sz="1500" dirty="0"/>
          </a:p>
        </p:txBody>
      </p:sp>
      <p:sp>
        <p:nvSpPr>
          <p:cNvPr id="9" name="Card 214"/>
          <p:cNvSpPr/>
          <p:nvPr/>
        </p:nvSpPr>
        <p:spPr>
          <a:xfrm>
            <a:off x="4325112" y="1783080"/>
            <a:ext cx="3538728" cy="3657600"/>
          </a:xfrm>
          <a:prstGeom prst="roundRect">
            <a:avLst>
              <a:gd name="adj" fmla="val 2584"/>
            </a:avLst>
          </a:prstGeom>
          <a:solidFill>
            <a:schemeClr val="bg2"/>
          </a:solidFill>
          <a:ln/>
        </p:spPr>
      </p:sp>
      <p:sp>
        <p:nvSpPr>
          <p:cNvPr id="10" name="Dot 215"/>
          <p:cNvSpPr/>
          <p:nvPr/>
        </p:nvSpPr>
        <p:spPr>
          <a:xfrm>
            <a:off x="4599432" y="2011680"/>
            <a:ext cx="658368" cy="658368"/>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4764024" y="2176272"/>
            <a:ext cx="329184" cy="329184"/>
          </a:xfrm>
          <a:prstGeom prst="rect">
            <a:avLst/>
          </a:prstGeom>
        </p:spPr>
      </p:pic>
      <p:sp>
        <p:nvSpPr>
          <p:cNvPr id="12" name="Text 8"/>
          <p:cNvSpPr txBox="1"/>
          <p:nvPr/>
        </p:nvSpPr>
        <p:spPr>
          <a:xfrm>
            <a:off x="5422392" y="2011680"/>
            <a:ext cx="2286000" cy="658368"/>
          </a:xfrm>
          <a:prstGeom prst="rect">
            <a:avLst/>
          </a:prstGeom>
          <a:noFill/>
          <a:ln/>
        </p:spPr>
        <p:txBody>
          <a:bodyPr wrap="square" lIns="0" tIns="0" rIns="0" bIns="0" rtlCol="0" anchor="ctr"/>
          <a:lstStyle/>
          <a:p>
            <a:pPr algn="l" indent="0" marL="0">
              <a:buNone/>
            </a:pPr>
            <a:r>
              <a:rPr lang="en-US" sz="1900" b="1" dirty="0">
                <a:solidFill>
                  <a:schemeClr val="tx2"/>
                </a:solidFill>
              </a:rPr>
              <a:t>Query optimisation</a:t>
            </a:r>
            <a:endParaRPr lang="en-US" sz="1900" dirty="0"/>
          </a:p>
        </p:txBody>
      </p:sp>
      <p:sp>
        <p:nvSpPr>
          <p:cNvPr id="13" name="Text 9"/>
          <p:cNvSpPr txBox="1"/>
          <p:nvPr/>
        </p:nvSpPr>
        <p:spPr>
          <a:xfrm>
            <a:off x="4599432" y="2880360"/>
            <a:ext cx="3017520" cy="246888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50 indexes of nine types</a:t>
            </a:r>
            <a:endParaRPr lang="en-US" sz="1500" dirty="0"/>
          </a:p>
          <a:p>
            <a:pPr algn="l" marL="342900" indent="-342900">
              <a:spcAft>
                <a:spcPts val="900"/>
              </a:spcAft>
              <a:buSzPct val="100000"/>
              <a:buChar char="•"/>
            </a:pPr>
            <a:r>
              <a:rPr lang="en-US" sz="1500" dirty="0">
                <a:solidFill>
                  <a:schemeClr val="tx1"/>
                </a:solidFill>
              </a:rPr>
              <a:t>100,000-document benchmark with real explain()</a:t>
            </a:r>
            <a:endParaRPr lang="en-US" sz="1500" dirty="0"/>
          </a:p>
          <a:p>
            <a:pPr algn="l" marL="342900" indent="-342900">
              <a:spcAft>
                <a:spcPts val="900"/>
              </a:spcAft>
              <a:buSzPct val="100000"/>
              <a:buChar char="•"/>
            </a:pPr>
            <a:r>
              <a:rPr lang="en-US" sz="1500" dirty="0">
                <a:solidFill>
                  <a:schemeClr val="tx1"/>
                </a:solidFill>
              </a:rPr>
              <a:t>Covered queries; where indexes do not help</a:t>
            </a:r>
            <a:endParaRPr lang="en-US" sz="1500" dirty="0"/>
          </a:p>
          <a:p>
            <a:pPr algn="l" marL="342900" indent="-342900">
              <a:spcAft>
                <a:spcPts val="900"/>
              </a:spcAft>
              <a:buSzPct val="100000"/>
              <a:buChar char="•"/>
            </a:pPr>
            <a:r>
              <a:rPr lang="en-US" sz="1500" dirty="0">
                <a:solidFill>
                  <a:schemeClr val="tx1"/>
                </a:solidFill>
              </a:rPr>
              <a:t>Pipelines project early and group before joining</a:t>
            </a:r>
            <a:endParaRPr lang="en-US" sz="1500" dirty="0"/>
          </a:p>
        </p:txBody>
      </p:sp>
      <p:sp>
        <p:nvSpPr>
          <p:cNvPr id="14" name="Card 216"/>
          <p:cNvSpPr/>
          <p:nvPr/>
        </p:nvSpPr>
        <p:spPr>
          <a:xfrm>
            <a:off x="8101584" y="1783080"/>
            <a:ext cx="3538728" cy="3657600"/>
          </a:xfrm>
          <a:prstGeom prst="roundRect">
            <a:avLst>
              <a:gd name="adj" fmla="val 2584"/>
            </a:avLst>
          </a:prstGeom>
          <a:solidFill>
            <a:schemeClr val="bg2"/>
          </a:solidFill>
          <a:ln/>
        </p:spPr>
      </p:sp>
      <p:sp>
        <p:nvSpPr>
          <p:cNvPr id="15" name="Dot 217"/>
          <p:cNvSpPr/>
          <p:nvPr/>
        </p:nvSpPr>
        <p:spPr>
          <a:xfrm>
            <a:off x="8375904" y="2011680"/>
            <a:ext cx="658368" cy="658368"/>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8540496" y="2176272"/>
            <a:ext cx="329184" cy="329184"/>
          </a:xfrm>
          <a:prstGeom prst="rect">
            <a:avLst/>
          </a:prstGeom>
        </p:spPr>
      </p:pic>
      <p:sp>
        <p:nvSpPr>
          <p:cNvPr id="17" name="Text 12"/>
          <p:cNvSpPr txBox="1"/>
          <p:nvPr/>
        </p:nvSpPr>
        <p:spPr>
          <a:xfrm>
            <a:off x="9198864" y="2011680"/>
            <a:ext cx="2286000" cy="658368"/>
          </a:xfrm>
          <a:prstGeom prst="rect">
            <a:avLst/>
          </a:prstGeom>
          <a:noFill/>
          <a:ln/>
        </p:spPr>
        <p:txBody>
          <a:bodyPr wrap="square" lIns="0" tIns="0" rIns="0" bIns="0" rtlCol="0" anchor="ctr"/>
          <a:lstStyle/>
          <a:p>
            <a:pPr algn="l" indent="0" marL="0">
              <a:buNone/>
            </a:pPr>
            <a:r>
              <a:rPr lang="en-US" sz="1900" b="1" dirty="0">
                <a:solidFill>
                  <a:schemeClr val="tx2"/>
                </a:solidFill>
              </a:rPr>
              <a:t>Advanced features</a:t>
            </a:r>
            <a:endParaRPr lang="en-US" sz="1900" dirty="0"/>
          </a:p>
        </p:txBody>
      </p:sp>
      <p:sp>
        <p:nvSpPr>
          <p:cNvPr id="18" name="Text 13"/>
          <p:cNvSpPr txBox="1"/>
          <p:nvPr/>
        </p:nvSpPr>
        <p:spPr>
          <a:xfrm>
            <a:off x="8375904" y="2880360"/>
            <a:ext cx="3017520" cy="246888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ACID settlement with write-conflict retry</a:t>
            </a:r>
            <a:endParaRPr lang="en-US" sz="1500" dirty="0"/>
          </a:p>
          <a:p>
            <a:pPr algn="l" marL="342900" indent="-342900">
              <a:spcAft>
                <a:spcPts val="900"/>
              </a:spcAft>
              <a:buSzPct val="100000"/>
              <a:buChar char="•"/>
            </a:pPr>
            <a:r>
              <a:rPr lang="en-US" sz="1500" dirty="0">
                <a:solidFill>
                  <a:schemeClr val="tx1"/>
                </a:solidFill>
              </a:rPr>
              <a:t>Optimistic locking and a concurrency lab</a:t>
            </a:r>
            <a:endParaRPr lang="en-US" sz="1500" dirty="0"/>
          </a:p>
          <a:p>
            <a:pPr algn="l" marL="342900" indent="-342900">
              <a:spcAft>
                <a:spcPts val="900"/>
              </a:spcAft>
              <a:buSzPct val="100000"/>
              <a:buChar char="•"/>
            </a:pPr>
            <a:r>
              <a:rPr lang="en-US" sz="1500" dirty="0">
                <a:solidFill>
                  <a:schemeClr val="tx1"/>
                </a:solidFill>
              </a:rPr>
              <a:t>Roles, masked view, change streams</a:t>
            </a:r>
            <a:endParaRPr lang="en-US" sz="1500" dirty="0"/>
          </a:p>
          <a:p>
            <a:pPr algn="l" marL="342900" indent="-342900">
              <a:spcAft>
                <a:spcPts val="900"/>
              </a:spcAft>
              <a:buSzPct val="100000"/>
              <a:buChar char="•"/>
            </a:pPr>
            <a:r>
              <a:rPr lang="en-US" sz="1500" dirty="0">
                <a:solidFill>
                  <a:schemeClr val="tx1"/>
                </a:solidFill>
              </a:rPr>
              <a:t>Migration, views, backup and restore</a:t>
            </a:r>
            <a:endParaRPr lang="en-US" sz="1500" dirty="0"/>
          </a:p>
        </p:txBody>
      </p:sp>
      <p:sp>
        <p:nvSpPr>
          <p:cNvPr id="19" name="Live demo note"/>
          <p:cNvSpPr/>
          <p:nvPr/>
        </p:nvSpPr>
        <p:spPr>
          <a:xfrm>
            <a:off x="548640" y="5605272"/>
            <a:ext cx="11094415" cy="566928"/>
          </a:xfrm>
          <a:prstGeom prst="roundRect">
            <a:avLst>
              <a:gd name="adj" fmla="val 16129"/>
            </a:avLst>
          </a:prstGeom>
          <a:solidFill>
            <a:schemeClr val="accent2">
              <a:alpha val="15000"/>
            </a:schemeClr>
          </a:solidFill>
          <a:ln/>
        </p:spPr>
      </p:sp>
      <p:sp>
        <p:nvSpPr>
          <p:cNvPr id="20" name="Text 15"/>
          <p:cNvSpPr txBox="1"/>
          <p:nvPr/>
        </p:nvSpPr>
        <p:spPr>
          <a:xfrm>
            <a:off x="822960" y="5605272"/>
            <a:ext cx="10545775" cy="566928"/>
          </a:xfrm>
          <a:prstGeom prst="rect">
            <a:avLst/>
          </a:prstGeom>
          <a:noFill/>
          <a:ln/>
        </p:spPr>
        <p:txBody>
          <a:bodyPr wrap="square" lIns="0" tIns="0" rIns="0" bIns="0" rtlCol="0" anchor="ctr"/>
          <a:lstStyle/>
          <a:p>
            <a:pPr algn="l" indent="0" marL="0">
              <a:buNone/>
            </a:pPr>
            <a:r>
              <a:rPr lang="en-US" sz="1400" dirty="0">
                <a:solidFill>
                  <a:schemeClr val="tx1"/>
                </a:solidFill>
              </a:rPr>
              <a:t>Every point runs live on MongoDB Atlas: DB Console, Scale Benchmark, Concurrency Lab, Security, Live Feed and Maintenance pages.</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Limitations and next steps</a:t>
            </a:r>
            <a:endParaRPr lang="en-US" sz="3600" dirty="0"/>
          </a:p>
        </p:txBody>
      </p:sp>
      <p:sp>
        <p:nvSpPr>
          <p:cNvPr id="4" name="Limitations card"/>
          <p:cNvSpPr/>
          <p:nvPr/>
        </p:nvSpPr>
        <p:spPr>
          <a:xfrm>
            <a:off x="548640" y="1783080"/>
            <a:ext cx="5394960" cy="3657600"/>
          </a:xfrm>
          <a:prstGeom prst="roundRect">
            <a:avLst>
              <a:gd name="adj" fmla="val 2500"/>
            </a:avLst>
          </a:prstGeom>
          <a:solidFill>
            <a:schemeClr val="accent6">
              <a:alpha val="12000"/>
            </a:schemeClr>
          </a:solidFill>
          <a:ln/>
        </p:spPr>
      </p:sp>
      <p:sp>
        <p:nvSpPr>
          <p:cNvPr id="5" name="Dot 218"/>
          <p:cNvSpPr/>
          <p:nvPr/>
        </p:nvSpPr>
        <p:spPr>
          <a:xfrm>
            <a:off x="822960" y="1993392"/>
            <a:ext cx="603504" cy="603504"/>
          </a:xfrm>
          <a:prstGeom prst="ellipse">
            <a:avLst/>
          </a:prstGeom>
          <a:solidFill>
            <a:schemeClr val="accent6"/>
          </a:solidFill>
          <a:ln/>
        </p:spPr>
      </p:sp>
      <p:pic>
        <p:nvPicPr>
          <p:cNvPr id="6" name="Image 0" descr="icon">    </p:cNvPr>
          <p:cNvPicPr>
            <a:picLocks noChangeAspect="1"/>
          </p:cNvPicPr>
          <p:nvPr/>
        </p:nvPicPr>
        <p:blipFill>
          <a:blip r:embed="rId1"/>
          <a:stretch>
            <a:fillRect/>
          </a:stretch>
        </p:blipFill>
        <p:spPr>
          <a:xfrm>
            <a:off x="973836" y="2144268"/>
            <a:ext cx="301752" cy="301752"/>
          </a:xfrm>
          <a:prstGeom prst="rect">
            <a:avLst/>
          </a:prstGeom>
        </p:spPr>
      </p:pic>
      <p:sp>
        <p:nvSpPr>
          <p:cNvPr id="7" name="Text 4"/>
          <p:cNvSpPr txBox="1"/>
          <p:nvPr/>
        </p:nvSpPr>
        <p:spPr>
          <a:xfrm>
            <a:off x="1600200" y="1993392"/>
            <a:ext cx="4114800" cy="603504"/>
          </a:xfrm>
          <a:prstGeom prst="rect">
            <a:avLst/>
          </a:prstGeom>
          <a:noFill/>
          <a:ln/>
        </p:spPr>
        <p:txBody>
          <a:bodyPr wrap="square" lIns="0" tIns="0" rIns="0" bIns="0" rtlCol="0" anchor="ctr"/>
          <a:lstStyle/>
          <a:p>
            <a:pPr algn="l" indent="0" marL="0">
              <a:buNone/>
            </a:pPr>
            <a:r>
              <a:rPr lang="en-US" sz="2000" b="1" dirty="0">
                <a:solidFill>
                  <a:schemeClr val="tx2"/>
                </a:solidFill>
              </a:rPr>
              <a:t>Current limitations</a:t>
            </a:r>
            <a:endParaRPr lang="en-US" sz="2000" dirty="0"/>
          </a:p>
        </p:txBody>
      </p:sp>
      <p:sp>
        <p:nvSpPr>
          <p:cNvPr id="8" name="Text 5"/>
          <p:cNvSpPr txBox="1"/>
          <p:nvPr/>
        </p:nvSpPr>
        <p:spPr>
          <a:xfrm>
            <a:off x="868680" y="2788920"/>
            <a:ext cx="4800600" cy="256032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Atlas M0: no sharding and no point-in-time backup</a:t>
            </a:r>
            <a:endParaRPr lang="en-US" sz="1500" dirty="0"/>
          </a:p>
          <a:p>
            <a:pPr algn="l" marL="342900" indent="-342900">
              <a:spcAft>
                <a:spcPts val="900"/>
              </a:spcAft>
              <a:buSzPct val="100000"/>
              <a:buChar char="•"/>
            </a:pPr>
            <a:r>
              <a:rPr lang="en-US" sz="1500" dirty="0">
                <a:solidFill>
                  <a:schemeClr val="tx1"/>
                </a:solidFill>
              </a:rPr>
              <a:t>The data is synthetic (fictional people and companies)</a:t>
            </a:r>
            <a:endParaRPr lang="en-US" sz="1500" dirty="0"/>
          </a:p>
          <a:p>
            <a:pPr algn="l" marL="342900" indent="-342900">
              <a:spcAft>
                <a:spcPts val="900"/>
              </a:spcAft>
              <a:buSzPct val="100000"/>
              <a:buChar char="•"/>
            </a:pPr>
            <a:r>
              <a:rPr lang="en-US" sz="1500" dirty="0">
                <a:solidFill>
                  <a:schemeClr val="tx1"/>
                </a:solidFill>
              </a:rPr>
              <a:t>No login screen: staff are picked from a dropdown, although database roles exist</a:t>
            </a:r>
            <a:endParaRPr lang="en-US" sz="1500" dirty="0"/>
          </a:p>
          <a:p>
            <a:pPr algn="l" marL="342900" indent="-342900">
              <a:spcAft>
                <a:spcPts val="900"/>
              </a:spcAft>
              <a:buSzPct val="100000"/>
              <a:buChar char="•"/>
            </a:pPr>
            <a:r>
              <a:rPr lang="en-US" sz="1500" dirty="0">
                <a:solidFill>
                  <a:schemeClr val="tx1"/>
                </a:solidFill>
              </a:rPr>
              <a:t>Fraud scoring is rule-based, not a trained model</a:t>
            </a:r>
            <a:endParaRPr lang="en-US" sz="1500" dirty="0"/>
          </a:p>
        </p:txBody>
      </p:sp>
      <p:sp>
        <p:nvSpPr>
          <p:cNvPr id="9" name="Next steps card"/>
          <p:cNvSpPr/>
          <p:nvPr/>
        </p:nvSpPr>
        <p:spPr>
          <a:xfrm>
            <a:off x="6245352" y="1783080"/>
            <a:ext cx="5394960" cy="3657600"/>
          </a:xfrm>
          <a:prstGeom prst="roundRect">
            <a:avLst>
              <a:gd name="adj" fmla="val 2500"/>
            </a:avLst>
          </a:prstGeom>
          <a:solidFill>
            <a:schemeClr val="bg2"/>
          </a:solidFill>
          <a:ln/>
        </p:spPr>
      </p:sp>
      <p:sp>
        <p:nvSpPr>
          <p:cNvPr id="10" name="Dot 219"/>
          <p:cNvSpPr/>
          <p:nvPr/>
        </p:nvSpPr>
        <p:spPr>
          <a:xfrm>
            <a:off x="6519672" y="1993392"/>
            <a:ext cx="603504" cy="603504"/>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6670548" y="2144268"/>
            <a:ext cx="301752" cy="301752"/>
          </a:xfrm>
          <a:prstGeom prst="rect">
            <a:avLst/>
          </a:prstGeom>
        </p:spPr>
      </p:pic>
      <p:sp>
        <p:nvSpPr>
          <p:cNvPr id="12" name="Text 8"/>
          <p:cNvSpPr txBox="1"/>
          <p:nvPr/>
        </p:nvSpPr>
        <p:spPr>
          <a:xfrm>
            <a:off x="7296912" y="1993392"/>
            <a:ext cx="4114800" cy="603504"/>
          </a:xfrm>
          <a:prstGeom prst="rect">
            <a:avLst/>
          </a:prstGeom>
          <a:noFill/>
          <a:ln/>
        </p:spPr>
        <p:txBody>
          <a:bodyPr wrap="square" lIns="0" tIns="0" rIns="0" bIns="0" rtlCol="0" anchor="ctr"/>
          <a:lstStyle/>
          <a:p>
            <a:pPr algn="l" indent="0" marL="0">
              <a:buNone/>
            </a:pPr>
            <a:r>
              <a:rPr lang="en-US" sz="2000" b="1" dirty="0">
                <a:solidFill>
                  <a:schemeClr val="accent1"/>
                </a:solidFill>
              </a:rPr>
              <a:t>Next steps</a:t>
            </a:r>
            <a:endParaRPr lang="en-US" sz="2000" dirty="0"/>
          </a:p>
        </p:txBody>
      </p:sp>
      <p:sp>
        <p:nvSpPr>
          <p:cNvPr id="13" name="Text 9"/>
          <p:cNvSpPr txBox="1"/>
          <p:nvPr/>
        </p:nvSpPr>
        <p:spPr>
          <a:xfrm>
            <a:off x="6565392" y="2788920"/>
            <a:ext cx="4800600" cy="2560320"/>
          </a:xfrm>
          <a:prstGeom prst="rect">
            <a:avLst/>
          </a:prstGeom>
          <a:noFill/>
          <a:ln/>
        </p:spPr>
        <p:txBody>
          <a:bodyPr wrap="square" lIns="0" tIns="0" rIns="0" bIns="0" rtlCol="0" anchor="t"/>
          <a:lstStyle/>
          <a:p>
            <a:pPr algn="l" marL="342900" indent="-342900">
              <a:spcAft>
                <a:spcPts val="900"/>
              </a:spcAft>
              <a:buSzPct val="100000"/>
              <a:buChar char="•"/>
            </a:pPr>
            <a:r>
              <a:rPr lang="en-US" sz="1500" dirty="0">
                <a:solidFill>
                  <a:schemeClr val="tx1"/>
                </a:solidFill>
              </a:rPr>
              <a:t>Shard on hashed member_id when volume outgrows one replica set</a:t>
            </a:r>
            <a:endParaRPr lang="en-US" sz="1500" dirty="0"/>
          </a:p>
          <a:p>
            <a:pPr algn="l" marL="342900" indent="-342900">
              <a:spcAft>
                <a:spcPts val="900"/>
              </a:spcAft>
              <a:buSzPct val="100000"/>
              <a:buChar char="•"/>
            </a:pPr>
            <a:r>
              <a:rPr lang="en-US" sz="1500" dirty="0">
                <a:solidFill>
                  <a:schemeClr val="tx1"/>
                </a:solidFill>
              </a:rPr>
              <a:t>Continuous backup with point-in-time restore on a paid tier</a:t>
            </a:r>
            <a:endParaRPr lang="en-US" sz="1500" dirty="0"/>
          </a:p>
          <a:p>
            <a:pPr algn="l" marL="342900" indent="-342900">
              <a:spcAft>
                <a:spcPts val="900"/>
              </a:spcAft>
              <a:buSzPct val="100000"/>
              <a:buChar char="•"/>
            </a:pPr>
            <a:r>
              <a:rPr lang="en-US" sz="1500" dirty="0">
                <a:solidFill>
                  <a:schemeClr val="tx1"/>
                </a:solidFill>
              </a:rPr>
              <a:t>Log-in mapped to database roles, replacing the user switcher</a:t>
            </a:r>
            <a:endParaRPr lang="en-US" sz="1500" dirty="0"/>
          </a:p>
          <a:p>
            <a:pPr algn="l" marL="342900" indent="-342900">
              <a:spcAft>
                <a:spcPts val="900"/>
              </a:spcAft>
              <a:buSzPct val="100000"/>
              <a:buChar char="•"/>
            </a:pPr>
            <a:r>
              <a:rPr lang="en-US" sz="1500" dirty="0">
                <a:solidFill>
                  <a:schemeClr val="tx1"/>
                </a:solidFill>
              </a:rPr>
              <a:t>Train a fraud model on the aggregated claim history</a:t>
            </a:r>
            <a:endParaRPr lang="en-US" sz="1500" dirty="0"/>
          </a:p>
        </p:txBody>
      </p:sp>
      <p:sp>
        <p:nvSpPr>
          <p:cNvPr id="14" name="Switch note"/>
          <p:cNvSpPr/>
          <p:nvPr/>
        </p:nvSpPr>
        <p:spPr>
          <a:xfrm>
            <a:off x="548640" y="5605272"/>
            <a:ext cx="11094415" cy="566928"/>
          </a:xfrm>
          <a:prstGeom prst="roundRect">
            <a:avLst>
              <a:gd name="adj" fmla="val 16129"/>
            </a:avLst>
          </a:prstGeom>
          <a:solidFill>
            <a:schemeClr val="accent2">
              <a:alpha val="15000"/>
            </a:schemeClr>
          </a:solidFill>
          <a:ln/>
        </p:spPr>
      </p:sp>
      <p:sp>
        <p:nvSpPr>
          <p:cNvPr id="15" name="Text 11"/>
          <p:cNvSpPr txBox="1"/>
          <p:nvPr/>
        </p:nvSpPr>
        <p:spPr>
          <a:xfrm>
            <a:off x="822960" y="5605272"/>
            <a:ext cx="10545775" cy="566928"/>
          </a:xfrm>
          <a:prstGeom prst="rect">
            <a:avLst/>
          </a:prstGeom>
          <a:noFill/>
          <a:ln/>
        </p:spPr>
        <p:txBody>
          <a:bodyPr wrap="square" lIns="0" tIns="0" rIns="0" bIns="0" rtlCol="0" anchor="ctr"/>
          <a:lstStyle/>
          <a:p>
            <a:pPr algn="l" indent="0" marL="0">
              <a:buNone/>
            </a:pPr>
            <a:r>
              <a:rPr lang="en-US" sz="1400" dirty="0">
                <a:solidFill>
                  <a:schemeClr val="tx1"/>
                </a:solidFill>
              </a:rPr>
              <a:t>Everything shown runs on MongoDB Atlas; </a:t>
            </a:r>
            <a:pPr algn="l" indent="0" marL="0">
              <a:buNone/>
            </a:pPr>
            <a:r>
              <a:rPr lang="en-US" sz="1400" b="1" dirty="0">
                <a:solidFill>
                  <a:schemeClr val="tx1"/>
                </a:solidFill>
                <a:latin typeface="Courier New" pitchFamily="34" charset="0"/>
                <a:ea typeface="Courier New" pitchFamily="34" charset="-122"/>
                <a:cs typeface="Courier New" pitchFamily="34" charset="-120"/>
              </a:rPr>
              <a:t>CLAIMSURE_MODE=mock</a:t>
            </a:r>
            <a:pPr algn="l" indent="0" marL="0">
              <a:buNone/>
            </a:pPr>
            <a:r>
              <a:rPr lang="en-US" sz="1400" dirty="0">
                <a:solidFill>
                  <a:schemeClr val="tx1"/>
                </a:solidFill>
              </a:rPr>
              <a:t> falls back to the in-memory mock if the network is unavailable.</a:t>
            </a:r>
            <a:endParaRPr lang="en-US" sz="1400" dirty="0"/>
          </a:p>
        </p:txBody>
      </p:sp>
      <p:sp>
        <p:nvSpPr>
          <p:cNvPr id="25" name="Slide Number Placeholder 0"/>
          <p:cNvSpPr>
            <a:spLocks noGrp="1"/>
          </p:cNvSpPr>
          <p:nvPr>
            <p:ph type="sldNum" sz="quarter" idx="4294967295"/>
          </p:nvPr>
        </p:nvSpPr>
        <p:spPr>
          <a:xfrm>
            <a:off x="11000232"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5852160" cy="1097280"/>
          </a:xfrm>
          <a:prstGeom prst="rect">
            <a:avLst/>
          </a:prstGeom>
          <a:noFill/>
          <a:ln/>
        </p:spPr>
        <p:txBody>
          <a:bodyPr wrap="square" lIns="0" tIns="0" rIns="0" bIns="0" rtlCol="0" anchor="b"/>
          <a:lstStyle/>
          <a:p>
            <a:pPr algn="l" indent="0" marL="0">
              <a:buNone/>
            </a:pPr>
            <a:r>
              <a:rPr lang="en-US" sz="6000" b="1" dirty="0">
                <a:solidFill>
                  <a:schemeClr val="bg1"/>
                </a:solidFill>
              </a:rPr>
              <a:t>Thank you</a:t>
            </a:r>
            <a:endParaRPr lang="en-US" sz="6000" dirty="0"/>
          </a:p>
        </p:txBody>
      </p:sp>
      <p:sp>
        <p:nvSpPr>
          <p:cNvPr id="3" name="Text 0"/>
          <p:cNvSpPr/>
          <p:nvPr>
            <p:ph idx="101" type="body" hasCustomPrompt="1"/>
          </p:nvPr>
        </p:nvSpPr>
        <p:spPr>
          <a:xfrm>
            <a:off x="731520" y="2377440"/>
            <a:ext cx="5669280" cy="548640"/>
          </a:xfrm>
          <a:prstGeom prst="rect">
            <a:avLst/>
          </a:prstGeom>
          <a:noFill/>
          <a:ln/>
        </p:spPr>
        <p:txBody>
          <a:bodyPr wrap="square" lIns="0" tIns="0" rIns="0" bIns="0" rtlCol="0" anchor="t"/>
          <a:lstStyle/>
          <a:p>
            <a:pPr algn="l" indent="0" marL="0">
              <a:buNone/>
            </a:pPr>
            <a:r>
              <a:rPr lang="en-US" sz="2400" dirty="0">
                <a:solidFill>
                  <a:schemeClr val="accent2"/>
                </a:solidFill>
              </a:rPr>
              <a:t>Questions are welcome</a:t>
            </a:r>
            <a:endParaRPr lang="en-US" sz="2400" dirty="0"/>
          </a:p>
        </p:txBody>
      </p:sp>
      <p:sp>
        <p:nvSpPr>
          <p:cNvPr id="4" name="Dot 220"/>
          <p:cNvSpPr/>
          <p:nvPr/>
        </p:nvSpPr>
        <p:spPr>
          <a:xfrm>
            <a:off x="731520" y="3429000"/>
            <a:ext cx="512064" cy="512064"/>
          </a:xfrm>
          <a:prstGeom prst="ellipse">
            <a:avLst/>
          </a:prstGeom>
          <a:solidFill>
            <a:schemeClr val="accent1"/>
          </a:solidFill>
          <a:ln/>
        </p:spPr>
      </p:sp>
      <p:sp>
        <p:nvSpPr>
          <p:cNvPr id="5" name="Text 3"/>
          <p:cNvSpPr txBox="1"/>
          <p:nvPr/>
        </p:nvSpPr>
        <p:spPr>
          <a:xfrm>
            <a:off x="731520" y="342900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63040" y="3374136"/>
            <a:ext cx="4937760" cy="310896"/>
          </a:xfrm>
          <a:prstGeom prst="rect">
            <a:avLst/>
          </a:prstGeom>
          <a:noFill/>
          <a:ln/>
        </p:spPr>
        <p:txBody>
          <a:bodyPr wrap="square" lIns="0" tIns="0" rIns="0" bIns="0" rtlCol="0" anchor="ctr"/>
          <a:lstStyle/>
          <a:p>
            <a:pPr algn="l" indent="0" marL="0">
              <a:buNone/>
            </a:pPr>
            <a:r>
              <a:rPr lang="en-US" sz="1700" b="1" dirty="0">
                <a:solidFill>
                  <a:schemeClr val="bg1"/>
                </a:solidFill>
              </a:rPr>
              <a:t>Document model</a:t>
            </a:r>
            <a:endParaRPr lang="en-US" sz="1700" dirty="0"/>
          </a:p>
        </p:txBody>
      </p:sp>
      <p:sp>
        <p:nvSpPr>
          <p:cNvPr id="7" name="Text 5"/>
          <p:cNvSpPr txBox="1"/>
          <p:nvPr/>
        </p:nvSpPr>
        <p:spPr>
          <a:xfrm>
            <a:off x="1463040" y="3685032"/>
            <a:ext cx="4937760" cy="310896"/>
          </a:xfrm>
          <a:prstGeom prst="rect">
            <a:avLst/>
          </a:prstGeom>
          <a:noFill/>
          <a:ln/>
        </p:spPr>
        <p:txBody>
          <a:bodyPr wrap="square" lIns="0" tIns="0" rIns="0" bIns="0" rtlCol="0" anchor="ctr"/>
          <a:lstStyle/>
          <a:p>
            <a:pPr algn="l" indent="0" marL="0">
              <a:buNone/>
            </a:pPr>
            <a:r>
              <a:rPr lang="en-US" sz="1400" dirty="0">
                <a:solidFill>
                  <a:schemeClr val="bg2"/>
                </a:solidFill>
              </a:rPr>
              <a:t>One claim is one document; shared data is referenced.</a:t>
            </a:r>
            <a:endParaRPr lang="en-US" sz="1400" dirty="0"/>
          </a:p>
        </p:txBody>
      </p:sp>
      <p:sp>
        <p:nvSpPr>
          <p:cNvPr id="8" name="Dot 221"/>
          <p:cNvSpPr/>
          <p:nvPr/>
        </p:nvSpPr>
        <p:spPr>
          <a:xfrm>
            <a:off x="731520" y="4297680"/>
            <a:ext cx="512064" cy="512064"/>
          </a:xfrm>
          <a:prstGeom prst="ellipse">
            <a:avLst/>
          </a:prstGeom>
          <a:solidFill>
            <a:schemeClr val="accent1"/>
          </a:solidFill>
          <a:ln/>
        </p:spPr>
      </p:sp>
      <p:sp>
        <p:nvSpPr>
          <p:cNvPr id="9" name="Text 7"/>
          <p:cNvSpPr txBox="1"/>
          <p:nvPr/>
        </p:nvSpPr>
        <p:spPr>
          <a:xfrm>
            <a:off x="731520" y="429768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463040" y="4242816"/>
            <a:ext cx="4937760" cy="310896"/>
          </a:xfrm>
          <a:prstGeom prst="rect">
            <a:avLst/>
          </a:prstGeom>
          <a:noFill/>
          <a:ln/>
        </p:spPr>
        <p:txBody>
          <a:bodyPr wrap="square" lIns="0" tIns="0" rIns="0" bIns="0" rtlCol="0" anchor="ctr"/>
          <a:lstStyle/>
          <a:p>
            <a:pPr algn="l" indent="0" marL="0">
              <a:buNone/>
            </a:pPr>
            <a:r>
              <a:rPr lang="en-US" sz="1700" b="1" dirty="0">
                <a:solidFill>
                  <a:schemeClr val="bg1"/>
                </a:solidFill>
              </a:rPr>
              <a:t>Database features</a:t>
            </a:r>
            <a:endParaRPr lang="en-US" sz="1700" dirty="0"/>
          </a:p>
        </p:txBody>
      </p:sp>
      <p:sp>
        <p:nvSpPr>
          <p:cNvPr id="11" name="Text 9"/>
          <p:cNvSpPr txBox="1"/>
          <p:nvPr/>
        </p:nvSpPr>
        <p:spPr>
          <a:xfrm>
            <a:off x="1463040" y="4553712"/>
            <a:ext cx="4937760" cy="310896"/>
          </a:xfrm>
          <a:prstGeom prst="rect">
            <a:avLst/>
          </a:prstGeom>
          <a:noFill/>
          <a:ln/>
        </p:spPr>
        <p:txBody>
          <a:bodyPr wrap="square" lIns="0" tIns="0" rIns="0" bIns="0" rtlCol="0" anchor="ctr"/>
          <a:lstStyle/>
          <a:p>
            <a:pPr algn="l" indent="0" marL="0">
              <a:buNone/>
            </a:pPr>
            <a:r>
              <a:rPr lang="en-US" sz="1400" dirty="0">
                <a:solidFill>
                  <a:schemeClr val="bg2"/>
                </a:solidFill>
              </a:rPr>
              <a:t>Validation, indexes, transactions, locking, roles, change streams.</a:t>
            </a:r>
            <a:endParaRPr lang="en-US" sz="1400" dirty="0"/>
          </a:p>
        </p:txBody>
      </p:sp>
      <p:sp>
        <p:nvSpPr>
          <p:cNvPr id="12" name="Dot 222"/>
          <p:cNvSpPr/>
          <p:nvPr/>
        </p:nvSpPr>
        <p:spPr>
          <a:xfrm>
            <a:off x="731520" y="5166360"/>
            <a:ext cx="512064" cy="512064"/>
          </a:xfrm>
          <a:prstGeom prst="ellipse">
            <a:avLst/>
          </a:prstGeom>
          <a:solidFill>
            <a:schemeClr val="accent1"/>
          </a:solidFill>
          <a:ln/>
        </p:spPr>
      </p:sp>
      <p:sp>
        <p:nvSpPr>
          <p:cNvPr id="13" name="Text 11"/>
          <p:cNvSpPr txBox="1"/>
          <p:nvPr/>
        </p:nvSpPr>
        <p:spPr>
          <a:xfrm>
            <a:off x="731520" y="516636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463040" y="5111496"/>
            <a:ext cx="4937760" cy="310896"/>
          </a:xfrm>
          <a:prstGeom prst="rect">
            <a:avLst/>
          </a:prstGeom>
          <a:noFill/>
          <a:ln/>
        </p:spPr>
        <p:txBody>
          <a:bodyPr wrap="square" lIns="0" tIns="0" rIns="0" bIns="0" rtlCol="0" anchor="ctr"/>
          <a:lstStyle/>
          <a:p>
            <a:pPr algn="l" indent="0" marL="0">
              <a:buNone/>
            </a:pPr>
            <a:r>
              <a:rPr lang="en-US" sz="1700" b="1" dirty="0">
                <a:solidFill>
                  <a:schemeClr val="bg1"/>
                </a:solidFill>
              </a:rPr>
              <a:t>Working system</a:t>
            </a:r>
            <a:endParaRPr lang="en-US" sz="1700" dirty="0"/>
          </a:p>
        </p:txBody>
      </p:sp>
      <p:sp>
        <p:nvSpPr>
          <p:cNvPr id="15" name="Text 13"/>
          <p:cNvSpPr txBox="1"/>
          <p:nvPr/>
        </p:nvSpPr>
        <p:spPr>
          <a:xfrm>
            <a:off x="1463040" y="5422392"/>
            <a:ext cx="4937760" cy="310896"/>
          </a:xfrm>
          <a:prstGeom prst="rect">
            <a:avLst/>
          </a:prstGeom>
          <a:noFill/>
          <a:ln/>
        </p:spPr>
        <p:txBody>
          <a:bodyPr wrap="square" lIns="0" tIns="0" rIns="0" bIns="0" rtlCol="0" anchor="ctr"/>
          <a:lstStyle/>
          <a:p>
            <a:pPr algn="l" indent="0" marL="0">
              <a:buNone/>
            </a:pPr>
            <a:r>
              <a:rPr lang="en-US" sz="1400" dirty="0">
                <a:solidFill>
                  <a:schemeClr val="bg2"/>
                </a:solidFill>
              </a:rPr>
              <a:t>On MongoDB Atlas, with 120 automated tests.</a:t>
            </a:r>
            <a:endParaRPr lang="en-US" sz="1400" dirty="0"/>
          </a:p>
        </p:txBody>
      </p:sp>
      <p:sp>
        <p:nvSpPr>
          <p:cNvPr id="16" name="Run it card"/>
          <p:cNvSpPr/>
          <p:nvPr/>
        </p:nvSpPr>
        <p:spPr>
          <a:xfrm>
            <a:off x="7315200" y="1463040"/>
            <a:ext cx="4206240" cy="4480560"/>
          </a:xfrm>
          <a:prstGeom prst="roundRect">
            <a:avLst>
              <a:gd name="adj" fmla="val 2174"/>
            </a:avLst>
          </a:prstGeom>
          <a:solidFill>
            <a:schemeClr val="bg1">
              <a:alpha val="10000"/>
            </a:schemeClr>
          </a:solidFill>
          <a:ln/>
        </p:spPr>
      </p:sp>
      <p:sp>
        <p:nvSpPr>
          <p:cNvPr id="17" name="Text 15"/>
          <p:cNvSpPr txBox="1"/>
          <p:nvPr/>
        </p:nvSpPr>
        <p:spPr>
          <a:xfrm>
            <a:off x="7589520" y="1691640"/>
            <a:ext cx="3657600" cy="411480"/>
          </a:xfrm>
          <a:prstGeom prst="rect">
            <a:avLst/>
          </a:prstGeom>
          <a:noFill/>
          <a:ln/>
        </p:spPr>
        <p:txBody>
          <a:bodyPr wrap="square" lIns="0" tIns="0" rIns="0" bIns="0" rtlCol="0" anchor="ctr"/>
          <a:lstStyle/>
          <a:p>
            <a:pPr algn="l" indent="0" marL="0">
              <a:buNone/>
            </a:pPr>
            <a:r>
              <a:rPr lang="en-US" sz="2000" b="1" dirty="0">
                <a:solidFill>
                  <a:schemeClr val="bg1"/>
                </a:solidFill>
              </a:rPr>
              <a:t>Run it yourself</a:t>
            </a:r>
            <a:endParaRPr lang="en-US" sz="2000" dirty="0"/>
          </a:p>
        </p:txBody>
      </p:sp>
      <p:sp>
        <p:nvSpPr>
          <p:cNvPr id="18" name="Text 16"/>
          <p:cNvSpPr txBox="1"/>
          <p:nvPr/>
        </p:nvSpPr>
        <p:spPr>
          <a:xfrm>
            <a:off x="7589520" y="2286000"/>
            <a:ext cx="3657600" cy="640080"/>
          </a:xfrm>
          <a:prstGeom prst="rect">
            <a:avLst/>
          </a:prstGeom>
          <a:noFill/>
          <a:ln/>
        </p:spPr>
        <p:txBody>
          <a:bodyPr wrap="square" lIns="0" tIns="0" rIns="0" bIns="0" rtlCol="0" anchor="t"/>
          <a:lstStyle/>
          <a:p>
            <a:pPr algn="l" indent="0" marL="0">
              <a:buNone/>
            </a:pPr>
            <a:r>
              <a:rPr lang="en-US" sz="1300" dirty="0">
                <a:solidFill>
                  <a:schemeClr val="accent2"/>
                </a:solidFill>
                <a:latin typeface="Courier New" pitchFamily="34" charset="0"/>
                <a:ea typeface="Courier New" pitchFamily="34" charset="-122"/>
                <a:cs typeface="Courier New" pitchFamily="34" charset="-120"/>
              </a:rPr>
              <a:t>pip install -r requirements.txt</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python main.py web</a:t>
            </a:r>
            <a:endParaRPr lang="en-US" sz="1300" dirty="0"/>
          </a:p>
        </p:txBody>
      </p:sp>
      <p:sp>
        <p:nvSpPr>
          <p:cNvPr id="19" name="Text 17"/>
          <p:cNvSpPr txBox="1"/>
          <p:nvPr/>
        </p:nvSpPr>
        <p:spPr>
          <a:xfrm>
            <a:off x="7589520" y="3017520"/>
            <a:ext cx="3657600" cy="822960"/>
          </a:xfrm>
          <a:prstGeom prst="rect">
            <a:avLst/>
          </a:prstGeom>
          <a:noFill/>
          <a:ln/>
        </p:spPr>
        <p:txBody>
          <a:bodyPr wrap="square" lIns="0" tIns="0" rIns="0" bIns="0" rtlCol="0" anchor="t"/>
          <a:lstStyle/>
          <a:p>
            <a:pPr algn="l" indent="0" marL="0">
              <a:buNone/>
            </a:pPr>
            <a:r>
              <a:rPr lang="en-US" sz="1300" dirty="0">
                <a:solidFill>
                  <a:schemeClr val="bg2"/>
                </a:solidFill>
              </a:rPr>
              <a:t>Put the Atlas connection string in .env, run python main.py init-db once, then open http://127.0.0.1:8000.</a:t>
            </a:r>
            <a:endParaRPr lang="en-US" sz="1300" dirty="0"/>
          </a:p>
        </p:txBody>
      </p:sp>
      <p:sp>
        <p:nvSpPr>
          <p:cNvPr id="20" name="Text 18"/>
          <p:cNvSpPr txBox="1"/>
          <p:nvPr/>
        </p:nvSpPr>
        <p:spPr>
          <a:xfrm>
            <a:off x="7589520" y="3931920"/>
            <a:ext cx="3657600" cy="365760"/>
          </a:xfrm>
          <a:prstGeom prst="rect">
            <a:avLst/>
          </a:prstGeom>
          <a:noFill/>
          <a:ln/>
        </p:spPr>
        <p:txBody>
          <a:bodyPr wrap="square" lIns="0" tIns="0" rIns="0" bIns="0" rtlCol="0" anchor="ctr"/>
          <a:lstStyle/>
          <a:p>
            <a:pPr algn="l" indent="0" marL="0">
              <a:buNone/>
            </a:pPr>
            <a:r>
              <a:rPr lang="en-US" sz="1600" b="1" dirty="0">
                <a:solidFill>
                  <a:schemeClr val="bg1"/>
                </a:solidFill>
              </a:rPr>
              <a:t>Source code</a:t>
            </a:r>
            <a:endParaRPr lang="en-US" sz="1600" dirty="0"/>
          </a:p>
        </p:txBody>
      </p:sp>
      <p:sp>
        <p:nvSpPr>
          <p:cNvPr id="21" name="Text 19"/>
          <p:cNvSpPr txBox="1"/>
          <p:nvPr/>
        </p:nvSpPr>
        <p:spPr>
          <a:xfrm>
            <a:off x="7589520" y="4343400"/>
            <a:ext cx="3749040" cy="822960"/>
          </a:xfrm>
          <a:prstGeom prst="rect">
            <a:avLst/>
          </a:prstGeom>
          <a:noFill/>
          <a:ln/>
        </p:spPr>
        <p:txBody>
          <a:bodyPr wrap="square" lIns="0" tIns="0" rIns="0" bIns="0" rtlCol="0" anchor="t"/>
          <a:lstStyle/>
          <a:p>
            <a:pPr algn="l" indent="0" marL="0">
              <a:buNone/>
            </a:pPr>
            <a:r>
              <a:rPr lang="en-US" sz="12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github.com/nirupamraut-2062/</a:t>
            </a:r>
            <a:endParaRPr lang="en-US" sz="1200" dirty="0"/>
          </a:p>
          <a:p>
            <a:pPr algn="l" indent="0" marL="0">
              <a:buNone/>
            </a:pPr>
            <a:r>
              <a:rPr lang="en-US" sz="12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Health_Insurance_Claim_Processing-_System</a:t>
            </a:r>
            <a:endParaRPr lang="en-US" sz="1200" dirty="0"/>
          </a:p>
        </p:txBody>
      </p:sp>
      <p:sp>
        <p:nvSpPr>
          <p:cNvPr id="22" name="Text 20"/>
          <p:cNvSpPr txBox="1"/>
          <p:nvPr/>
        </p:nvSpPr>
        <p:spPr>
          <a:xfrm>
            <a:off x="7589520" y="5349240"/>
            <a:ext cx="3657600" cy="365760"/>
          </a:xfrm>
          <a:prstGeom prst="rect">
            <a:avLst/>
          </a:prstGeom>
          <a:noFill/>
          <a:ln/>
        </p:spPr>
        <p:txBody>
          <a:bodyPr wrap="square" lIns="0" tIns="0" rIns="0" bIns="0" rtlCol="0" anchor="ctr"/>
          <a:lstStyle/>
          <a:p>
            <a:pPr algn="l" indent="0" marL="0">
              <a:buNone/>
            </a:pPr>
            <a:r>
              <a:rPr lang="en-US" sz="1200" dirty="0">
                <a:solidFill>
                  <a:schemeClr val="bg2"/>
                </a:solidFill>
              </a:rPr>
              <a:t>ClaimSure  |  Database Management Systems project</a:t>
            </a:r>
            <a:endParaRPr lang="en-US" sz="1200" dirty="0"/>
          </a:p>
        </p:txBody>
      </p:sp>
    </p:spTree>
  </p:cSld>
  <p:clrMapOvr>
    <a:masterClrMapping/>
  </p:clrMapOvr>
</p:sld>
</file>

<file path=ppt/theme/theme1.xml><?xml version="1.0" encoding="utf-8"?>
<a:theme xmlns:a="http://schemas.openxmlformats.org/drawingml/2006/main" name="ClaimSure">
  <a:themeElements>
    <a:clrScheme name="ClaimSure">
      <a:dk1>
        <a:srgbClr val="14272C"/>
      </a:dk1>
      <a:lt1>
        <a:srgbClr val="FFFFFF"/>
      </a:lt1>
      <a:dk2>
        <a:srgbClr val="0A3B43"/>
      </a:dk2>
      <a:lt2>
        <a:srgbClr val="EAF3F2"/>
      </a:lt2>
      <a:accent1>
        <a:srgbClr val="0E7C7B"/>
      </a:accent1>
      <a:accent2>
        <a:srgbClr val="E58A1F"/>
      </a:accent2>
      <a:accent3>
        <a:srgbClr val="C44536"/>
      </a:accent3>
      <a:accent4>
        <a:srgbClr val="2C6E91"/>
      </a:accent4>
      <a:accent5>
        <a:srgbClr val="4F8A3C"/>
      </a:accent5>
      <a:accent6>
        <a:srgbClr val="5B6F75"/>
      </a:accent6>
      <a:hlink>
        <a:srgbClr val="0E7C7B"/>
      </a:hlink>
      <a:folHlink>
        <a:srgbClr val="5B6F75"/>
      </a:folHlink>
    </a:clrScheme>
    <a:fontScheme name="ClaimS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ClaimSure: Health Insurance Claim Processing and Analytics System</dc:title>
  <dc:subject>Database Management Systems project review</dc:subject>
  <dc:creator>Nirupam</dc:creator>
  <cp:lastModifiedBy>Nirupam</cp:lastModifiedBy>
  <cp:revision>1</cp:revision>
  <dcterms:created xsi:type="dcterms:W3CDTF">2026-10-18T16:31:02Z</dcterms:created>
  <dcterms:modified xsi:type="dcterms:W3CDTF">2026-10-18T16:31:02Z</dcterms:modified>
</cp:coreProperties>
</file>